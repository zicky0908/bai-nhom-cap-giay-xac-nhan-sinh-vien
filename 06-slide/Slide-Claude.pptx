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deff3096-2b77-9796-5012-489275a28562}">
          <p14:sldIdLst>
            <p14:sldId id="256"/>
          </p14:sldIdLst>
        </p14:section>
        <p14:section name="Bài toán và quy trình hiện tại" id="{2ad31bd4-40a3-9186-c979-dfffeb6f2885}">
          <p14:sldIdLst>
            <p14:sldId id="257"/>
            <p14:sldId id="258"/>
            <p14:sldId id="259"/>
            <p14:sldId id="260"/>
          </p14:sldIdLst>
        </p14:section>
        <p14:section name="Process Mining" id="{c69f35e5-9a35-0902-6738-459e27ee44c8}">
          <p14:sldIdLst>
            <p14:sldId id="261"/>
            <p14:sldId id="262"/>
            <p14:sldId id="263"/>
          </p14:sldIdLst>
        </p14:section>
        <p14:section name="Quy trình cải tiến và prototype" id="{d741f83e-190d-0e90-9036-f4b8fd6fe3dd}">
          <p14:sldIdLst>
            <p14:sldId id="264"/>
            <p14:sldId id="265"/>
            <p14:sldId id="266"/>
          </p14:sldIdLst>
        </p14:section>
        <p14:section name="Đánh giá và kết luận" id="{6961c749-61a8-99ea-7034-48f2b0b55ed4}">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4A50"/>
                </a:solidFill>
                <a:latin typeface="+mn-lt"/>
              </a:defRPr>
            </a:pPr>
            <a:r>
              <a:rPr sz="1400" b="0" i="0" u="none" strike="noStrike">
                <a:solidFill>
                  <a:srgbClr val="0E4A50"/>
                </a:solidFill>
                <a:latin typeface="+mn-lt"/>
              </a:rPr>
              <a:t>Thời gian phía trường (trung vị, phút LV)</a:t>
            </a:r>
          </a:p>
        </c:rich>
      </c:tx>
      <c:layout/>
      <c:overlay val="0"/>
    </c:title>
    <c:autoTitleDeleted val="0"/>
    <c:plotArea>
      <c:layout/>
      <c:barChart>
        <c:barDir val="col"/>
        <c:grouping val="clustered"/>
        <c:varyColors val="0"/>
        <c:ser>
          <c:idx val="0"/>
          <c:order val="0"/>
          <c:tx>
            <c:strRef>
              <c:f>Sheet1!$B$1</c:f>
              <c:strCache>
                <c:ptCount val="1"/>
                <c:pt idx="0">
                  <c:v>Phút làm việc</c:v>
                </c:pt>
              </c:strCache>
            </c:strRef>
          </c:tx>
          <c:spPr>
            <a:solidFill>
              <a:srgbClr val="0E7C74"/>
            </a:solidFill>
            <a:effectLst/>
          </c:spPr>
          <c:invertIfNegative val="0"/>
          <c:dLbls>
            <c:numFmt formatCode="#,##0" sourceLinked="0"/>
            <c:txPr>
              <a:bodyPr/>
              <a:lstStyle/>
              <a:p>
                <a:pPr>
                  <a:defRPr b="0" i="0" strike="noStrike" sz="1200" u="none">
                    <a:solidFill>
                      <a:srgbClr val="1B2A33"/>
                    </a:solidFill>
                    <a:latin typeface="+mn-lt"/>
                  </a:defRPr>
                </a:pPr>
              </a:p>
            </c:txPr>
            <c:showLegendKey val="0"/>
            <c:showVal val="1"/>
            <c:showCatName val="0"/>
            <c:showSerName val="0"/>
            <c:showPercent val="0"/>
            <c:showBubbleSize val="0"/>
            <c:showLeaderLines val="0"/>
          </c:dLbls>
          <c:cat>
            <c:multiLvlStrRef>
              <c:f>Sheet1!$A$2:$A$4</c:f>
              <c:multiLvlStrCache>
                <c:ptCount val="3"/>
                <c:lvl>
                  <c:pt idx="0">
                    <c:v>AS-IS</c:v>
                  </c:pt>
                  <c:pt idx="1">
                    <c:v>TO-BE S0 (ký theo lô)</c:v>
                  </c:pt>
                  <c:pt idx="2">
                    <c:v>TO-BE S1 (ký 2 lần/ngày)</c:v>
                  </c:pt>
                </c:lvl>
              </c:multiLvlStrCache>
            </c:multiLvlStrRef>
          </c:cat>
          <c:val>
            <c:numRef>
              <c:f>Sheet1!$B$2:$B$4</c:f>
              <c:numCache>
                <c:formatCode>General</c:formatCode>
                <c:ptCount val="3"/>
                <c:pt idx="0">
                  <c:v>1363</c:v>
                </c:pt>
                <c:pt idx="1">
                  <c:v>944</c:v>
                </c:pt>
                <c:pt idx="2">
                  <c:v>788</c:v>
                </c:pt>
              </c:numCache>
            </c:numRef>
          </c:val>
        </c:ser>
        <c:dLbls>
          <c:numFmt formatCode="#,##0" sourceLinked="0"/>
          <c:txPr>
            <a:bodyPr/>
            <a:lstStyle/>
            <a:p>
              <a:pPr>
                <a:defRPr b="0" i="0" strike="noStrike" sz="1200" u="none">
                  <a:solidFill>
                    <a:srgbClr val="1B2A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D5A66"/>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4A50"/>
                </a:solidFill>
                <a:latin typeface="+mn-lt"/>
              </a:defRPr>
            </a:pPr>
            <a:r>
              <a:rPr sz="1400" b="0" i="0" u="none" strike="noStrike">
                <a:solidFill>
                  <a:srgbClr val="0E4A50"/>
                </a:solidFill>
                <a:latin typeface="+mn-lt"/>
              </a:rPr>
              <a:t>Chờ trước khi ký (trung vị, phút LV)</a:t>
            </a:r>
          </a:p>
        </c:rich>
      </c:tx>
      <c:layout/>
      <c:overlay val="0"/>
    </c:title>
    <c:autoTitleDeleted val="0"/>
    <c:plotArea>
      <c:layout/>
      <c:barChart>
        <c:barDir val="col"/>
        <c:grouping val="clustered"/>
        <c:varyColors val="0"/>
        <c:ser>
          <c:idx val="0"/>
          <c:order val="0"/>
          <c:tx>
            <c:strRef>
              <c:f>Sheet1!$B$1</c:f>
              <c:strCache>
                <c:ptCount val="1"/>
                <c:pt idx="0">
                  <c:v>Phút làm việc</c:v>
                </c:pt>
              </c:strCache>
            </c:strRef>
          </c:tx>
          <c:spPr>
            <a:solidFill>
              <a:srgbClr val="0E7C74"/>
            </a:solidFill>
            <a:effectLst/>
          </c:spPr>
          <c:invertIfNegative val="0"/>
          <c:dLbls>
            <c:numFmt formatCode="#,##0" sourceLinked="0"/>
            <c:txPr>
              <a:bodyPr/>
              <a:lstStyle/>
              <a:p>
                <a:pPr>
                  <a:defRPr b="0" i="0" strike="noStrike" sz="1200" u="none">
                    <a:solidFill>
                      <a:srgbClr val="1B2A33"/>
                    </a:solidFill>
                    <a:latin typeface="+mn-lt"/>
                  </a:defRPr>
                </a:pPr>
              </a:p>
            </c:txPr>
            <c:showLegendKey val="0"/>
            <c:showVal val="1"/>
            <c:showCatName val="0"/>
            <c:showSerName val="0"/>
            <c:showPercent val="0"/>
            <c:showBubbleSize val="0"/>
            <c:showLeaderLines val="0"/>
          </c:dLbls>
          <c:cat>
            <c:multiLvlStrRef>
              <c:f>Sheet1!$A$2:$A$4</c:f>
              <c:multiLvlStrCache>
                <c:ptCount val="3"/>
                <c:lvl>
                  <c:pt idx="0">
                    <c:v>AS-IS</c:v>
                  </c:pt>
                  <c:pt idx="1">
                    <c:v>TO-BE S0 (ký theo lô)</c:v>
                  </c:pt>
                  <c:pt idx="2">
                    <c:v>TO-BE S1 (ký 2 lần/ngày)</c:v>
                  </c:pt>
                </c:lvl>
              </c:multiLvlStrCache>
            </c:multiLvlStrRef>
          </c:cat>
          <c:val>
            <c:numRef>
              <c:f>Sheet1!$B$2:$B$4</c:f>
              <c:numCache>
                <c:formatCode>General</c:formatCode>
                <c:ptCount val="3"/>
                <c:pt idx="0">
                  <c:v>551</c:v>
                </c:pt>
                <c:pt idx="1">
                  <c:v>584</c:v>
                </c:pt>
                <c:pt idx="2">
                  <c:v>121</c:v>
                </c:pt>
              </c:numCache>
            </c:numRef>
          </c:val>
        </c:ser>
        <c:dLbls>
          <c:numFmt formatCode="#,##0" sourceLinked="0"/>
          <c:txPr>
            <a:bodyPr/>
            <a:lstStyle/>
            <a:p>
              <a:pPr>
                <a:defRPr b="0" i="0" strike="noStrike" sz="1200" u="none">
                  <a:solidFill>
                    <a:srgbClr val="1B2A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D5A66"/>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TV1 mở đầu: giới thiệu đề tài và 4 thành viên. Nhấn mạnh: bối cảnh và số liệu là giả định/mô phỏng cho mục đích học thuật, không phải số liệu chính thức của trường.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TV1: 5 vấn đề P1–P5 là giả thuyết, cần phỏng vấn cán bộ để xác minh. Vấn đề tô màu cam (chờ ký) là ứng viên điểm nghẽn mà phần Process Mining sẽ kiểm chứng.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TV1: phạm vi từ lúc nộp tới E1/E2/E3. Ngoài phạm vi: ký số, giá trị pháp lý, tích hợp CSDL của trường. Giả định giờ làm việc T2–T6, 7:30–11:30 và 13:30–17:00.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TV2: sơ đồ BPMN 2.0, file chỉnh sửa được ở diagrams/as-is.bpmn (mở bằng bpmn.io). Chỉ ra vòng A03→A04→A05→A03 và nhánh từ chối A10→A14.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TV2: không kết luận nguyên nhân chỉ từ một con số lớn. Thời gian SV đến nhận giấy (A11→A12) không tính là điểm nghẽn của trường. H1 tô cam vì là ứng viên dữ liệu sẽ xác nhận ở slide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TV3: mô phỏng sự kiện rời rạc, cùng seed cho ra cùng log. Mọi tham số là giả định; xác suất bổ sung của TO-BE chưa có căn cứ nên luôn báo kèm độ nhạy. Code và event log CSV ở thư mục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TV3: DFG dựng bằng PM4Py (discover_dfg), thời gian chờ tính bằng pandas theo phút làm việc. Cạnh đỏ đạt (a)+(b)+(f); cạnh vàng chỉ đạt (a). Cạnh A01→A02 vàng phần lớn do quy ước làm tròn giờ nộp về 7:30, không phải xếp hàng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TV3: bộ tính tay ở mục 4.6 báo cáo. Không nói 'khớp 100% mọi ca': test gọi hàm KPI trực tiếp mới có ca C001. Kể ngắn về lỗi tìm được: thời gian xử lý từng bị tính cả giờ nghỉ trưa.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TV2: ô nền xanh là bước hệ thống tự làm. A05 (SV nộp bổ sung) nằm ở làn Sinh viên. File chỉnh sửa: diagrams/to-be.bpmn. Lưu ý prototype demo hiện thực một phần TO-BE (chưa có nhắc hạn và đóng quá hạn tự động).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TV4: prototype hiện thực luồng cốt lõi, gộp một số bước so với BPMN TO-BE và chưa có timer nhắc hạn A16 / tự đóng quá hạn A13. Trang Analytics trong app dùng 120 ca (seed 43044) để minh họa trực tiếp; KPI chính thức lấy từ bộ 20 seed × 400 ca. Giảng viên đã đồng ý thay Power Automate bằng n8n tự host. Giao diện chỉ báo 'đã thông báo' khi n8n callback về (SYNCED); n8n lỗi thì hồ sơ giữ PENDING/FAILED, không báo thành công giả. Gửi lại cùng khóa không tạo hồ sơ trùng.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TV4: phần demo trực tiếp 10 phút sẽ đi đúng 3 bước này, cộng vòng yêu cầu bổ sung. Hồ sơ trong ảnh là dữ liệu demo, xóa được bằng scripts/reset-demo.sh.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TV4: đây là phát hiện quan trọng nhất. Nếu tự động hóa mà vẫn ký theo lô (S0) thì chờ ký không giảm, nên muốn cải thiện phải đổi cả cách tổ chức (lịch ký), không chỉ mua phần mềm. Mọi mục tiêu KPI là dự kiến. Nếu được hỏi: K5 (quá hạn ròng) bằng 0% ở mọi kịch bản vì sau khi trừ thời gian chờ SV, hồ sơ đều dưới ngưỡng 5 ngày làm việc; K6 (đóng do quá hạn, 12,7–14,2%) không giảm vì mô hình cố ý giữ nguyên tỷ lệ SV không phản hồi 8%, không gán hiệu quả chủ quan cho email nhắc hạn.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TV1 kết luận và chuyển sang demo 10 phút. Câu hỏi có thể gặp: (1) Sao dùng dữ liệu mô phỏng? Trường đang làm trên sổ giấy/Zalo, chưa có log theo phút; nhóm dùng mô phỏng 20 seed ghép cặp và chạy độ nhạy, kèm lộ trình thu log thật. (2) Sao S0 tự động hóa mà chờ ký còn tăng nhẹ? Vẫn ký theo lô thứ Ba/thứ Năm; bước trước xong sớm hơn nên hồ sơ chờ phiên ký lâu hơn; phải đổi lịch ký (S1) mới giảm. (3) Prototype khác TO-BE thế nào? Có luồng cốt lõi và chống báo thành công giả, chưa có timer nhắc hạn/đóng quá hạn. (4) Sao có nhắc hạn mà tỷ lệ đóng quá hạn không giảm? Mô hình giữ cố định hành vi SV để không thổi phồng hiệu quả; timer chỉ làm trễ phát hiện quá hạn về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4A5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0607040" cy="164592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548640" y="3840480"/>
            <a:ext cx="10607040" cy="2377440"/>
          </a:xfrm>
          <a:prstGeom prst="rect">
            <a:avLst/>
          </a:prstGeom>
          <a:noFill/>
          <a:ln/>
        </p:spPr>
        <p:txBody>
          <a:bodyPr wrap="square" rtlCol="0"/>
          <a:lstStyle>
            <a:lvl1pPr indent="0" marL="0">
              <a:buNone/>
              <a:defRPr lang="en-US" sz="1800" dirty="0">
                <a:solidFill>
                  <a:schemeClr val="accent5"/>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lstStyle>
            <a:lvl1pPr algn="l" indent="0" marL="0">
              <a:buNone/>
              <a:defRPr lang="en-US" sz="2600" b="1" dirty="0">
                <a:solidFill>
                  <a:schemeClr val="tx2"/>
                </a:solidFill>
              </a:defRPr>
            </a:lvl1pPr>
          </a:lstStyle>
          <a:p>
            <a:pPr algn="l" indent="0" marL="0">
              <a:buNone/>
            </a:pPr>
            <a:endParaRPr lang="en-US" sz="2600" dirty="0"/>
          </a:p>
        </p:txBody>
      </p:sp>
      <p:sp>
        <p:nvSpPr>
          <p:cNvPr id="3" name="Text 0"/>
          <p:cNvSpPr/>
          <p:nvPr/>
        </p:nvSpPr>
        <p:spPr>
          <a:xfrm>
            <a:off x="548640" y="6446520"/>
            <a:ext cx="5486400" cy="274320"/>
          </a:xfrm>
          <a:prstGeom prst="rect">
            <a:avLst/>
          </a:prstGeom>
          <a:noFill/>
          <a:ln/>
        </p:spPr>
        <p:txBody>
          <a:bodyPr wrap="square" rtlCol="0" anchor="ctr"/>
          <a:lstStyle/>
          <a:p>
            <a:pPr indent="0" marL="0">
              <a:buNone/>
            </a:pPr>
            <a:r>
              <a:rPr lang="en-US" sz="1000" dirty="0">
                <a:solidFill>
                  <a:schemeClr val="accent4"/>
                </a:solidFill>
              </a:rPr>
              <a:t>Nhóm 4 · Cao đẳng Y Dược</a:t>
            </a:r>
            <a:endParaRPr lang="en-US" sz="10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8C85"/>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8C8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0607040" cy="1645920"/>
          </a:xfrm>
          <a:prstGeom prst="rect">
            <a:avLst/>
          </a:prstGeom>
          <a:noFill/>
          <a:ln/>
        </p:spPr>
        <p:txBody>
          <a:bodyPr wrap="square" rtlCol="0" anchor="b"/>
          <a:lstStyle/>
          <a:p>
            <a:pPr algn="l" indent="0" marL="0">
              <a:buNone/>
            </a:pPr>
            <a:r>
              <a:rPr lang="en-US" sz="3800" b="1" dirty="0">
                <a:solidFill>
                  <a:schemeClr val="bg1"/>
                </a:solidFill>
              </a:rPr>
              <a:t>Cấp giấy xác nhận sinh viên: phân tích và tự động hóa quy trình</a:t>
            </a:r>
            <a:endParaRPr lang="en-US" sz="3800" dirty="0"/>
          </a:p>
        </p:txBody>
      </p:sp>
      <p:sp>
        <p:nvSpPr>
          <p:cNvPr id="3" name="Text 0"/>
          <p:cNvSpPr/>
          <p:nvPr>
            <p:ph idx="101" type="body" hasCustomPrompt="1"/>
          </p:nvPr>
        </p:nvSpPr>
        <p:spPr>
          <a:xfrm>
            <a:off x="548640" y="3840480"/>
            <a:ext cx="10607040" cy="2377440"/>
          </a:xfrm>
          <a:prstGeom prst="rect">
            <a:avLst/>
          </a:prstGeom>
          <a:noFill/>
          <a:ln/>
        </p:spPr>
        <p:txBody>
          <a:bodyPr wrap="square" rtlCol="0" anchor="t"/>
          <a:lstStyle/>
          <a:p>
            <a:pPr indent="0" marL="0">
              <a:buNone/>
            </a:pPr>
            <a:r>
              <a:rPr lang="en-US" sz="1800" dirty="0">
                <a:solidFill>
                  <a:schemeClr val="accent5"/>
                </a:solidFill>
              </a:rPr>
              <a:t>Trường Cao đẳng Y Dược (bối cảnh giả định cho mục đích học thuật)</a:t>
            </a:r>
            <a:endParaRPr lang="en-US" sz="1800" dirty="0"/>
          </a:p>
          <a:p>
            <a:pPr indent="0" marL="0">
              <a:buNone/>
            </a:pPr>
            <a:r>
              <a:rPr lang="en-US" sz="1800" dirty="0">
                <a:solidFill>
                  <a:schemeClr val="accent5"/>
                </a:solidFill>
              </a:rPr>
              <a:t>Nhóm 4 · TV1, TV2, TV3, TV4</a:t>
            </a:r>
            <a:endParaRPr lang="en-US" sz="1800" dirty="0"/>
          </a:p>
        </p:txBody>
      </p:sp>
      <p:sp>
        <p:nvSpPr>
          <p:cNvPr id="4" name="icon-tieu-de-nen"/>
          <p:cNvSpPr/>
          <p:nvPr/>
        </p:nvSpPr>
        <p:spPr>
          <a:xfrm>
            <a:off x="548640" y="1005840"/>
            <a:ext cx="822960" cy="822960"/>
          </a:xfrm>
          <a:prstGeom prst="ellipse">
            <a:avLst/>
          </a:prstGeom>
          <a:solidFill>
            <a:srgbClr val="0E7C74"/>
          </a:solidFill>
          <a:ln w="12700">
            <a:solidFill>
              <a:srgbClr val="0E7C74"/>
            </a:solidFill>
            <a:prstDash val="solid"/>
          </a:ln>
        </p:spPr>
      </p:sp>
      <p:pic>
        <p:nvPicPr>
          <p:cNvPr id="5" name="icon-tieu-de" descr="preencoded.png">    </p:cNvPr>
          <p:cNvPicPr>
            <a:picLocks noChangeAspect="1"/>
          </p:cNvPicPr>
          <p:nvPr/>
        </p:nvPicPr>
        <p:blipFill>
          <a:blip r:embed="rId1"/>
          <a:stretch>
            <a:fillRect/>
          </a:stretch>
        </p:blipFill>
        <p:spPr>
          <a:xfrm>
            <a:off x="729691" y="1186891"/>
            <a:ext cx="460858" cy="46085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nchor="ctr"/>
          <a:lstStyle/>
          <a:p>
            <a:pPr algn="l" indent="0" marL="0">
              <a:buNone/>
            </a:pPr>
            <a:r>
              <a:rPr lang="en-US" sz="2600" b="1" dirty="0">
                <a:solidFill>
                  <a:schemeClr val="tx2"/>
                </a:solidFill>
              </a:rPr>
              <a:t>SV không biết hồ sơ đang ở đâu, cán bộ không đo được chỗ chậm</a:t>
            </a:r>
            <a:endParaRPr lang="en-US" sz="2600" dirty="0"/>
          </a:p>
        </p:txBody>
      </p:sp>
      <p:sp>
        <p:nvSpPr>
          <p:cNvPr id="3" name="icon-van-de-1-nen"/>
          <p:cNvSpPr/>
          <p:nvPr/>
        </p:nvSpPr>
        <p:spPr>
          <a:xfrm>
            <a:off x="548640" y="1325880"/>
            <a:ext cx="566928" cy="566928"/>
          </a:xfrm>
          <a:prstGeom prst="ellipse">
            <a:avLst/>
          </a:prstGeom>
          <a:solidFill>
            <a:srgbClr val="0E7C74"/>
          </a:solidFill>
          <a:ln w="12700">
            <a:solidFill>
              <a:srgbClr val="0E7C74"/>
            </a:solidFill>
            <a:prstDash val="solid"/>
          </a:ln>
        </p:spPr>
      </p:sp>
      <p:pic>
        <p:nvPicPr>
          <p:cNvPr id="4" name="icon-van-de-1" descr="preencoded.png">    </p:cNvPr>
          <p:cNvPicPr>
            <a:picLocks noChangeAspect="1"/>
          </p:cNvPicPr>
          <p:nvPr/>
        </p:nvPicPr>
        <p:blipFill>
          <a:blip r:embed="rId1"/>
          <a:stretch>
            <a:fillRect/>
          </a:stretch>
        </p:blipFill>
        <p:spPr>
          <a:xfrm>
            <a:off x="673364" y="1450604"/>
            <a:ext cx="317480" cy="317480"/>
          </a:xfrm>
          <a:prstGeom prst="rect">
            <a:avLst/>
          </a:prstGeom>
        </p:spPr>
      </p:pic>
      <p:sp>
        <p:nvSpPr>
          <p:cNvPr id="5" name="van-de-1"/>
          <p:cNvSpPr txBox="1"/>
          <p:nvPr/>
        </p:nvSpPr>
        <p:spPr>
          <a:xfrm>
            <a:off x="1325880" y="1307592"/>
            <a:ext cx="6035040" cy="868680"/>
          </a:xfrm>
          <a:prstGeom prst="rect">
            <a:avLst/>
          </a:prstGeom>
          <a:noFill/>
          <a:ln/>
        </p:spPr>
        <p:txBody>
          <a:bodyPr wrap="square" lIns="0" tIns="0" rIns="0" bIns="0" rtlCol="0" anchor="t"/>
          <a:lstStyle/>
          <a:p>
            <a:pPr indent="0" marL="0">
              <a:buNone/>
            </a:pPr>
            <a:r>
              <a:rPr lang="en-US" sz="1700" b="1" dirty="0">
                <a:solidFill>
                  <a:schemeClr val="tx2"/>
                </a:solidFill>
              </a:rPr>
              <a:t>Không tra được trạng thái</a:t>
            </a:r>
            <a:endParaRPr lang="en-US" sz="1400" dirty="0"/>
          </a:p>
          <a:p>
            <a:pPr indent="0" marL="0">
              <a:buNone/>
            </a:pPr>
            <a:r>
              <a:rPr lang="en-US" sz="1400" dirty="0">
                <a:solidFill>
                  <a:schemeClr val="tx1"/>
                </a:solidFill>
              </a:rPr>
              <a:t>Số thứ tự ghi sổ lúc tiếp nhận không báo cho SV, nên SV phải hỏi lại nhiều lần</a:t>
            </a:r>
            <a:endParaRPr lang="en-US" sz="1400" dirty="0"/>
          </a:p>
        </p:txBody>
      </p:sp>
      <p:sp>
        <p:nvSpPr>
          <p:cNvPr id="6" name="icon-van-de-2-nen"/>
          <p:cNvSpPr/>
          <p:nvPr/>
        </p:nvSpPr>
        <p:spPr>
          <a:xfrm>
            <a:off x="548640" y="2304288"/>
            <a:ext cx="566928" cy="566928"/>
          </a:xfrm>
          <a:prstGeom prst="ellipse">
            <a:avLst/>
          </a:prstGeom>
          <a:solidFill>
            <a:srgbClr val="0E7C74"/>
          </a:solidFill>
          <a:ln w="12700">
            <a:solidFill>
              <a:srgbClr val="0E7C74"/>
            </a:solidFill>
            <a:prstDash val="solid"/>
          </a:ln>
        </p:spPr>
      </p:sp>
      <p:pic>
        <p:nvPicPr>
          <p:cNvPr id="7" name="icon-van-de-2" descr="preencoded.png">    </p:cNvPr>
          <p:cNvPicPr>
            <a:picLocks noChangeAspect="1"/>
          </p:cNvPicPr>
          <p:nvPr/>
        </p:nvPicPr>
        <p:blipFill>
          <a:blip r:embed="rId2"/>
          <a:stretch>
            <a:fillRect/>
          </a:stretch>
        </p:blipFill>
        <p:spPr>
          <a:xfrm>
            <a:off x="673364" y="2429012"/>
            <a:ext cx="317480" cy="317480"/>
          </a:xfrm>
          <a:prstGeom prst="rect">
            <a:avLst/>
          </a:prstGeom>
        </p:spPr>
      </p:pic>
      <p:sp>
        <p:nvSpPr>
          <p:cNvPr id="8" name="van-de-2"/>
          <p:cNvSpPr txBox="1"/>
          <p:nvPr/>
        </p:nvSpPr>
        <p:spPr>
          <a:xfrm>
            <a:off x="1325880" y="2286000"/>
            <a:ext cx="6035040" cy="868680"/>
          </a:xfrm>
          <a:prstGeom prst="rect">
            <a:avLst/>
          </a:prstGeom>
          <a:noFill/>
          <a:ln/>
        </p:spPr>
        <p:txBody>
          <a:bodyPr wrap="square" lIns="0" tIns="0" rIns="0" bIns="0" rtlCol="0" anchor="t"/>
          <a:lstStyle/>
          <a:p>
            <a:pPr indent="0" marL="0">
              <a:buNone/>
            </a:pPr>
            <a:r>
              <a:rPr lang="en-US" sz="1700" b="1" dirty="0">
                <a:solidFill>
                  <a:schemeClr val="tx2"/>
                </a:solidFill>
              </a:rPr>
              <a:t>Thiếu hồ sơ phát hiện muộn</a:t>
            </a:r>
            <a:endParaRPr lang="en-US" sz="1400" dirty="0"/>
          </a:p>
          <a:p>
            <a:pPr indent="0" marL="0">
              <a:buNone/>
            </a:pPr>
            <a:r>
              <a:rPr lang="en-US" sz="1400" dirty="0">
                <a:solidFill>
                  <a:schemeClr val="tx1"/>
                </a:solidFill>
              </a:rPr>
              <a:t>Thông tin thiếu/sai chỉ lộ ra khi kiểm tra, dẫn tới bổ sung nhiều vòng</a:t>
            </a:r>
            <a:endParaRPr lang="en-US" sz="1400" dirty="0"/>
          </a:p>
        </p:txBody>
      </p:sp>
      <p:sp>
        <p:nvSpPr>
          <p:cNvPr id="9" name="icon-van-de-3-nen"/>
          <p:cNvSpPr/>
          <p:nvPr/>
        </p:nvSpPr>
        <p:spPr>
          <a:xfrm>
            <a:off x="548640" y="3282696"/>
            <a:ext cx="566928" cy="566928"/>
          </a:xfrm>
          <a:prstGeom prst="ellipse">
            <a:avLst/>
          </a:prstGeom>
          <a:solidFill>
            <a:srgbClr val="E39B2D"/>
          </a:solidFill>
          <a:ln w="12700">
            <a:solidFill>
              <a:srgbClr val="E39B2D"/>
            </a:solidFill>
            <a:prstDash val="solid"/>
          </a:ln>
        </p:spPr>
      </p:sp>
      <p:pic>
        <p:nvPicPr>
          <p:cNvPr id="10" name="icon-van-de-3" descr="preencoded.png">    </p:cNvPr>
          <p:cNvPicPr>
            <a:picLocks noChangeAspect="1"/>
          </p:cNvPicPr>
          <p:nvPr/>
        </p:nvPicPr>
        <p:blipFill>
          <a:blip r:embed="rId3"/>
          <a:stretch>
            <a:fillRect/>
          </a:stretch>
        </p:blipFill>
        <p:spPr>
          <a:xfrm>
            <a:off x="673364" y="3407420"/>
            <a:ext cx="317480" cy="317480"/>
          </a:xfrm>
          <a:prstGeom prst="rect">
            <a:avLst/>
          </a:prstGeom>
        </p:spPr>
      </p:pic>
      <p:sp>
        <p:nvSpPr>
          <p:cNvPr id="11" name="van-de-3"/>
          <p:cNvSpPr txBox="1"/>
          <p:nvPr/>
        </p:nvSpPr>
        <p:spPr>
          <a:xfrm>
            <a:off x="1325880" y="3264408"/>
            <a:ext cx="6035040" cy="868680"/>
          </a:xfrm>
          <a:prstGeom prst="rect">
            <a:avLst/>
          </a:prstGeom>
          <a:noFill/>
          <a:ln/>
        </p:spPr>
        <p:txBody>
          <a:bodyPr wrap="square" lIns="0" tIns="0" rIns="0" bIns="0" rtlCol="0" anchor="t"/>
          <a:lstStyle/>
          <a:p>
            <a:pPr indent="0" marL="0">
              <a:buNone/>
            </a:pPr>
            <a:r>
              <a:rPr lang="en-US" sz="1700" b="1" dirty="0">
                <a:solidFill>
                  <a:schemeClr val="tx2"/>
                </a:solidFill>
              </a:rPr>
              <a:t>Chờ ký lâu</a:t>
            </a:r>
            <a:endParaRPr lang="en-US" sz="1400" dirty="0"/>
          </a:p>
          <a:p>
            <a:pPr indent="0" marL="0">
              <a:buNone/>
            </a:pPr>
            <a:r>
              <a:rPr lang="en-US" sz="1400" dirty="0">
                <a:solidFill>
                  <a:schemeClr val="tx1"/>
                </a:solidFill>
              </a:rPr>
              <a:t>Hồ sơ đã soạn nằm chờ phiên ký theo lô</a:t>
            </a:r>
            <a:endParaRPr lang="en-US" sz="1400" dirty="0"/>
          </a:p>
        </p:txBody>
      </p:sp>
      <p:sp>
        <p:nvSpPr>
          <p:cNvPr id="12" name="icon-van-de-4-nen"/>
          <p:cNvSpPr/>
          <p:nvPr/>
        </p:nvSpPr>
        <p:spPr>
          <a:xfrm>
            <a:off x="548640" y="4261104"/>
            <a:ext cx="566928" cy="566928"/>
          </a:xfrm>
          <a:prstGeom prst="ellipse">
            <a:avLst/>
          </a:prstGeom>
          <a:solidFill>
            <a:srgbClr val="0E7C74"/>
          </a:solidFill>
          <a:ln w="12700">
            <a:solidFill>
              <a:srgbClr val="0E7C74"/>
            </a:solidFill>
            <a:prstDash val="solid"/>
          </a:ln>
        </p:spPr>
      </p:sp>
      <p:pic>
        <p:nvPicPr>
          <p:cNvPr id="13" name="icon-van-de-4" descr="preencoded.png">    </p:cNvPr>
          <p:cNvPicPr>
            <a:picLocks noChangeAspect="1"/>
          </p:cNvPicPr>
          <p:nvPr/>
        </p:nvPicPr>
        <p:blipFill>
          <a:blip r:embed="rId4"/>
          <a:stretch>
            <a:fillRect/>
          </a:stretch>
        </p:blipFill>
        <p:spPr>
          <a:xfrm>
            <a:off x="673364" y="4385828"/>
            <a:ext cx="317480" cy="317480"/>
          </a:xfrm>
          <a:prstGeom prst="rect">
            <a:avLst/>
          </a:prstGeom>
        </p:spPr>
      </p:pic>
      <p:sp>
        <p:nvSpPr>
          <p:cNvPr id="14" name="van-de-4"/>
          <p:cNvSpPr txBox="1"/>
          <p:nvPr/>
        </p:nvSpPr>
        <p:spPr>
          <a:xfrm>
            <a:off x="1325880" y="4242816"/>
            <a:ext cx="6035040" cy="868680"/>
          </a:xfrm>
          <a:prstGeom prst="rect">
            <a:avLst/>
          </a:prstGeom>
          <a:noFill/>
          <a:ln/>
        </p:spPr>
        <p:txBody>
          <a:bodyPr wrap="square" lIns="0" tIns="0" rIns="0" bIns="0" rtlCol="0" anchor="t"/>
          <a:lstStyle/>
          <a:p>
            <a:pPr indent="0" marL="0">
              <a:buNone/>
            </a:pPr>
            <a:r>
              <a:rPr lang="en-US" sz="1700" b="1" dirty="0">
                <a:solidFill>
                  <a:schemeClr val="tx2"/>
                </a:solidFill>
              </a:rPr>
              <a:t>Quá hạn chỉ lộ khi rà sổ</a:t>
            </a:r>
            <a:endParaRPr lang="en-US" sz="1400" dirty="0"/>
          </a:p>
          <a:p>
            <a:pPr indent="0" marL="0">
              <a:buNone/>
            </a:pPr>
            <a:r>
              <a:rPr lang="en-US" sz="1400" dirty="0">
                <a:solidFill>
                  <a:schemeClr val="tx1"/>
                </a:solidFill>
              </a:rPr>
              <a:t>Không có mốc thời gian hệ thống; rà hồ sơ quá hạn mỗi chiều thứ Sáu</a:t>
            </a:r>
            <a:endParaRPr lang="en-US" sz="1400" dirty="0"/>
          </a:p>
        </p:txBody>
      </p:sp>
      <p:sp>
        <p:nvSpPr>
          <p:cNvPr id="15" name="icon-van-de-5-nen"/>
          <p:cNvSpPr/>
          <p:nvPr/>
        </p:nvSpPr>
        <p:spPr>
          <a:xfrm>
            <a:off x="548640" y="5239512"/>
            <a:ext cx="566928" cy="566928"/>
          </a:xfrm>
          <a:prstGeom prst="ellipse">
            <a:avLst/>
          </a:prstGeom>
          <a:solidFill>
            <a:srgbClr val="0E7C74"/>
          </a:solidFill>
          <a:ln w="12700">
            <a:solidFill>
              <a:srgbClr val="0E7C74"/>
            </a:solidFill>
            <a:prstDash val="solid"/>
          </a:ln>
        </p:spPr>
      </p:sp>
      <p:pic>
        <p:nvPicPr>
          <p:cNvPr id="16" name="icon-van-de-5" descr="preencoded.png">    </p:cNvPr>
          <p:cNvPicPr>
            <a:picLocks noChangeAspect="1"/>
          </p:cNvPicPr>
          <p:nvPr/>
        </p:nvPicPr>
        <p:blipFill>
          <a:blip r:embed="rId5"/>
          <a:stretch>
            <a:fillRect/>
          </a:stretch>
        </p:blipFill>
        <p:spPr>
          <a:xfrm>
            <a:off x="673364" y="5364236"/>
            <a:ext cx="317480" cy="317480"/>
          </a:xfrm>
          <a:prstGeom prst="rect">
            <a:avLst/>
          </a:prstGeom>
        </p:spPr>
      </p:pic>
      <p:sp>
        <p:nvSpPr>
          <p:cNvPr id="17" name="van-de-5"/>
          <p:cNvSpPr txBox="1"/>
          <p:nvPr/>
        </p:nvSpPr>
        <p:spPr>
          <a:xfrm>
            <a:off x="1325880" y="5221224"/>
            <a:ext cx="6035040" cy="868680"/>
          </a:xfrm>
          <a:prstGeom prst="rect">
            <a:avLst/>
          </a:prstGeom>
          <a:noFill/>
          <a:ln/>
        </p:spPr>
        <p:txBody>
          <a:bodyPr wrap="square" lIns="0" tIns="0" rIns="0" bIns="0" rtlCol="0" anchor="t"/>
          <a:lstStyle/>
          <a:p>
            <a:pPr indent="0" marL="0">
              <a:buNone/>
            </a:pPr>
            <a:r>
              <a:rPr lang="en-US" sz="1700" b="1" dirty="0">
                <a:solidFill>
                  <a:schemeClr val="tx2"/>
                </a:solidFill>
              </a:rPr>
              <a:t>Thông báo không lưu vết</a:t>
            </a:r>
            <a:endParaRPr lang="en-US" sz="1400" dirty="0"/>
          </a:p>
          <a:p>
            <a:pPr indent="0" marL="0">
              <a:buNone/>
            </a:pPr>
            <a:r>
              <a:rPr lang="en-US" sz="1400" dirty="0">
                <a:solidFill>
                  <a:schemeClr val="tx1"/>
                </a:solidFill>
              </a:rPr>
              <a:t>Báo kết quả qua điện thoại/Zalo, không có bằng chứng đã báo</a:t>
            </a:r>
            <a:endParaRPr lang="en-US" sz="1400" dirty="0"/>
          </a:p>
        </p:txBody>
      </p:sp>
      <p:sp>
        <p:nvSpPr>
          <p:cNvPr id="18" name="the-muc-tieu"/>
          <p:cNvSpPr/>
          <p:nvPr/>
        </p:nvSpPr>
        <p:spPr>
          <a:xfrm>
            <a:off x="7680960" y="1325880"/>
            <a:ext cx="3959352" cy="4754880"/>
          </a:xfrm>
          <a:prstGeom prst="roundRect">
            <a:avLst>
              <a:gd name="adj" fmla="val 2771"/>
            </a:avLst>
          </a:prstGeom>
          <a:solidFill>
            <a:srgbClr val="EEF5F4"/>
          </a:solidFill>
          <a:ln w="12700">
            <a:solidFill>
              <a:srgbClr val="EEF5F4"/>
            </a:solidFill>
            <a:prstDash val="solid"/>
          </a:ln>
        </p:spPr>
      </p:sp>
      <p:sp>
        <p:nvSpPr>
          <p:cNvPr id="19" name="muc-tieu"/>
          <p:cNvSpPr txBox="1"/>
          <p:nvPr/>
        </p:nvSpPr>
        <p:spPr>
          <a:xfrm>
            <a:off x="7955280" y="1554480"/>
            <a:ext cx="3474720" cy="4389120"/>
          </a:xfrm>
          <a:prstGeom prst="rect">
            <a:avLst/>
          </a:prstGeom>
          <a:noFill/>
          <a:ln/>
        </p:spPr>
        <p:txBody>
          <a:bodyPr wrap="square" lIns="0" tIns="0" rIns="0" bIns="0" rtlCol="0" anchor="t"/>
          <a:lstStyle/>
          <a:p>
            <a:pPr indent="0" marL="0">
              <a:spcAft>
                <a:spcPts val="800"/>
              </a:spcAft>
              <a:buNone/>
            </a:pPr>
            <a:r>
              <a:rPr lang="en-US" sz="1800" b="1" dirty="0">
                <a:solidFill>
                  <a:schemeClr val="tx2"/>
                </a:solidFill>
              </a:rPr>
              <a:t>Mục tiêu (dự kiến)</a:t>
            </a:r>
            <a:endParaRPr lang="en-US" sz="1500" dirty="0"/>
          </a:p>
          <a:p>
            <a:pPr marL="342900" indent="-342900">
              <a:spcAft>
                <a:spcPts val="800"/>
              </a:spcAft>
              <a:buSzPct val="100000"/>
              <a:buChar char="•"/>
            </a:pPr>
            <a:r>
              <a:rPr lang="en-US" sz="1500" dirty="0">
                <a:solidFill>
                  <a:schemeClr val="tx1"/>
                </a:solidFill>
              </a:rPr>
              <a:t>Có mã hồ sơ, tra được trạng thái</a:t>
            </a:r>
            <a:endParaRPr lang="en-US" sz="1500" dirty="0"/>
          </a:p>
          <a:p>
            <a:pPr marL="342900" indent="-342900">
              <a:spcAft>
                <a:spcPts val="800"/>
              </a:spcAft>
              <a:buSzPct val="100000"/>
              <a:buChar char="•"/>
            </a:pPr>
            <a:r>
              <a:rPr lang="en-US" sz="1500" dirty="0">
                <a:solidFill>
                  <a:schemeClr val="tx1"/>
                </a:solidFill>
              </a:rPr>
              <a:t>Kiểm tra đủ/thiếu ngay khi nộp</a:t>
            </a:r>
            <a:endParaRPr lang="en-US" sz="1500" dirty="0"/>
          </a:p>
          <a:p>
            <a:pPr marL="342900" indent="-342900">
              <a:spcAft>
                <a:spcPts val="800"/>
              </a:spcAft>
              <a:buSzPct val="100000"/>
              <a:buChar char="•"/>
            </a:pPr>
            <a:r>
              <a:rPr lang="en-US" sz="1500" dirty="0">
                <a:solidFill>
                  <a:schemeClr val="tx1"/>
                </a:solidFill>
              </a:rPr>
              <a:t>Tách thời gian chờ và thời gian xử lý</a:t>
            </a:r>
            <a:endParaRPr lang="en-US" sz="1500" dirty="0"/>
          </a:p>
          <a:p>
            <a:pPr marL="342900" indent="-342900">
              <a:spcAft>
                <a:spcPts val="800"/>
              </a:spcAft>
              <a:buSzPct val="100000"/>
              <a:buChar char="•"/>
            </a:pPr>
            <a:r>
              <a:rPr lang="en-US" sz="1500" dirty="0">
                <a:solidFill>
                  <a:schemeClr val="tx1"/>
                </a:solidFill>
              </a:rPr>
              <a:t>Nhắc hạn, đóng hồ sơ quá hạn đúng hạn</a:t>
            </a:r>
            <a:endParaRPr lang="en-US" sz="1500" dirty="0"/>
          </a:p>
          <a:p>
            <a:pPr marL="342900" indent="-342900">
              <a:spcAft>
                <a:spcPts val="800"/>
              </a:spcAft>
              <a:buSzPct val="100000"/>
              <a:buChar char="•"/>
            </a:pPr>
            <a:r>
              <a:rPr lang="en-US" sz="1500" dirty="0">
                <a:solidFill>
                  <a:schemeClr val="tx1"/>
                </a:solidFill>
              </a:rPr>
              <a:t>Thông báo có lưu vết và có lý do</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8C8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nchor="ctr"/>
          <a:lstStyle/>
          <a:p>
            <a:pPr algn="l" indent="0" marL="0">
              <a:buNone/>
            </a:pPr>
            <a:r>
              <a:rPr lang="en-US" sz="2600" b="1" dirty="0">
                <a:solidFill>
                  <a:schemeClr val="tx2"/>
                </a:solidFill>
              </a:rPr>
              <a:t>Một hồ sơ đi từ lúc nộp tới một trong ba trạng thái kết thúc</a:t>
            </a:r>
            <a:endParaRPr lang="en-US" sz="2600" dirty="0"/>
          </a:p>
        </p:txBody>
      </p:sp>
      <p:sp>
        <p:nvSpPr>
          <p:cNvPr id="3" name="sipoc-1"/>
          <p:cNvSpPr/>
          <p:nvPr/>
        </p:nvSpPr>
        <p:spPr>
          <a:xfrm>
            <a:off x="548640" y="1371600"/>
            <a:ext cx="2103120" cy="2240280"/>
          </a:xfrm>
          <a:prstGeom prst="roundRect">
            <a:avLst>
              <a:gd name="adj" fmla="val 5217"/>
            </a:avLst>
          </a:prstGeom>
          <a:solidFill>
            <a:srgbClr val="EEF5F4"/>
          </a:solidFill>
          <a:ln w="12700">
            <a:solidFill>
              <a:srgbClr val="EEF5F4"/>
            </a:solidFill>
            <a:prstDash val="solid"/>
          </a:ln>
        </p:spPr>
      </p:sp>
      <p:sp>
        <p:nvSpPr>
          <p:cNvPr id="4" name="sipoc-chu-1"/>
          <p:cNvSpPr txBox="1"/>
          <p:nvPr/>
        </p:nvSpPr>
        <p:spPr>
          <a:xfrm>
            <a:off x="731520" y="1554480"/>
            <a:ext cx="1737360" cy="1965960"/>
          </a:xfrm>
          <a:prstGeom prst="rect">
            <a:avLst/>
          </a:prstGeom>
          <a:noFill/>
          <a:ln/>
        </p:spPr>
        <p:txBody>
          <a:bodyPr wrap="square" lIns="0" tIns="0" rIns="0" bIns="0" rtlCol="0" anchor="t"/>
          <a:lstStyle/>
          <a:p>
            <a:pPr indent="0" marL="0">
              <a:spcAft>
                <a:spcPts val="600"/>
              </a:spcAft>
              <a:buNone/>
            </a:pPr>
            <a:r>
              <a:rPr lang="en-US" sz="1600" b="1" dirty="0">
                <a:solidFill>
                  <a:schemeClr val="tx2"/>
                </a:solidFill>
              </a:rPr>
              <a:t>Bên tham gia</a:t>
            </a:r>
            <a:endParaRPr lang="en-US" sz="1400" dirty="0"/>
          </a:p>
          <a:p>
            <a:pPr indent="0" marL="0">
              <a:spcAft>
                <a:spcPts val="600"/>
              </a:spcAft>
              <a:buNone/>
            </a:pPr>
            <a:r>
              <a:rPr lang="en-US" sz="1350" dirty="0">
                <a:solidFill>
                  <a:schemeClr val="tx1"/>
                </a:solidFill>
              </a:rPr>
              <a:t>Sinh viên · Cán bộ CTHSSV · Lãnh đạo phòng · Văn thư · Phòng Đào tạo (nguồn tra cứu)</a:t>
            </a:r>
            <a:endParaRPr lang="en-US" sz="1400" dirty="0"/>
          </a:p>
        </p:txBody>
      </p:sp>
      <p:sp>
        <p:nvSpPr>
          <p:cNvPr id="5" name="sipoc-2"/>
          <p:cNvSpPr/>
          <p:nvPr/>
        </p:nvSpPr>
        <p:spPr>
          <a:xfrm>
            <a:off x="2798064" y="1371600"/>
            <a:ext cx="2103120" cy="2240280"/>
          </a:xfrm>
          <a:prstGeom prst="roundRect">
            <a:avLst>
              <a:gd name="adj" fmla="val 5217"/>
            </a:avLst>
          </a:prstGeom>
          <a:solidFill>
            <a:srgbClr val="EEF5F4"/>
          </a:solidFill>
          <a:ln w="12700">
            <a:solidFill>
              <a:srgbClr val="EEF5F4"/>
            </a:solidFill>
            <a:prstDash val="solid"/>
          </a:ln>
        </p:spPr>
      </p:sp>
      <p:sp>
        <p:nvSpPr>
          <p:cNvPr id="6" name="sipoc-chu-2"/>
          <p:cNvSpPr txBox="1"/>
          <p:nvPr/>
        </p:nvSpPr>
        <p:spPr>
          <a:xfrm>
            <a:off x="2980944" y="1554480"/>
            <a:ext cx="1737360" cy="1965960"/>
          </a:xfrm>
          <a:prstGeom prst="rect">
            <a:avLst/>
          </a:prstGeom>
          <a:noFill/>
          <a:ln/>
        </p:spPr>
        <p:txBody>
          <a:bodyPr wrap="square" lIns="0" tIns="0" rIns="0" bIns="0" rtlCol="0" anchor="t"/>
          <a:lstStyle/>
          <a:p>
            <a:pPr indent="0" marL="0">
              <a:spcAft>
                <a:spcPts val="600"/>
              </a:spcAft>
              <a:buNone/>
            </a:pPr>
            <a:r>
              <a:rPr lang="en-US" sz="1600" b="1" dirty="0">
                <a:solidFill>
                  <a:schemeClr val="tx2"/>
                </a:solidFill>
              </a:rPr>
              <a:t>Đầu vào</a:t>
            </a:r>
            <a:endParaRPr lang="en-US" sz="1400" dirty="0"/>
          </a:p>
          <a:p>
            <a:pPr indent="0" marL="0">
              <a:spcAft>
                <a:spcPts val="600"/>
              </a:spcAft>
              <a:buNone/>
            </a:pPr>
            <a:r>
              <a:rPr lang="en-US" sz="1350" dirty="0">
                <a:solidFill>
                  <a:schemeClr val="tx1"/>
                </a:solidFill>
              </a:rPr>
              <a:t>MSSV, họ tên, lớp/khoa, loại giấy, mục đích, số bản, email, giấy tờ kèm theo</a:t>
            </a:r>
            <a:endParaRPr lang="en-US" sz="1400" dirty="0"/>
          </a:p>
        </p:txBody>
      </p:sp>
      <p:sp>
        <p:nvSpPr>
          <p:cNvPr id="7" name="sipoc-3"/>
          <p:cNvSpPr/>
          <p:nvPr/>
        </p:nvSpPr>
        <p:spPr>
          <a:xfrm>
            <a:off x="5047488" y="1371600"/>
            <a:ext cx="2103120" cy="2240280"/>
          </a:xfrm>
          <a:prstGeom prst="roundRect">
            <a:avLst>
              <a:gd name="adj" fmla="val 5217"/>
            </a:avLst>
          </a:prstGeom>
          <a:solidFill>
            <a:srgbClr val="EEF5F4"/>
          </a:solidFill>
          <a:ln w="12700">
            <a:solidFill>
              <a:srgbClr val="EEF5F4"/>
            </a:solidFill>
            <a:prstDash val="solid"/>
          </a:ln>
        </p:spPr>
      </p:sp>
      <p:sp>
        <p:nvSpPr>
          <p:cNvPr id="8" name="sipoc-chu-3"/>
          <p:cNvSpPr txBox="1"/>
          <p:nvPr/>
        </p:nvSpPr>
        <p:spPr>
          <a:xfrm>
            <a:off x="5230368" y="1554480"/>
            <a:ext cx="1737360" cy="1965960"/>
          </a:xfrm>
          <a:prstGeom prst="rect">
            <a:avLst/>
          </a:prstGeom>
          <a:noFill/>
          <a:ln/>
        </p:spPr>
        <p:txBody>
          <a:bodyPr wrap="square" lIns="0" tIns="0" rIns="0" bIns="0" rtlCol="0" anchor="t"/>
          <a:lstStyle/>
          <a:p>
            <a:pPr indent="0" marL="0">
              <a:spcAft>
                <a:spcPts val="600"/>
              </a:spcAft>
              <a:buNone/>
            </a:pPr>
            <a:r>
              <a:rPr lang="en-US" sz="1600" b="1" dirty="0">
                <a:solidFill>
                  <a:schemeClr val="tx2"/>
                </a:solidFill>
              </a:rPr>
              <a:t>Bắt đầu</a:t>
            </a:r>
            <a:endParaRPr lang="en-US" sz="1400" dirty="0"/>
          </a:p>
          <a:p>
            <a:pPr indent="0" marL="0">
              <a:spcAft>
                <a:spcPts val="600"/>
              </a:spcAft>
              <a:buNone/>
            </a:pPr>
            <a:r>
              <a:rPr lang="en-US" sz="1350" dirty="0">
                <a:solidFill>
                  <a:schemeClr val="tx1"/>
                </a:solidFill>
              </a:rPr>
              <a:t>Sinh viên nộp yêu cầu</a:t>
            </a:r>
            <a:endParaRPr lang="en-US" sz="1400" dirty="0"/>
          </a:p>
        </p:txBody>
      </p:sp>
      <p:sp>
        <p:nvSpPr>
          <p:cNvPr id="9" name="sipoc-4"/>
          <p:cNvSpPr/>
          <p:nvPr/>
        </p:nvSpPr>
        <p:spPr>
          <a:xfrm>
            <a:off x="7296912" y="1371600"/>
            <a:ext cx="2103120" cy="2240280"/>
          </a:xfrm>
          <a:prstGeom prst="roundRect">
            <a:avLst>
              <a:gd name="adj" fmla="val 5217"/>
            </a:avLst>
          </a:prstGeom>
          <a:solidFill>
            <a:srgbClr val="0E4A50"/>
          </a:solidFill>
          <a:ln w="12700">
            <a:solidFill>
              <a:srgbClr val="0E4A50"/>
            </a:solidFill>
            <a:prstDash val="solid"/>
          </a:ln>
        </p:spPr>
      </p:sp>
      <p:sp>
        <p:nvSpPr>
          <p:cNvPr id="10" name="sipoc-chu-4"/>
          <p:cNvSpPr txBox="1"/>
          <p:nvPr/>
        </p:nvSpPr>
        <p:spPr>
          <a:xfrm>
            <a:off x="7479792" y="1554480"/>
            <a:ext cx="1737360" cy="1965960"/>
          </a:xfrm>
          <a:prstGeom prst="rect">
            <a:avLst/>
          </a:prstGeom>
          <a:noFill/>
          <a:ln/>
        </p:spPr>
        <p:txBody>
          <a:bodyPr wrap="square" lIns="0" tIns="0" rIns="0" bIns="0" rtlCol="0" anchor="t"/>
          <a:lstStyle/>
          <a:p>
            <a:pPr indent="0" marL="0">
              <a:spcAft>
                <a:spcPts val="600"/>
              </a:spcAft>
              <a:buNone/>
            </a:pPr>
            <a:r>
              <a:rPr lang="en-US" sz="1600" b="1" dirty="0">
                <a:solidFill>
                  <a:schemeClr val="bg1"/>
                </a:solidFill>
              </a:rPr>
              <a:t>Kết thúc</a:t>
            </a:r>
            <a:endParaRPr lang="en-US" sz="1400" dirty="0"/>
          </a:p>
          <a:p>
            <a:pPr indent="0" marL="0">
              <a:spcAft>
                <a:spcPts val="600"/>
              </a:spcAft>
              <a:buNone/>
            </a:pPr>
            <a:r>
              <a:rPr lang="en-US" sz="1350" dirty="0">
                <a:solidFill>
                  <a:schemeClr val="bg1"/>
                </a:solidFill>
              </a:rPr>
              <a:t>E1 nhận giấy · E2 bị từ chối có lý do · E3 đóng do quá hạn bổ sung</a:t>
            </a:r>
            <a:endParaRPr lang="en-US" sz="1400" dirty="0"/>
          </a:p>
        </p:txBody>
      </p:sp>
      <p:sp>
        <p:nvSpPr>
          <p:cNvPr id="11" name="sipoc-5"/>
          <p:cNvSpPr/>
          <p:nvPr/>
        </p:nvSpPr>
        <p:spPr>
          <a:xfrm>
            <a:off x="9546336" y="1371600"/>
            <a:ext cx="2103120" cy="2240280"/>
          </a:xfrm>
          <a:prstGeom prst="roundRect">
            <a:avLst>
              <a:gd name="adj" fmla="val 5217"/>
            </a:avLst>
          </a:prstGeom>
          <a:solidFill>
            <a:srgbClr val="EEF5F4"/>
          </a:solidFill>
          <a:ln w="12700">
            <a:solidFill>
              <a:srgbClr val="EEF5F4"/>
            </a:solidFill>
            <a:prstDash val="solid"/>
          </a:ln>
        </p:spPr>
      </p:sp>
      <p:sp>
        <p:nvSpPr>
          <p:cNvPr id="12" name="sipoc-chu-5"/>
          <p:cNvSpPr txBox="1"/>
          <p:nvPr/>
        </p:nvSpPr>
        <p:spPr>
          <a:xfrm>
            <a:off x="9729216" y="1554480"/>
            <a:ext cx="1737360" cy="1965960"/>
          </a:xfrm>
          <a:prstGeom prst="rect">
            <a:avLst/>
          </a:prstGeom>
          <a:noFill/>
          <a:ln/>
        </p:spPr>
        <p:txBody>
          <a:bodyPr wrap="square" lIns="0" tIns="0" rIns="0" bIns="0" rtlCol="0" anchor="t"/>
          <a:lstStyle/>
          <a:p>
            <a:pPr indent="0" marL="0">
              <a:spcAft>
                <a:spcPts val="600"/>
              </a:spcAft>
              <a:buNone/>
            </a:pPr>
            <a:r>
              <a:rPr lang="en-US" sz="1600" b="1" dirty="0">
                <a:solidFill>
                  <a:schemeClr val="tx2"/>
                </a:solidFill>
              </a:rPr>
              <a:t>Đầu ra</a:t>
            </a:r>
            <a:endParaRPr lang="en-US" sz="1400" dirty="0"/>
          </a:p>
          <a:p>
            <a:pPr indent="0" marL="0">
              <a:spcAft>
                <a:spcPts val="600"/>
              </a:spcAft>
              <a:buNone/>
            </a:pPr>
            <a:r>
              <a:rPr lang="en-US" sz="1350" dirty="0">
                <a:solidFill>
                  <a:schemeClr val="tx1"/>
                </a:solidFill>
              </a:rPr>
              <a:t>Giấy đã ký, đóng dấu hoặc thông báo từ chối; nhật ký sự kiện</a:t>
            </a:r>
            <a:endParaRPr lang="en-US" sz="1400" dirty="0"/>
          </a:p>
        </p:txBody>
      </p:sp>
      <p:sp>
        <p:nvSpPr>
          <p:cNvPr id="13" name="hai-moc-do"/>
          <p:cNvSpPr txBox="1"/>
          <p:nvPr/>
        </p:nvSpPr>
        <p:spPr>
          <a:xfrm>
            <a:off x="548640" y="3931920"/>
            <a:ext cx="11064240" cy="1645920"/>
          </a:xfrm>
          <a:prstGeom prst="rect">
            <a:avLst/>
          </a:prstGeom>
          <a:noFill/>
          <a:ln/>
        </p:spPr>
        <p:txBody>
          <a:bodyPr wrap="square" lIns="0" tIns="0" rIns="0" bIns="0" rtlCol="0" anchor="t"/>
          <a:lstStyle/>
          <a:p>
            <a:pPr indent="0" marL="0">
              <a:spcAft>
                <a:spcPts val="600"/>
              </a:spcAft>
              <a:buNone/>
            </a:pPr>
            <a:r>
              <a:rPr lang="en-US" sz="1800" b="1" dirty="0">
                <a:solidFill>
                  <a:schemeClr val="tx2"/>
                </a:solidFill>
              </a:rPr>
              <a:t>Hai mốc đo thời gian</a:t>
            </a:r>
            <a:endParaRPr lang="en-US" sz="1600" dirty="0"/>
          </a:p>
          <a:p>
            <a:pPr indent="0" marL="0">
              <a:spcAft>
                <a:spcPts val="600"/>
              </a:spcAft>
              <a:buNone/>
            </a:pPr>
            <a:r>
              <a:rPr lang="en-US" sz="1600" b="1" dirty="0">
                <a:solidFill>
                  <a:schemeClr val="tx1"/>
                </a:solidFill>
              </a:rPr>
              <a:t>Thời gian phía trường: </a:t>
            </a:r>
            <a:pPr indent="0" marL="0">
              <a:spcAft>
                <a:spcPts val="600"/>
              </a:spcAft>
              <a:buNone/>
            </a:pPr>
            <a:r>
              <a:rPr lang="en-US" sz="1600" dirty="0">
                <a:solidFill>
                  <a:schemeClr val="tx1"/>
                </a:solidFill>
              </a:rPr>
              <a:t>từ lúc nộp tới lúc SV biết kết quả. Đây là phần trường kiểm soát được.</a:t>
            </a:r>
            <a:endParaRPr lang="en-US" sz="1600" dirty="0"/>
          </a:p>
          <a:p>
            <a:pPr indent="0" marL="0">
              <a:spcAft>
                <a:spcPts val="600"/>
              </a:spcAft>
              <a:buNone/>
            </a:pPr>
            <a:r>
              <a:rPr lang="en-US" sz="1600" b="1" dirty="0">
                <a:solidFill>
                  <a:schemeClr val="tx1"/>
                </a:solidFill>
              </a:rPr>
              <a:t>Thời gian phía SV: </a:t>
            </a:r>
            <a:pPr indent="0" marL="0">
              <a:spcAft>
                <a:spcPts val="600"/>
              </a:spcAft>
              <a:buNone/>
            </a:pPr>
            <a:r>
              <a:rPr lang="en-US" sz="1600" dirty="0">
                <a:solidFill>
                  <a:schemeClr val="tx1"/>
                </a:solidFill>
              </a:rPr>
              <a:t>thêm khoảng SV chuẩn bị bổ sung và đến nhận giấy. Tách riêng để không đổ lỗi cho trường.</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8C8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nchor="ctr"/>
          <a:lstStyle/>
          <a:p>
            <a:pPr algn="l" indent="0" marL="0">
              <a:buNone/>
            </a:pPr>
            <a:r>
              <a:rPr lang="en-US" sz="2600" b="1" dirty="0">
                <a:solidFill>
                  <a:schemeClr val="tx2"/>
                </a:solidFill>
              </a:rPr>
              <a:t>Quy trình hiện tại: 4 vai trò, nhiều bước làm tay, một vòng bổ sung</a:t>
            </a:r>
            <a:endParaRPr lang="en-US" sz="2600" dirty="0"/>
          </a:p>
        </p:txBody>
      </p:sp>
      <p:pic>
        <p:nvPicPr>
          <p:cNvPr id="3" name="bpmn-as-is" descr="bpmn-as-is">    </p:cNvPr>
          <p:cNvPicPr>
            <a:picLocks noChangeAspect="1"/>
          </p:cNvPicPr>
          <p:nvPr/>
        </p:nvPicPr>
        <p:blipFill>
          <a:blip r:embed="rId1"/>
          <a:stretch>
            <a:fillRect/>
          </a:stretch>
        </p:blipFill>
        <p:spPr>
          <a:xfrm>
            <a:off x="548640" y="1325880"/>
            <a:ext cx="11064240" cy="3179379"/>
          </a:xfrm>
          <a:prstGeom prst="rect">
            <a:avLst/>
          </a:prstGeom>
        </p:spPr>
      </p:pic>
      <p:sp>
        <p:nvSpPr>
          <p:cNvPr id="4" name="doc-so-do-as-is"/>
          <p:cNvSpPr txBox="1"/>
          <p:nvPr/>
        </p:nvSpPr>
        <p:spPr>
          <a:xfrm>
            <a:off x="548640" y="4754880"/>
            <a:ext cx="11064240" cy="1005840"/>
          </a:xfrm>
          <a:prstGeom prst="rect">
            <a:avLst/>
          </a:prstGeom>
          <a:noFill/>
          <a:ln/>
        </p:spPr>
        <p:txBody>
          <a:bodyPr wrap="square" lIns="0" tIns="0" rIns="0" bIns="0" rtlCol="0" anchor="t"/>
          <a:lstStyle/>
          <a:p>
            <a:pPr indent="0" marL="0">
              <a:buNone/>
            </a:pPr>
            <a:r>
              <a:rPr lang="en-US" sz="1500" b="1" dirty="0">
                <a:solidFill>
                  <a:schemeClr val="tx2"/>
                </a:solidFill>
              </a:rPr>
              <a:t>Đọc sơ đồ: </a:t>
            </a:r>
            <a:pPr indent="0" marL="0">
              <a:buNone/>
            </a:pPr>
            <a:r>
              <a:rPr lang="en-US" sz="1500" dirty="0">
                <a:solidFill>
                  <a:schemeClr val="tx1"/>
                </a:solidFill>
              </a:rPr>
              <a:t>kiểm tra có 3 nhánh (đủ, thiếu, không đủ tư cách); thiếu thì báo SV bổ sung và chờ tới hạn 7 ngày làm việc; quá hạn chỉ được phát hiện khi rà sổ chiều thứ Sáu; lãnh đạo ký theo lô thứ Ba và thứ Năm.</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8C8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nchor="ctr"/>
          <a:lstStyle/>
          <a:p>
            <a:pPr algn="l" indent="0" marL="0">
              <a:buNone/>
            </a:pPr>
            <a:r>
              <a:rPr lang="en-US" sz="2600" b="1" dirty="0">
                <a:solidFill>
                  <a:schemeClr val="tx2"/>
                </a:solidFill>
              </a:rPr>
              <a:t>Bốn vị trí có thể gây trễ, để dữ liệu kiểm chứng</a:t>
            </a:r>
            <a:endParaRPr lang="en-US" sz="2600" dirty="0"/>
          </a:p>
        </p:txBody>
      </p:sp>
      <p:sp>
        <p:nvSpPr>
          <p:cNvPr id="3" name="gia-thuyet-H1"/>
          <p:cNvSpPr/>
          <p:nvPr/>
        </p:nvSpPr>
        <p:spPr>
          <a:xfrm>
            <a:off x="548640" y="1325880"/>
            <a:ext cx="2606040" cy="2926080"/>
          </a:xfrm>
          <a:prstGeom prst="roundRect">
            <a:avLst>
              <a:gd name="adj" fmla="val 4211"/>
            </a:avLst>
          </a:prstGeom>
          <a:solidFill>
            <a:srgbClr val="E39B2D"/>
          </a:solidFill>
          <a:ln w="12700">
            <a:solidFill>
              <a:srgbClr val="E39B2D"/>
            </a:solidFill>
            <a:prstDash val="solid"/>
          </a:ln>
        </p:spPr>
      </p:sp>
      <p:sp>
        <p:nvSpPr>
          <p:cNvPr id="4" name="chu-gia-thuyet-H1"/>
          <p:cNvSpPr txBox="1"/>
          <p:nvPr/>
        </p:nvSpPr>
        <p:spPr>
          <a:xfrm>
            <a:off x="731520" y="1463040"/>
            <a:ext cx="2240280" cy="2697480"/>
          </a:xfrm>
          <a:prstGeom prst="rect">
            <a:avLst/>
          </a:prstGeom>
          <a:noFill/>
          <a:ln/>
        </p:spPr>
        <p:txBody>
          <a:bodyPr wrap="square" lIns="0" tIns="0" rIns="0" bIns="0" rtlCol="0" anchor="t"/>
          <a:lstStyle/>
          <a:p>
            <a:pPr indent="0" marL="0">
              <a:spcAft>
                <a:spcPts val="400"/>
              </a:spcAft>
              <a:buNone/>
            </a:pPr>
            <a:r>
              <a:rPr lang="en-US" sz="3000" b="1" dirty="0">
                <a:solidFill>
                  <a:schemeClr val="bg1"/>
                </a:solidFill>
                <a:latin typeface="Cambria" pitchFamily="34" charset="0"/>
                <a:ea typeface="Cambria" pitchFamily="34" charset="-122"/>
                <a:cs typeface="Cambria" pitchFamily="34" charset="-120"/>
              </a:rPr>
              <a:t>H1</a:t>
            </a:r>
            <a:endParaRPr lang="en-US" sz="1400" dirty="0"/>
          </a:p>
          <a:p>
            <a:pPr indent="0" marL="0">
              <a:spcAft>
                <a:spcPts val="400"/>
              </a:spcAft>
              <a:buNone/>
            </a:pPr>
            <a:r>
              <a:rPr lang="en-US" sz="1700" b="1" dirty="0">
                <a:solidFill>
                  <a:schemeClr val="bg1"/>
                </a:solidFill>
              </a:rPr>
              <a:t>Chờ ký</a:t>
            </a:r>
            <a:endParaRPr lang="en-US" sz="1400" dirty="0"/>
          </a:p>
          <a:p>
            <a:pPr indent="0" marL="0">
              <a:spcAft>
                <a:spcPts val="400"/>
              </a:spcAft>
              <a:buNone/>
            </a:pPr>
            <a:r>
              <a:rPr lang="en-US" sz="1350" dirty="0">
                <a:solidFill>
                  <a:schemeClr val="bg1"/>
                </a:solidFill>
              </a:rPr>
              <a:t>Soạn giấy → lãnh đạo ký</a:t>
            </a:r>
            <a:endParaRPr lang="en-US" sz="1400" dirty="0"/>
          </a:p>
          <a:p>
            <a:pPr indent="0" marL="0">
              <a:spcAft>
                <a:spcPts val="400"/>
              </a:spcAft>
              <a:buNone/>
            </a:pPr>
            <a:r>
              <a:rPr lang="en-US" sz="1300" i="1" dirty="0">
                <a:solidFill>
                  <a:schemeClr val="bg1"/>
                </a:solidFill>
              </a:rPr>
              <a:t>Nguyên nhân giả định: Ký theo lô, người ký vắng</a:t>
            </a:r>
            <a:endParaRPr lang="en-US" sz="1400" dirty="0"/>
          </a:p>
          <a:p>
            <a:pPr indent="0" marL="0">
              <a:spcAft>
                <a:spcPts val="400"/>
              </a:spcAft>
              <a:buNone/>
            </a:pPr>
            <a:r>
              <a:rPr lang="en-US" sz="1300" b="1" dirty="0">
                <a:solidFill>
                  <a:schemeClr val="bg1"/>
                </a:solidFill>
              </a:rPr>
              <a:t>Ảnh hưởng: Kéo dài thời gian phía trường; SV hỏi lại</a:t>
            </a:r>
            <a:endParaRPr lang="en-US" sz="1400" dirty="0"/>
          </a:p>
        </p:txBody>
      </p:sp>
      <p:sp>
        <p:nvSpPr>
          <p:cNvPr id="5" name="gia-thuyet-H2"/>
          <p:cNvSpPr/>
          <p:nvPr/>
        </p:nvSpPr>
        <p:spPr>
          <a:xfrm>
            <a:off x="3337560" y="1325880"/>
            <a:ext cx="2606040" cy="2926080"/>
          </a:xfrm>
          <a:prstGeom prst="roundRect">
            <a:avLst>
              <a:gd name="adj" fmla="val 4211"/>
            </a:avLst>
          </a:prstGeom>
          <a:solidFill>
            <a:srgbClr val="EEF5F4"/>
          </a:solidFill>
          <a:ln w="12700">
            <a:solidFill>
              <a:srgbClr val="EEF5F4"/>
            </a:solidFill>
            <a:prstDash val="solid"/>
          </a:ln>
        </p:spPr>
      </p:sp>
      <p:sp>
        <p:nvSpPr>
          <p:cNvPr id="6" name="chu-gia-thuyet-H2"/>
          <p:cNvSpPr txBox="1"/>
          <p:nvPr/>
        </p:nvSpPr>
        <p:spPr>
          <a:xfrm>
            <a:off x="3520440" y="1463040"/>
            <a:ext cx="2240280" cy="2697480"/>
          </a:xfrm>
          <a:prstGeom prst="rect">
            <a:avLst/>
          </a:prstGeom>
          <a:noFill/>
          <a:ln/>
        </p:spPr>
        <p:txBody>
          <a:bodyPr wrap="square" lIns="0" tIns="0" rIns="0" bIns="0" rtlCol="0" anchor="t"/>
          <a:lstStyle/>
          <a:p>
            <a:pPr indent="0" marL="0">
              <a:spcAft>
                <a:spcPts val="400"/>
              </a:spcAft>
              <a:buNone/>
            </a:pPr>
            <a:r>
              <a:rPr lang="en-US" sz="3000" b="1" dirty="0">
                <a:solidFill>
                  <a:schemeClr val="accent1"/>
                </a:solidFill>
                <a:latin typeface="Cambria" pitchFamily="34" charset="0"/>
                <a:ea typeface="Cambria" pitchFamily="34" charset="-122"/>
                <a:cs typeface="Cambria" pitchFamily="34" charset="-120"/>
              </a:rPr>
              <a:t>H2</a:t>
            </a:r>
            <a:endParaRPr lang="en-US" sz="1400" dirty="0"/>
          </a:p>
          <a:p>
            <a:pPr indent="0" marL="0">
              <a:spcAft>
                <a:spcPts val="400"/>
              </a:spcAft>
              <a:buNone/>
            </a:pPr>
            <a:r>
              <a:rPr lang="en-US" sz="1700" b="1" dirty="0">
                <a:solidFill>
                  <a:schemeClr val="tx2"/>
                </a:solidFill>
              </a:rPr>
              <a:t>Vòng bổ sung</a:t>
            </a:r>
            <a:endParaRPr lang="en-US" sz="1400" dirty="0"/>
          </a:p>
          <a:p>
            <a:pPr indent="0" marL="0">
              <a:spcAft>
                <a:spcPts val="400"/>
              </a:spcAft>
              <a:buNone/>
            </a:pPr>
            <a:r>
              <a:rPr lang="en-US" sz="1350" dirty="0">
                <a:solidFill>
                  <a:schemeClr val="tx1"/>
                </a:solidFill>
              </a:rPr>
              <a:t>Kiểm tra → báo bổ sung → nộp lại</a:t>
            </a:r>
            <a:endParaRPr lang="en-US" sz="1400" dirty="0"/>
          </a:p>
          <a:p>
            <a:pPr indent="0" marL="0">
              <a:spcAft>
                <a:spcPts val="400"/>
              </a:spcAft>
              <a:buNone/>
            </a:pPr>
            <a:r>
              <a:rPr lang="en-US" sz="1300" i="1" dirty="0">
                <a:solidFill>
                  <a:schemeClr val="accent6"/>
                </a:solidFill>
              </a:rPr>
              <a:t>Nguyên nhân giả định: Biểu mẫu không nêu rõ giấy tờ</a:t>
            </a:r>
            <a:endParaRPr lang="en-US" sz="1400" dirty="0"/>
          </a:p>
          <a:p>
            <a:pPr indent="0" marL="0">
              <a:spcAft>
                <a:spcPts val="400"/>
              </a:spcAft>
              <a:buNone/>
            </a:pPr>
            <a:r>
              <a:rPr lang="en-US" sz="1300" b="1" dirty="0">
                <a:solidFill>
                  <a:schemeClr val="tx2"/>
                </a:solidFill>
              </a:rPr>
              <a:t>Ảnh hưởng: Làm lại nhiều lần; tăng hồ sơ bị đóng quá hạn</a:t>
            </a:r>
            <a:endParaRPr lang="en-US" sz="1400" dirty="0"/>
          </a:p>
        </p:txBody>
      </p:sp>
      <p:sp>
        <p:nvSpPr>
          <p:cNvPr id="7" name="gia-thuyet-H3"/>
          <p:cNvSpPr/>
          <p:nvPr/>
        </p:nvSpPr>
        <p:spPr>
          <a:xfrm>
            <a:off x="6126480" y="1325880"/>
            <a:ext cx="2606040" cy="2926080"/>
          </a:xfrm>
          <a:prstGeom prst="roundRect">
            <a:avLst>
              <a:gd name="adj" fmla="val 4211"/>
            </a:avLst>
          </a:prstGeom>
          <a:solidFill>
            <a:srgbClr val="EEF5F4"/>
          </a:solidFill>
          <a:ln w="12700">
            <a:solidFill>
              <a:srgbClr val="EEF5F4"/>
            </a:solidFill>
            <a:prstDash val="solid"/>
          </a:ln>
        </p:spPr>
      </p:sp>
      <p:sp>
        <p:nvSpPr>
          <p:cNvPr id="8" name="chu-gia-thuyet-H3"/>
          <p:cNvSpPr txBox="1"/>
          <p:nvPr/>
        </p:nvSpPr>
        <p:spPr>
          <a:xfrm>
            <a:off x="6309360" y="1463040"/>
            <a:ext cx="2240280" cy="2697480"/>
          </a:xfrm>
          <a:prstGeom prst="rect">
            <a:avLst/>
          </a:prstGeom>
          <a:noFill/>
          <a:ln/>
        </p:spPr>
        <p:txBody>
          <a:bodyPr wrap="square" lIns="0" tIns="0" rIns="0" bIns="0" rtlCol="0" anchor="t"/>
          <a:lstStyle/>
          <a:p>
            <a:pPr indent="0" marL="0">
              <a:spcAft>
                <a:spcPts val="400"/>
              </a:spcAft>
              <a:buNone/>
            </a:pPr>
            <a:r>
              <a:rPr lang="en-US" sz="3000" b="1" dirty="0">
                <a:solidFill>
                  <a:schemeClr val="accent1"/>
                </a:solidFill>
                <a:latin typeface="Cambria" pitchFamily="34" charset="0"/>
                <a:ea typeface="Cambria" pitchFamily="34" charset="-122"/>
                <a:cs typeface="Cambria" pitchFamily="34" charset="-120"/>
              </a:rPr>
              <a:t>H3</a:t>
            </a:r>
            <a:endParaRPr lang="en-US" sz="1400" dirty="0"/>
          </a:p>
          <a:p>
            <a:pPr indent="0" marL="0">
              <a:spcAft>
                <a:spcPts val="400"/>
              </a:spcAft>
              <a:buNone/>
            </a:pPr>
            <a:r>
              <a:rPr lang="en-US" sz="1700" b="1" dirty="0">
                <a:solidFill>
                  <a:schemeClr val="tx2"/>
                </a:solidFill>
              </a:rPr>
              <a:t>Chờ kiểm tra</a:t>
            </a:r>
            <a:endParaRPr lang="en-US" sz="1400" dirty="0"/>
          </a:p>
          <a:p>
            <a:pPr indent="0" marL="0">
              <a:spcAft>
                <a:spcPts val="400"/>
              </a:spcAft>
              <a:buNone/>
            </a:pPr>
            <a:r>
              <a:rPr lang="en-US" sz="1350" dirty="0">
                <a:solidFill>
                  <a:schemeClr val="tx1"/>
                </a:solidFill>
              </a:rPr>
              <a:t>Tiếp nhận → kiểm tra</a:t>
            </a:r>
            <a:endParaRPr lang="en-US" sz="1400" dirty="0"/>
          </a:p>
          <a:p>
            <a:pPr indent="0" marL="0">
              <a:spcAft>
                <a:spcPts val="400"/>
              </a:spcAft>
              <a:buNone/>
            </a:pPr>
            <a:r>
              <a:rPr lang="en-US" sz="1300" i="1" dirty="0">
                <a:solidFill>
                  <a:schemeClr val="accent6"/>
                </a:solidFill>
              </a:rPr>
              <a:t>Nguyên nhân giả định: Cán bộ kiêm nhiệm, tra cứu tay</a:t>
            </a:r>
            <a:endParaRPr lang="en-US" sz="1400" dirty="0"/>
          </a:p>
          <a:p>
            <a:pPr indent="0" marL="0">
              <a:spcAft>
                <a:spcPts val="400"/>
              </a:spcAft>
              <a:buNone/>
            </a:pPr>
            <a:r>
              <a:rPr lang="en-US" sz="1300" b="1" dirty="0">
                <a:solidFill>
                  <a:schemeClr val="tx2"/>
                </a:solidFill>
              </a:rPr>
              <a:t>Ảnh hưởng: Ứ đọng đầu vào, tuổi hồ sơ tăng</a:t>
            </a:r>
            <a:endParaRPr lang="en-US" sz="1400" dirty="0"/>
          </a:p>
        </p:txBody>
      </p:sp>
      <p:sp>
        <p:nvSpPr>
          <p:cNvPr id="9" name="gia-thuyet-H4"/>
          <p:cNvSpPr/>
          <p:nvPr/>
        </p:nvSpPr>
        <p:spPr>
          <a:xfrm>
            <a:off x="8915400" y="1325880"/>
            <a:ext cx="2606040" cy="2926080"/>
          </a:xfrm>
          <a:prstGeom prst="roundRect">
            <a:avLst>
              <a:gd name="adj" fmla="val 4211"/>
            </a:avLst>
          </a:prstGeom>
          <a:solidFill>
            <a:srgbClr val="EEF5F4"/>
          </a:solidFill>
          <a:ln w="12700">
            <a:solidFill>
              <a:srgbClr val="EEF5F4"/>
            </a:solidFill>
            <a:prstDash val="solid"/>
          </a:ln>
        </p:spPr>
      </p:sp>
      <p:sp>
        <p:nvSpPr>
          <p:cNvPr id="10" name="chu-gia-thuyet-H4"/>
          <p:cNvSpPr txBox="1"/>
          <p:nvPr/>
        </p:nvSpPr>
        <p:spPr>
          <a:xfrm>
            <a:off x="9098280" y="1463040"/>
            <a:ext cx="2240280" cy="2697480"/>
          </a:xfrm>
          <a:prstGeom prst="rect">
            <a:avLst/>
          </a:prstGeom>
          <a:noFill/>
          <a:ln/>
        </p:spPr>
        <p:txBody>
          <a:bodyPr wrap="square" lIns="0" tIns="0" rIns="0" bIns="0" rtlCol="0" anchor="t"/>
          <a:lstStyle/>
          <a:p>
            <a:pPr indent="0" marL="0">
              <a:spcAft>
                <a:spcPts val="400"/>
              </a:spcAft>
              <a:buNone/>
            </a:pPr>
            <a:r>
              <a:rPr lang="en-US" sz="3000" b="1" dirty="0">
                <a:solidFill>
                  <a:schemeClr val="accent1"/>
                </a:solidFill>
                <a:latin typeface="Cambria" pitchFamily="34" charset="0"/>
                <a:ea typeface="Cambria" pitchFamily="34" charset="-122"/>
                <a:cs typeface="Cambria" pitchFamily="34" charset="-120"/>
              </a:rPr>
              <a:t>H4</a:t>
            </a:r>
            <a:endParaRPr lang="en-US" sz="1400" dirty="0"/>
          </a:p>
          <a:p>
            <a:pPr indent="0" marL="0">
              <a:spcAft>
                <a:spcPts val="400"/>
              </a:spcAft>
              <a:buNone/>
            </a:pPr>
            <a:r>
              <a:rPr lang="en-US" sz="1700" b="1" dirty="0">
                <a:solidFill>
                  <a:schemeClr val="tx2"/>
                </a:solidFill>
              </a:rPr>
              <a:t>Chờ chuyển giấy</a:t>
            </a:r>
            <a:endParaRPr lang="en-US" sz="1400" dirty="0"/>
          </a:p>
          <a:p>
            <a:pPr indent="0" marL="0">
              <a:spcAft>
                <a:spcPts val="400"/>
              </a:spcAft>
              <a:buNone/>
            </a:pPr>
            <a:r>
              <a:rPr lang="en-US" sz="1350" dirty="0">
                <a:solidFill>
                  <a:schemeClr val="tx1"/>
                </a:solidFill>
              </a:rPr>
              <a:t>Lãnh đạo ký → văn thư</a:t>
            </a:r>
            <a:endParaRPr lang="en-US" sz="1400" dirty="0"/>
          </a:p>
          <a:p>
            <a:pPr indent="0" marL="0">
              <a:spcAft>
                <a:spcPts val="400"/>
              </a:spcAft>
              <a:buNone/>
            </a:pPr>
            <a:r>
              <a:rPr lang="en-US" sz="1300" i="1" dirty="0">
                <a:solidFill>
                  <a:schemeClr val="accent6"/>
                </a:solidFill>
              </a:rPr>
              <a:t>Nguyên nhân giả định: Giấy đã ký chờ chuyển theo lô</a:t>
            </a:r>
            <a:endParaRPr lang="en-US" sz="1400" dirty="0"/>
          </a:p>
          <a:p>
            <a:pPr indent="0" marL="0">
              <a:spcAft>
                <a:spcPts val="400"/>
              </a:spcAft>
              <a:buNone/>
            </a:pPr>
            <a:r>
              <a:rPr lang="en-US" sz="1300" b="1" dirty="0">
                <a:solidFill>
                  <a:schemeClr val="tx2"/>
                </a:solidFill>
              </a:rPr>
              <a:t>Ảnh hưởng: Thêm thời gian mà không ai theo dõi</a:t>
            </a:r>
            <a:endParaRPr lang="en-US" sz="1400" dirty="0"/>
          </a:p>
        </p:txBody>
      </p:sp>
      <p:sp>
        <p:nvSpPr>
          <p:cNvPr id="11" name="tieu-chi-nghen"/>
          <p:cNvSpPr txBox="1"/>
          <p:nvPr/>
        </p:nvSpPr>
        <p:spPr>
          <a:xfrm>
            <a:off x="548640" y="4434840"/>
            <a:ext cx="11064240" cy="182880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Tiêu chí công bố trước khi chạy dữ liệu</a:t>
            </a:r>
            <a:endParaRPr lang="en-US" sz="1500" dirty="0"/>
          </a:p>
          <a:p>
            <a:pPr marL="342900" indent="-342900">
              <a:spcAft>
                <a:spcPts val="400"/>
              </a:spcAft>
              <a:buSzPct val="100000"/>
              <a:buChar char="•"/>
            </a:pPr>
            <a:r>
              <a:rPr lang="en-US" sz="1500" dirty="0">
                <a:solidFill>
                  <a:schemeClr val="tx1"/>
                </a:solidFill>
              </a:rPr>
              <a:t>(a) Trung vị thời gian chờ thuộc 3 chuyển tiếp lớn nhất</a:t>
            </a:r>
            <a:endParaRPr lang="en-US" sz="1500" dirty="0"/>
          </a:p>
          <a:p>
            <a:pPr marL="342900" indent="-342900">
              <a:spcAft>
                <a:spcPts val="400"/>
              </a:spcAft>
              <a:buSzPct val="100000"/>
              <a:buChar char="•"/>
            </a:pPr>
            <a:r>
              <a:rPr lang="en-US" sz="1500" dirty="0">
                <a:solidFill>
                  <a:schemeClr val="tx1"/>
                </a:solidFill>
              </a:rPr>
              <a:t>(b) Ít nhất 50% số ca qua chuyển tiếp chờ quá 1 ngày làm việc (450 phút)</a:t>
            </a:r>
            <a:endParaRPr lang="en-US" sz="1500" dirty="0"/>
          </a:p>
          <a:p>
            <a:pPr marL="342900" indent="-342900">
              <a:spcAft>
                <a:spcPts val="400"/>
              </a:spcAft>
              <a:buSzPct val="100000"/>
              <a:buChar char="•"/>
            </a:pPr>
            <a:r>
              <a:rPr lang="en-US" sz="1500" dirty="0">
                <a:solidFill>
                  <a:schemeClr val="tx1"/>
                </a:solidFill>
              </a:rPr>
              <a:t>(f) Chuyển tiếp xuất hiện ở ít nhất 10% số ca</a:t>
            </a:r>
            <a:endParaRPr lang="en-US" sz="1500" dirty="0"/>
          </a:p>
          <a:p>
            <a:pPr indent="0" marL="0">
              <a:spcAft>
                <a:spcPts val="400"/>
              </a:spcAft>
              <a:buNone/>
            </a:pPr>
            <a:r>
              <a:rPr lang="en-US" sz="1500" i="1" dirty="0">
                <a:solidFill>
                  <a:schemeClr val="accent6"/>
                </a:solidFill>
              </a:rPr>
              <a:t>Đạt cả ba mới gọi là ứng viên điểm nghẽn; chỉ nêu nguyên nhân khi có bằng chứng (lịch ký, cỡ lô).</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8C8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nchor="ctr"/>
          <a:lstStyle/>
          <a:p>
            <a:pPr algn="l" indent="0" marL="0">
              <a:buNone/>
            </a:pPr>
            <a:r>
              <a:rPr lang="en-US" sz="2600" b="1" dirty="0">
                <a:solidFill>
                  <a:schemeClr val="tx2"/>
                </a:solidFill>
              </a:rPr>
              <a:t>Hai kịch bản được mô phỏng trên cùng một dòng hồ sơ đến</a:t>
            </a:r>
            <a:endParaRPr lang="en-US" sz="2600" dirty="0"/>
          </a:p>
        </p:txBody>
      </p:sp>
      <p:sp>
        <p:nvSpPr>
          <p:cNvPr id="3" name="nhan-du-lieu-mo-phong"/>
          <p:cNvSpPr txBox="1"/>
          <p:nvPr/>
        </p:nvSpPr>
        <p:spPr>
          <a:xfrm>
            <a:off x="9326880" y="6382512"/>
            <a:ext cx="1691640" cy="347472"/>
          </a:xfrm>
          <a:prstGeom prst="roundRect">
            <a:avLst>
              <a:gd name="adj" fmla="val 21053"/>
            </a:avLst>
          </a:prstGeom>
          <a:solidFill>
            <a:srgbClr val="E39B2D">
              <a:alpha val="18000"/>
            </a:srgbClr>
          </a:solidFill>
          <a:ln/>
        </p:spPr>
        <p:txBody>
          <a:bodyPr wrap="square" lIns="0" tIns="0" rIns="0" bIns="0" rtlCol="0" anchor="ctr"/>
          <a:lstStyle/>
          <a:p>
            <a:pPr algn="ctr" indent="0" marL="0">
              <a:buNone/>
            </a:pPr>
            <a:r>
              <a:rPr lang="en-US" sz="1100" b="1" dirty="0">
                <a:solidFill>
                  <a:schemeClr val="accent3"/>
                </a:solidFill>
              </a:rPr>
              <a:t>Dữ liệu mô phỏng</a:t>
            </a:r>
            <a:endParaRPr lang="en-US" sz="1100" dirty="0"/>
          </a:p>
        </p:txBody>
      </p:sp>
      <p:sp>
        <p:nvSpPr>
          <p:cNvPr id="4" name="so-lieu-1"/>
          <p:cNvSpPr txBox="1"/>
          <p:nvPr/>
        </p:nvSpPr>
        <p:spPr>
          <a:xfrm>
            <a:off x="548640" y="1325880"/>
            <a:ext cx="3474720" cy="86868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400</a:t>
            </a:r>
            <a:endParaRPr lang="en-US" sz="5400" dirty="0"/>
          </a:p>
        </p:txBody>
      </p:sp>
      <p:sp>
        <p:nvSpPr>
          <p:cNvPr id="5" name="nhan-so-lieu-1"/>
          <p:cNvSpPr txBox="1"/>
          <p:nvPr/>
        </p:nvSpPr>
        <p:spPr>
          <a:xfrm>
            <a:off x="548640" y="2194560"/>
            <a:ext cx="3474720" cy="548640"/>
          </a:xfrm>
          <a:prstGeom prst="rect">
            <a:avLst/>
          </a:prstGeom>
          <a:noFill/>
          <a:ln/>
        </p:spPr>
        <p:txBody>
          <a:bodyPr wrap="square" lIns="0" tIns="0" rIns="0" bIns="0" rtlCol="0" anchor="t"/>
          <a:lstStyle/>
          <a:p>
            <a:pPr indent="0" marL="0">
              <a:buNone/>
            </a:pPr>
            <a:r>
              <a:rPr lang="en-US" sz="1400" dirty="0">
                <a:solidFill>
                  <a:schemeClr val="accent6"/>
                </a:solidFill>
              </a:rPr>
              <a:t>hồ sơ mỗi lần chạy, 12 tuần</a:t>
            </a:r>
            <a:endParaRPr lang="en-US" sz="1400" dirty="0"/>
          </a:p>
        </p:txBody>
      </p:sp>
      <p:sp>
        <p:nvSpPr>
          <p:cNvPr id="6" name="so-lieu-2"/>
          <p:cNvSpPr txBox="1"/>
          <p:nvPr/>
        </p:nvSpPr>
        <p:spPr>
          <a:xfrm>
            <a:off x="4251960" y="1325880"/>
            <a:ext cx="3474720" cy="86868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20</a:t>
            </a:r>
            <a:endParaRPr lang="en-US" sz="5400" dirty="0"/>
          </a:p>
        </p:txBody>
      </p:sp>
      <p:sp>
        <p:nvSpPr>
          <p:cNvPr id="7" name="nhan-so-lieu-2"/>
          <p:cNvSpPr txBox="1"/>
          <p:nvPr/>
        </p:nvSpPr>
        <p:spPr>
          <a:xfrm>
            <a:off x="4251960" y="2194560"/>
            <a:ext cx="3474720" cy="548640"/>
          </a:xfrm>
          <a:prstGeom prst="rect">
            <a:avLst/>
          </a:prstGeom>
          <a:noFill/>
          <a:ln/>
        </p:spPr>
        <p:txBody>
          <a:bodyPr wrap="square" lIns="0" tIns="0" rIns="0" bIns="0" rtlCol="0" anchor="t"/>
          <a:lstStyle/>
          <a:p>
            <a:pPr indent="0" marL="0">
              <a:buNone/>
            </a:pPr>
            <a:r>
              <a:rPr lang="en-US" sz="1400" dirty="0">
                <a:solidFill>
                  <a:schemeClr val="accent6"/>
                </a:solidFill>
              </a:rPr>
              <a:t>seed ngẫu nhiên, ghép cặp từng hồ sơ</a:t>
            </a:r>
            <a:endParaRPr lang="en-US" sz="1400" dirty="0"/>
          </a:p>
        </p:txBody>
      </p:sp>
      <p:sp>
        <p:nvSpPr>
          <p:cNvPr id="8" name="so-lieu-3"/>
          <p:cNvSpPr txBox="1"/>
          <p:nvPr/>
        </p:nvSpPr>
        <p:spPr>
          <a:xfrm>
            <a:off x="7955280" y="1325880"/>
            <a:ext cx="3474720" cy="86868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7</a:t>
            </a:r>
            <a:endParaRPr lang="en-US" sz="5400" dirty="0"/>
          </a:p>
        </p:txBody>
      </p:sp>
      <p:sp>
        <p:nvSpPr>
          <p:cNvPr id="9" name="nhan-so-lieu-3"/>
          <p:cNvSpPr txBox="1"/>
          <p:nvPr/>
        </p:nvSpPr>
        <p:spPr>
          <a:xfrm>
            <a:off x="7955280" y="2194560"/>
            <a:ext cx="3474720" cy="548640"/>
          </a:xfrm>
          <a:prstGeom prst="rect">
            <a:avLst/>
          </a:prstGeom>
          <a:noFill/>
          <a:ln/>
        </p:spPr>
        <p:txBody>
          <a:bodyPr wrap="square" lIns="0" tIns="0" rIns="0" bIns="0" rtlCol="0" anchor="t"/>
          <a:lstStyle/>
          <a:p>
            <a:pPr indent="0" marL="0">
              <a:buNone/>
            </a:pPr>
            <a:r>
              <a:rPr lang="en-US" sz="1400" dirty="0">
                <a:solidFill>
                  <a:schemeClr val="accent6"/>
                </a:solidFill>
              </a:rPr>
              <a:t>cấu hình: AS-IS, TO-BE S0/S1 × 3 mức bổ sung</a:t>
            </a:r>
            <a:endParaRPr lang="en-US" sz="1400" dirty="0"/>
          </a:p>
        </p:txBody>
      </p:sp>
      <p:graphicFrame>
        <p:nvGraphicFramePr>
          <p:cNvPr id="7" name="bang-tham-so"/>
          <p:cNvGraphicFramePr>
            <a:graphicFrameLocks noGrp="1"/>
          </p:cNvGraphicFramePr>
          <p:nvPr>
            <p:extLst>
              <p:ext uri="{D42A27DB-BD31-4B8C-83A1-F6EECF244321}">
                <p14:modId xmlns:p14="http://schemas.microsoft.com/office/powerpoint/2010/main" val="1579011935"/>
              </p:ext>
            </p:extLst>
          </p:nvPr>
        </p:nvGraphicFramePr>
        <p:xfrm>
          <a:off x="548640" y="2926080"/>
          <a:ext cx="11064240" cy="914400"/>
        </p:xfrm>
        <a:graphic>
          <a:graphicData uri="http://schemas.openxmlformats.org/drawingml/2006/table">
            <a:tbl>
              <a:tblPr/>
              <a:tblGrid>
                <a:gridCol w="2743200"/>
                <a:gridCol w="2743200"/>
                <a:gridCol w="3200400"/>
                <a:gridCol w="2377440"/>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Tham số</a:t>
                      </a:r>
                      <a:endParaRPr lang="en-US" sz="13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0E4A5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AS-IS</a:t>
                      </a:r>
                      <a:endParaRPr lang="en-US" sz="13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0E4A5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TO-BE</a:t>
                      </a:r>
                      <a:endParaRPr lang="en-US" sz="13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0E4A5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Lý do</a:t>
                      </a:r>
                      <a:endParaRPr lang="en-US" sz="13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0E4A50"/>
                    </a:solidFill>
                  </a:tcPr>
                </a:tc>
              </a:tr>
              <a:tr h="566928">
                <a:tc>
                  <a:txBody>
                    <a:bodyPr/>
                    <a:lstStyle/>
                    <a:p>
                      <a:pPr indent="0" marL="0">
                        <a:buNone/>
                      </a:pPr>
                      <a:r>
                        <a:rPr lang="en-US" sz="1300" dirty="0">
                          <a:solidFill>
                            <a:srgbClr val="1B2A33"/>
                          </a:solidFill>
                          <a:latin typeface="Calibri" pitchFamily="34" charset="0"/>
                          <a:ea typeface="Calibri" pitchFamily="34" charset="-122"/>
                          <a:cs typeface="Calibri" pitchFamily="34" charset="-120"/>
                        </a:rPr>
                        <a:t>Lịch ký của lãnh đạo</a:t>
                      </a:r>
                      <a:endParaRPr lang="en-US" sz="13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EF5F4"/>
                    </a:solidFill>
                  </a:tcPr>
                </a:tc>
                <a:tc>
                  <a:txBody>
                    <a:bodyPr/>
                    <a:lstStyle/>
                    <a:p>
                      <a:pPr indent="0" marL="0">
                        <a:buNone/>
                      </a:pPr>
                      <a:r>
                        <a:rPr lang="en-US" sz="1300" dirty="0">
                          <a:solidFill>
                            <a:srgbClr val="1B2A33"/>
                          </a:solidFill>
                          <a:latin typeface="Calibri" pitchFamily="34" charset="0"/>
                          <a:ea typeface="Calibri" pitchFamily="34" charset="-122"/>
                          <a:cs typeface="Calibri" pitchFamily="34" charset="-120"/>
                        </a:rPr>
                        <a:t>Lô thứ Ba, thứ Năm 14:00</a:t>
                      </a:r>
                      <a:endParaRPr lang="en-US" sz="13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EF5F4"/>
                    </a:solidFill>
                  </a:tcPr>
                </a:tc>
                <a:tc>
                  <a:txBody>
                    <a:bodyPr/>
                    <a:lstStyle/>
                    <a:p>
                      <a:pPr indent="0" marL="0">
                        <a:buNone/>
                      </a:pPr>
                      <a:r>
                        <a:rPr lang="en-US" sz="1300" dirty="0">
                          <a:solidFill>
                            <a:srgbClr val="1B2A33"/>
                          </a:solidFill>
                          <a:latin typeface="Calibri" pitchFamily="34" charset="0"/>
                          <a:ea typeface="Calibri" pitchFamily="34" charset="-122"/>
                          <a:cs typeface="Calibri" pitchFamily="34" charset="-120"/>
                        </a:rPr>
                        <a:t>S1: 10:30 và 16:00 mỗi ngày · S0: giữ lô</a:t>
                      </a:r>
                      <a:endParaRPr lang="en-US" sz="13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EF5F4"/>
                    </a:solidFill>
                  </a:tcPr>
                </a:tc>
                <a:tc>
                  <a:txBody>
                    <a:bodyPr/>
                    <a:lstStyle/>
                    <a:p>
                      <a:pPr indent="0" marL="0">
                        <a:buNone/>
                      </a:pPr>
                      <a:r>
                        <a:rPr lang="en-US" sz="1300" dirty="0">
                          <a:solidFill>
                            <a:srgbClr val="1B2A33"/>
                          </a:solidFill>
                          <a:latin typeface="Calibri" pitchFamily="34" charset="0"/>
                          <a:ea typeface="Calibri" pitchFamily="34" charset="-122"/>
                          <a:cs typeface="Calibri" pitchFamily="34" charset="-120"/>
                        </a:rPr>
                        <a:t>Tách tác động của lịch ký</a:t>
                      </a:r>
                      <a:endParaRPr lang="en-US" sz="13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EF5F4"/>
                    </a:solidFill>
                  </a:tcPr>
                </a:tc>
              </a:tr>
              <a:tr h="566928">
                <a:tc>
                  <a:txBody>
                    <a:bodyPr/>
                    <a:lstStyle/>
                    <a:p>
                      <a:pPr indent="0" marL="0">
                        <a:buNone/>
                      </a:pPr>
                      <a:r>
                        <a:rPr lang="en-US" sz="1300" dirty="0">
                          <a:solidFill>
                            <a:srgbClr val="1B2A33"/>
                          </a:solidFill>
                          <a:latin typeface="Calibri" pitchFamily="34" charset="0"/>
                          <a:ea typeface="Calibri" pitchFamily="34" charset="-122"/>
                          <a:cs typeface="Calibri" pitchFamily="34" charset="-120"/>
                        </a:rPr>
                        <a:t>Xác suất phải bổ sung (lần 1 / sau)</a:t>
                      </a:r>
                      <a:endParaRPr lang="en-US" sz="13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300" dirty="0">
                          <a:solidFill>
                            <a:srgbClr val="1B2A33"/>
                          </a:solidFill>
                          <a:latin typeface="Calibri" pitchFamily="34" charset="0"/>
                          <a:ea typeface="Calibri" pitchFamily="34" charset="-122"/>
                          <a:cs typeface="Calibri" pitchFamily="34" charset="-120"/>
                        </a:rPr>
                        <a:t>0,30 / 0,15</a:t>
                      </a:r>
                      <a:endParaRPr lang="en-US" sz="13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300" dirty="0">
                          <a:solidFill>
                            <a:srgbClr val="1B2A33"/>
                          </a:solidFill>
                          <a:latin typeface="Calibri" pitchFamily="34" charset="0"/>
                          <a:ea typeface="Calibri" pitchFamily="34" charset="-122"/>
                          <a:cs typeface="Calibri" pitchFamily="34" charset="-120"/>
                        </a:rPr>
                        <a:t>0,15 / 0,08 · độ nhạy 0,22 và 0,30</a:t>
                      </a:r>
                      <a:endParaRPr lang="en-US" sz="13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300" dirty="0">
                          <a:solidFill>
                            <a:srgbClr val="1B2A33"/>
                          </a:solidFill>
                          <a:latin typeface="Calibri" pitchFamily="34" charset="0"/>
                          <a:ea typeface="Calibri" pitchFamily="34" charset="-122"/>
                          <a:cs typeface="Calibri" pitchFamily="34" charset="-120"/>
                        </a:rPr>
                        <a:t>Chưa có căn cứ, nên chạy độ nhạy</a:t>
                      </a:r>
                      <a:endParaRPr lang="en-US" sz="13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1B2A33"/>
                          </a:solidFill>
                          <a:latin typeface="Calibri" pitchFamily="34" charset="0"/>
                          <a:ea typeface="Calibri" pitchFamily="34" charset="-122"/>
                          <a:cs typeface="Calibri" pitchFamily="34" charset="-120"/>
                        </a:rPr>
                        <a:t>Phát hiện quá hạn bổ sung</a:t>
                      </a:r>
                      <a:endParaRPr lang="en-US" sz="13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EF5F4"/>
                    </a:solidFill>
                  </a:tcPr>
                </a:tc>
                <a:tc>
                  <a:txBody>
                    <a:bodyPr/>
                    <a:lstStyle/>
                    <a:p>
                      <a:pPr indent="0" marL="0">
                        <a:buNone/>
                      </a:pPr>
                      <a:r>
                        <a:rPr lang="en-US" sz="1300" dirty="0">
                          <a:solidFill>
                            <a:srgbClr val="1B2A33"/>
                          </a:solidFill>
                          <a:latin typeface="Calibri" pitchFamily="34" charset="0"/>
                          <a:ea typeface="Calibri" pitchFamily="34" charset="-122"/>
                          <a:cs typeface="Calibri" pitchFamily="34" charset="-120"/>
                        </a:rPr>
                        <a:t>Rà sổ thứ Sáu 15:00</a:t>
                      </a:r>
                      <a:endParaRPr lang="en-US" sz="13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EF5F4"/>
                    </a:solidFill>
                  </a:tcPr>
                </a:tc>
                <a:tc>
                  <a:txBody>
                    <a:bodyPr/>
                    <a:lstStyle/>
                    <a:p>
                      <a:pPr indent="0" marL="0">
                        <a:buNone/>
                      </a:pPr>
                      <a:r>
                        <a:rPr lang="en-US" sz="1300" dirty="0">
                          <a:solidFill>
                            <a:srgbClr val="1B2A33"/>
                          </a:solidFill>
                          <a:latin typeface="Calibri" pitchFamily="34" charset="0"/>
                          <a:ea typeface="Calibri" pitchFamily="34" charset="-122"/>
                          <a:cs typeface="Calibri" pitchFamily="34" charset="-120"/>
                        </a:rPr>
                        <a:t>Timer đúng hạn</a:t>
                      </a:r>
                      <a:endParaRPr lang="en-US" sz="13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EF5F4"/>
                    </a:solidFill>
                  </a:tcPr>
                </a:tc>
                <a:tc>
                  <a:txBody>
                    <a:bodyPr/>
                    <a:lstStyle/>
                    <a:p>
                      <a:pPr indent="0" marL="0">
                        <a:buNone/>
                      </a:pPr>
                      <a:r>
                        <a:rPr lang="en-US" sz="1300" dirty="0">
                          <a:solidFill>
                            <a:srgbClr val="1B2A33"/>
                          </a:solidFill>
                          <a:latin typeface="Calibri" pitchFamily="34" charset="0"/>
                          <a:ea typeface="Calibri" pitchFamily="34" charset="-122"/>
                          <a:cs typeface="Calibri" pitchFamily="34" charset="-120"/>
                        </a:rPr>
                        <a:t>Thay đổi P4</a:t>
                      </a:r>
                      <a:endParaRPr lang="en-US" sz="13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EF5F4"/>
                    </a:solidFill>
                  </a:tcPr>
                </a:tc>
              </a:tr>
              <a:tr h="566928">
                <a:tc>
                  <a:txBody>
                    <a:bodyPr/>
                    <a:lstStyle/>
                    <a:p>
                      <a:pPr indent="0" marL="0">
                        <a:buNone/>
                      </a:pPr>
                      <a:r>
                        <a:rPr lang="en-US" sz="1300" dirty="0">
                          <a:solidFill>
                            <a:srgbClr val="1B2A33"/>
                          </a:solidFill>
                          <a:latin typeface="Calibri" pitchFamily="34" charset="0"/>
                          <a:ea typeface="Calibri" pitchFamily="34" charset="-122"/>
                          <a:cs typeface="Calibri" pitchFamily="34" charset="-120"/>
                        </a:rPr>
                        <a:t>Giữ nguyên ở cả hai</a:t>
                      </a:r>
                      <a:endParaRPr lang="en-US" sz="13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300" dirty="0">
                          <a:solidFill>
                            <a:srgbClr val="1B2A33"/>
                          </a:solidFill>
                          <a:latin typeface="Calibri" pitchFamily="34" charset="0"/>
                          <a:ea typeface="Calibri" pitchFamily="34" charset="-122"/>
                          <a:cs typeface="Calibri" pitchFamily="34" charset="-120"/>
                        </a:rPr>
                        <a:t>Số hồ sơ, loại giấy, hành vi SV, 1 cán bộ tiếp nhận</a:t>
                      </a:r>
                      <a:endParaRPr lang="en-US" sz="13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300" dirty="0">
                          <a:solidFill>
                            <a:srgbClr val="1B2A33"/>
                          </a:solidFill>
                          <a:latin typeface="Calibri" pitchFamily="34" charset="0"/>
                          <a:ea typeface="Calibri" pitchFamily="34" charset="-122"/>
                          <a:cs typeface="Calibri" pitchFamily="34" charset="-120"/>
                        </a:rPr>
                        <a:t>Cùng cơ sở so sánh</a:t>
                      </a:r>
                      <a:endParaRPr lang="en-US" sz="13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8C8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nchor="ctr"/>
          <a:lstStyle/>
          <a:p>
            <a:pPr algn="l" indent="0" marL="0">
              <a:buNone/>
            </a:pPr>
            <a:r>
              <a:rPr lang="en-US" sz="2600" b="1" dirty="0">
                <a:solidFill>
                  <a:schemeClr val="tx2"/>
                </a:solidFill>
              </a:rPr>
              <a:t>Chờ ký là ứng viên điểm nghẽn duy nhất đạt đủ ba tiêu chí</a:t>
            </a:r>
            <a:endParaRPr lang="en-US" sz="2600" dirty="0"/>
          </a:p>
        </p:txBody>
      </p:sp>
      <p:sp>
        <p:nvSpPr>
          <p:cNvPr id="3" name="nhan-du-lieu-mo-phong"/>
          <p:cNvSpPr txBox="1"/>
          <p:nvPr/>
        </p:nvSpPr>
        <p:spPr>
          <a:xfrm>
            <a:off x="9326880" y="6382512"/>
            <a:ext cx="1691640" cy="347472"/>
          </a:xfrm>
          <a:prstGeom prst="roundRect">
            <a:avLst>
              <a:gd name="adj" fmla="val 21053"/>
            </a:avLst>
          </a:prstGeom>
          <a:solidFill>
            <a:srgbClr val="E39B2D">
              <a:alpha val="18000"/>
            </a:srgbClr>
          </a:solidFill>
          <a:ln/>
        </p:spPr>
        <p:txBody>
          <a:bodyPr wrap="square" lIns="0" tIns="0" rIns="0" bIns="0" rtlCol="0" anchor="ctr"/>
          <a:lstStyle/>
          <a:p>
            <a:pPr algn="ctr" indent="0" marL="0">
              <a:buNone/>
            </a:pPr>
            <a:r>
              <a:rPr lang="en-US" sz="1100" b="1" dirty="0">
                <a:solidFill>
                  <a:schemeClr val="accent3"/>
                </a:solidFill>
              </a:rPr>
              <a:t>Dữ liệu mô phỏng</a:t>
            </a:r>
            <a:endParaRPr lang="en-US" sz="1100" dirty="0"/>
          </a:p>
        </p:txBody>
      </p:sp>
      <p:pic>
        <p:nvPicPr>
          <p:cNvPr id="4" name="dfg-as-is" descr="dfg-as-is">    </p:cNvPr>
          <p:cNvPicPr>
            <a:picLocks noChangeAspect="1"/>
          </p:cNvPicPr>
          <p:nvPr/>
        </p:nvPicPr>
        <p:blipFill>
          <a:blip r:embed="rId1"/>
          <a:stretch>
            <a:fillRect/>
          </a:stretch>
        </p:blipFill>
        <p:spPr>
          <a:xfrm>
            <a:off x="548640" y="1280160"/>
            <a:ext cx="7589520" cy="3418703"/>
          </a:xfrm>
          <a:prstGeom prst="rect">
            <a:avLst/>
          </a:prstGeom>
        </p:spPr>
      </p:pic>
      <p:sp>
        <p:nvSpPr>
          <p:cNvPr id="5" name="the-ket-qua-dfg"/>
          <p:cNvSpPr/>
          <p:nvPr/>
        </p:nvSpPr>
        <p:spPr>
          <a:xfrm>
            <a:off x="8412480" y="1280160"/>
            <a:ext cx="3200400" cy="3429000"/>
          </a:xfrm>
          <a:prstGeom prst="roundRect">
            <a:avLst>
              <a:gd name="adj" fmla="val 3429"/>
            </a:avLst>
          </a:prstGeom>
          <a:solidFill>
            <a:srgbClr val="EEF5F4"/>
          </a:solidFill>
          <a:ln w="12700">
            <a:solidFill>
              <a:srgbClr val="EEF5F4"/>
            </a:solidFill>
            <a:prstDash val="solid"/>
          </a:ln>
        </p:spPr>
      </p:sp>
      <p:sp>
        <p:nvSpPr>
          <p:cNvPr id="6" name="chu-ket-qua-dfg"/>
          <p:cNvSpPr txBox="1"/>
          <p:nvPr/>
        </p:nvSpPr>
        <p:spPr>
          <a:xfrm>
            <a:off x="8641080" y="1463040"/>
            <a:ext cx="2743200" cy="3108960"/>
          </a:xfrm>
          <a:prstGeom prst="rect">
            <a:avLst/>
          </a:prstGeom>
          <a:noFill/>
          <a:ln/>
        </p:spPr>
        <p:txBody>
          <a:bodyPr wrap="square" lIns="0" tIns="0" rIns="0" bIns="0" rtlCol="0" anchor="t"/>
          <a:lstStyle/>
          <a:p>
            <a:pPr indent="0" marL="0">
              <a:spcAft>
                <a:spcPts val="800"/>
              </a:spcAft>
              <a:buNone/>
            </a:pPr>
            <a:r>
              <a:rPr lang="en-US" sz="4800" b="1" dirty="0">
                <a:solidFill>
                  <a:schemeClr val="accent3"/>
                </a:solidFill>
                <a:latin typeface="Cambria" pitchFamily="34" charset="0"/>
                <a:ea typeface="Cambria" pitchFamily="34" charset="-122"/>
                <a:cs typeface="Cambria" pitchFamily="34" charset="-120"/>
              </a:rPr>
              <a:t>621</a:t>
            </a:r>
            <a:endParaRPr lang="en-US" sz="1400" dirty="0"/>
          </a:p>
          <a:p>
            <a:pPr indent="0" marL="0">
              <a:spcAft>
                <a:spcPts val="800"/>
              </a:spcAft>
              <a:buNone/>
            </a:pPr>
            <a:r>
              <a:rPr lang="en-US" sz="1400" dirty="0">
                <a:solidFill>
                  <a:schemeClr val="tx1"/>
                </a:solidFill>
              </a:rPr>
              <a:t>phút làm việc: trung vị chờ từ soạn giấy tới lúc ký (A06→A07), seed 20260302</a:t>
            </a:r>
            <a:endParaRPr lang="en-US" sz="1400" dirty="0"/>
          </a:p>
          <a:p>
            <a:pPr indent="0" marL="0">
              <a:spcAft>
                <a:spcPts val="800"/>
              </a:spcAft>
              <a:buNone/>
            </a:pPr>
            <a:r>
              <a:rPr lang="en-US" sz="1400" b="1" dirty="0">
                <a:solidFill>
                  <a:schemeClr val="tx2"/>
                </a:solidFill>
              </a:rPr>
              <a:t>63% số ca chờ quá 1 ngày làm việc; xuất hiện ở 369/400 ca</a:t>
            </a:r>
            <a:endParaRPr lang="en-US" sz="1400" dirty="0"/>
          </a:p>
        </p:txBody>
      </p:sp>
      <p:sp>
        <p:nvSpPr>
          <p:cNvPr id="7" name="bien-the"/>
          <p:cNvSpPr txBox="1"/>
          <p:nvPr/>
        </p:nvSpPr>
        <p:spPr>
          <a:xfrm>
            <a:off x="548640" y="4892040"/>
            <a:ext cx="11064240" cy="1188720"/>
          </a:xfrm>
          <a:prstGeom prst="rect">
            <a:avLst/>
          </a:prstGeom>
          <a:noFill/>
          <a:ln/>
        </p:spPr>
        <p:txBody>
          <a:bodyPr wrap="square" lIns="0" tIns="0" rIns="0" bIns="0" rtlCol="0" anchor="t"/>
          <a:lstStyle/>
          <a:p>
            <a:pPr indent="0" marL="0">
              <a:spcAft>
                <a:spcPts val="400"/>
              </a:spcAft>
              <a:buNone/>
            </a:pPr>
            <a:r>
              <a:rPr lang="en-US" sz="1450" b="1" dirty="0">
                <a:solidFill>
                  <a:schemeClr val="tx2"/>
                </a:solidFill>
              </a:rPr>
              <a:t>Biến thể (seed 20260302): </a:t>
            </a:r>
            <a:pPr indent="0" marL="0">
              <a:spcAft>
                <a:spcPts val="400"/>
              </a:spcAft>
              <a:buNone/>
            </a:pPr>
            <a:r>
              <a:rPr lang="en-US" sz="1450" dirty="0">
                <a:solidFill>
                  <a:schemeClr val="tx1"/>
                </a:solidFill>
              </a:rPr>
              <a:t>62,3% đi thẳng; 18,5% bổ sung 1 vòng rồi nhận giấy; 3,5% bổ sung 2 vòng; 4,5% bổ sung rồi bị đóng quá hạn.</a:t>
            </a:r>
            <a:endParaRPr lang="en-US" sz="1450" dirty="0"/>
          </a:p>
          <a:p>
            <a:pPr indent="0" marL="0">
              <a:spcAft>
                <a:spcPts val="400"/>
              </a:spcAft>
              <a:buNone/>
            </a:pPr>
            <a:r>
              <a:rPr lang="en-US" sz="1450" b="1" dirty="0">
                <a:solidFill>
                  <a:schemeClr val="tx2"/>
                </a:solidFill>
              </a:rPr>
              <a:t>AS-IS qua 20 seed: </a:t>
            </a:r>
            <a:pPr indent="0" marL="0">
              <a:spcAft>
                <a:spcPts val="400"/>
              </a:spcAft>
              <a:buNone/>
            </a:pPr>
            <a:r>
              <a:rPr lang="en-US" sz="1450" dirty="0">
                <a:solidFill>
                  <a:schemeClr val="tx1"/>
                </a:solidFill>
              </a:rPr>
              <a:t>cycle time phía trường trung vị 1.363 phút (P90 2.816); rework: 30,1% hồ sơ phải bổ sung, trung bình 0,35 vòng lặp A03→A04→A05→A03 mỗi hồ sơ.</a:t>
            </a:r>
            <a:endParaRPr lang="en-US" sz="145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8C8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nchor="ctr"/>
          <a:lstStyle/>
          <a:p>
            <a:pPr algn="l" indent="0" marL="0">
              <a:buNone/>
            </a:pPr>
            <a:r>
              <a:rPr lang="en-US" sz="2600" b="1" dirty="0">
                <a:solidFill>
                  <a:schemeClr val="tx2"/>
                </a:solidFill>
              </a:rPr>
              <a:t>Công thức trong code khớp số tính tay trên hồ sơ mẫu</a:t>
            </a:r>
            <a:endParaRPr lang="en-US" sz="2600" dirty="0"/>
          </a:p>
        </p:txBody>
      </p:sp>
      <p:sp>
        <p:nvSpPr>
          <p:cNvPr id="3" name="nhan-du-lieu-mo-phong"/>
          <p:cNvSpPr txBox="1"/>
          <p:nvPr/>
        </p:nvSpPr>
        <p:spPr>
          <a:xfrm>
            <a:off x="9326880" y="6382512"/>
            <a:ext cx="1691640" cy="347472"/>
          </a:xfrm>
          <a:prstGeom prst="roundRect">
            <a:avLst>
              <a:gd name="adj" fmla="val 21053"/>
            </a:avLst>
          </a:prstGeom>
          <a:solidFill>
            <a:srgbClr val="E39B2D">
              <a:alpha val="18000"/>
            </a:srgbClr>
          </a:solidFill>
          <a:ln/>
        </p:spPr>
        <p:txBody>
          <a:bodyPr wrap="square" lIns="0" tIns="0" rIns="0" bIns="0" rtlCol="0" anchor="ctr"/>
          <a:lstStyle/>
          <a:p>
            <a:pPr algn="ctr" indent="0" marL="0">
              <a:buNone/>
            </a:pPr>
            <a:r>
              <a:rPr lang="en-US" sz="1100" b="1" dirty="0">
                <a:solidFill>
                  <a:schemeClr val="accent3"/>
                </a:solidFill>
              </a:rPr>
              <a:t>Dữ liệu mô phỏng</a:t>
            </a:r>
            <a:endParaRPr lang="en-US" sz="1100" dirty="0"/>
          </a:p>
        </p:txBody>
      </p:sp>
      <p:graphicFrame>
        <p:nvGraphicFramePr>
          <p:cNvPr id="9" name="bang-tinh-tay"/>
          <p:cNvGraphicFramePr>
            <a:graphicFrameLocks noGrp="1"/>
          </p:cNvGraphicFramePr>
          <p:nvPr>
            <p:extLst>
              <p:ext uri="{D42A27DB-BD31-4B8C-83A1-F6EECF244321}">
                <p14:modId xmlns:p14="http://schemas.microsoft.com/office/powerpoint/2010/main" val="1579011935"/>
              </p:ext>
            </p:extLst>
          </p:nvPr>
        </p:nvGraphicFramePr>
        <p:xfrm>
          <a:off x="548640" y="1371600"/>
          <a:ext cx="7498080" cy="914400"/>
        </p:xfrm>
        <a:graphic>
          <a:graphicData uri="http://schemas.openxmlformats.org/drawingml/2006/table">
            <a:tbl>
              <a:tblPr/>
              <a:tblGrid>
                <a:gridCol w="1051560"/>
                <a:gridCol w="2057400"/>
                <a:gridCol w="1600200"/>
                <a:gridCol w="868680"/>
                <a:gridCol w="1920240"/>
              </a:tblGrid>
              <a:tr h="56692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Hồ sơ mẫu</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0E4A50"/>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Biến thể</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0E4A50"/>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Thời gian phía trường</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0E4A50"/>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Chờ ký</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0E4A50"/>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Ghi chú</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0E4A50"/>
                    </a:solidFill>
                  </a:tcPr>
                </a:tc>
              </a:tr>
              <a:tr h="566928">
                <a:tc>
                  <a:txBody>
                    <a:bodyPr/>
                    <a:lstStyle/>
                    <a:p>
                      <a:pPr algn="l" indent="0" marL="0">
                        <a:buNone/>
                      </a:pPr>
                      <a:r>
                        <a:rPr lang="en-US" sz="1400" b="1" dirty="0">
                          <a:solidFill>
                            <a:srgbClr val="1B2A33"/>
                          </a:solidFill>
                          <a:latin typeface="Calibri" pitchFamily="34" charset="0"/>
                          <a:ea typeface="Calibri" pitchFamily="34" charset="-122"/>
                          <a:cs typeface="Calibri" pitchFamily="34" charset="-120"/>
                        </a:rPr>
                        <a:t>C001</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EF5F4"/>
                    </a:solidFill>
                  </a:tcPr>
                </a:tc>
                <a:tc>
                  <a:txBody>
                    <a:bodyPr/>
                    <a:lstStyle/>
                    <a:p>
                      <a:pPr algn="l" indent="0" marL="0">
                        <a:buNone/>
                      </a:pPr>
                      <a:r>
                        <a:rPr lang="en-US" sz="1400" dirty="0">
                          <a:solidFill>
                            <a:srgbClr val="1B2A33"/>
                          </a:solidFill>
                          <a:latin typeface="Calibri" pitchFamily="34" charset="0"/>
                          <a:ea typeface="Calibri" pitchFamily="34" charset="-122"/>
                          <a:cs typeface="Calibri" pitchFamily="34" charset="-120"/>
                        </a:rPr>
                        <a:t>Đi thẳng, được duyệt</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EF5F4"/>
                    </a:solidFill>
                  </a:tcPr>
                </a:tc>
                <a:tc>
                  <a:txBody>
                    <a:bodyPr/>
                    <a:lstStyle/>
                    <a:p>
                      <a:pPr algn="r" indent="0" marL="0">
                        <a:buNone/>
                      </a:pPr>
                      <a:r>
                        <a:rPr lang="en-US" sz="1400" dirty="0">
                          <a:solidFill>
                            <a:srgbClr val="1B2A33"/>
                          </a:solidFill>
                          <a:latin typeface="Calibri" pitchFamily="34" charset="0"/>
                          <a:ea typeface="Calibri" pitchFamily="34" charset="-122"/>
                          <a:cs typeface="Calibri" pitchFamily="34" charset="-120"/>
                        </a:rPr>
                        <a:t>843</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EF5F4"/>
                    </a:solidFill>
                  </a:tcPr>
                </a:tc>
                <a:tc>
                  <a:txBody>
                    <a:bodyPr/>
                    <a:lstStyle/>
                    <a:p>
                      <a:pPr algn="r" indent="0" marL="0">
                        <a:buNone/>
                      </a:pPr>
                      <a:r>
                        <a:rPr lang="en-US" sz="1400" dirty="0">
                          <a:solidFill>
                            <a:srgbClr val="1B2A33"/>
                          </a:solidFill>
                          <a:latin typeface="Calibri" pitchFamily="34" charset="0"/>
                          <a:ea typeface="Calibri" pitchFamily="34" charset="-122"/>
                          <a:cs typeface="Calibri" pitchFamily="34" charset="-120"/>
                        </a:rPr>
                        <a:t>555</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EF5F4"/>
                    </a:solidFill>
                  </a:tcPr>
                </a:tc>
                <a:tc>
                  <a:txBody>
                    <a:bodyPr/>
                    <a:lstStyle/>
                    <a:p>
                      <a:pPr algn="l" indent="0" marL="0">
                        <a:buNone/>
                      </a:pPr>
                      <a:r>
                        <a:rPr lang="en-US" sz="1400" dirty="0">
                          <a:solidFill>
                            <a:srgbClr val="1B2A33"/>
                          </a:solidFill>
                          <a:latin typeface="Calibri" pitchFamily="34" charset="0"/>
                          <a:ea typeface="Calibri" pitchFamily="34" charset="-122"/>
                          <a:cs typeface="Calibri" pitchFamily="34" charset="-120"/>
                        </a:rPr>
                        <a:t>Khớp test tự động</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EF5F4"/>
                    </a:solidFill>
                  </a:tcPr>
                </a:tc>
              </a:tr>
              <a:tr h="566928">
                <a:tc>
                  <a:txBody>
                    <a:bodyPr/>
                    <a:lstStyle/>
                    <a:p>
                      <a:pPr algn="l" indent="0" marL="0">
                        <a:buNone/>
                      </a:pPr>
                      <a:r>
                        <a:rPr lang="en-US" sz="1400" b="1" dirty="0">
                          <a:solidFill>
                            <a:srgbClr val="1B2A33"/>
                          </a:solidFill>
                          <a:latin typeface="Calibri" pitchFamily="34" charset="0"/>
                          <a:ea typeface="Calibri" pitchFamily="34" charset="-122"/>
                          <a:cs typeface="Calibri" pitchFamily="34" charset="-120"/>
                        </a:rPr>
                        <a:t>C002</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A33"/>
                          </a:solidFill>
                          <a:latin typeface="Calibri" pitchFamily="34" charset="0"/>
                          <a:ea typeface="Calibri" pitchFamily="34" charset="-122"/>
                          <a:cs typeface="Calibri" pitchFamily="34" charset="-120"/>
                        </a:rPr>
                        <a:t>Bổ sung 1 vòng</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33"/>
                          </a:solidFill>
                          <a:latin typeface="Calibri" pitchFamily="34" charset="0"/>
                          <a:ea typeface="Calibri" pitchFamily="34" charset="-122"/>
                          <a:cs typeface="Calibri" pitchFamily="34" charset="-120"/>
                        </a:rPr>
                        <a:t>1.693</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33"/>
                          </a:solidFill>
                          <a:latin typeface="Calibri" pitchFamily="34" charset="0"/>
                          <a:ea typeface="Calibri" pitchFamily="34" charset="-122"/>
                          <a:cs typeface="Calibri" pitchFamily="34" charset="-120"/>
                        </a:rPr>
                        <a:t>585</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A33"/>
                          </a:solidFill>
                          <a:latin typeface="Calibri" pitchFamily="34" charset="0"/>
                          <a:ea typeface="Calibri" pitchFamily="34" charset="-122"/>
                          <a:cs typeface="Calibri" pitchFamily="34" charset="-120"/>
                        </a:rPr>
                        <a:t>Khớp test tự động</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r>
              <a:tr h="566928">
                <a:tc>
                  <a:txBody>
                    <a:bodyPr/>
                    <a:lstStyle/>
                    <a:p>
                      <a:pPr algn="l" indent="0" marL="0">
                        <a:buNone/>
                      </a:pPr>
                      <a:r>
                        <a:rPr lang="en-US" sz="1400" b="1" dirty="0">
                          <a:solidFill>
                            <a:srgbClr val="1B2A33"/>
                          </a:solidFill>
                          <a:latin typeface="Calibri" pitchFamily="34" charset="0"/>
                          <a:ea typeface="Calibri" pitchFamily="34" charset="-122"/>
                          <a:cs typeface="Calibri" pitchFamily="34" charset="-120"/>
                        </a:rPr>
                        <a:t>C003</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EF5F4"/>
                    </a:solidFill>
                  </a:tcPr>
                </a:tc>
                <a:tc>
                  <a:txBody>
                    <a:bodyPr/>
                    <a:lstStyle/>
                    <a:p>
                      <a:pPr algn="l" indent="0" marL="0">
                        <a:buNone/>
                      </a:pPr>
                      <a:r>
                        <a:rPr lang="en-US" sz="1400" dirty="0">
                          <a:solidFill>
                            <a:srgbClr val="1B2A33"/>
                          </a:solidFill>
                          <a:latin typeface="Calibri" pitchFamily="34" charset="0"/>
                          <a:ea typeface="Calibri" pitchFamily="34" charset="-122"/>
                          <a:cs typeface="Calibri" pitchFamily="34" charset="-120"/>
                        </a:rPr>
                        <a:t>Không đủ tư cách</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EF5F4"/>
                    </a:solidFill>
                  </a:tcPr>
                </a:tc>
                <a:tc>
                  <a:txBody>
                    <a:bodyPr/>
                    <a:lstStyle/>
                    <a:p>
                      <a:pPr algn="r" indent="0" marL="0">
                        <a:buNone/>
                      </a:pPr>
                      <a:r>
                        <a:rPr lang="en-US" sz="1400" dirty="0">
                          <a:solidFill>
                            <a:srgbClr val="1B2A33"/>
                          </a:solidFill>
                          <a:latin typeface="Calibri" pitchFamily="34" charset="0"/>
                          <a:ea typeface="Calibri" pitchFamily="34" charset="-122"/>
                          <a:cs typeface="Calibri" pitchFamily="34" charset="-120"/>
                        </a:rPr>
                        <a:t>1.233</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EF5F4"/>
                    </a:solidFill>
                  </a:tcPr>
                </a:tc>
                <a:tc>
                  <a:txBody>
                    <a:bodyPr/>
                    <a:lstStyle/>
                    <a:p>
                      <a:pPr algn="r" indent="0" marL="0">
                        <a:buNone/>
                      </a:pPr>
                      <a:r>
                        <a:rPr lang="en-US" sz="1400" dirty="0">
                          <a:solidFill>
                            <a:srgbClr val="1B2A3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EF5F4"/>
                    </a:solidFill>
                  </a:tcPr>
                </a:tc>
                <a:tc>
                  <a:txBody>
                    <a:bodyPr/>
                    <a:lstStyle/>
                    <a:p>
                      <a:pPr algn="l" indent="0" marL="0">
                        <a:buNone/>
                      </a:pPr>
                      <a:r>
                        <a:rPr lang="en-US" sz="1400" dirty="0">
                          <a:solidFill>
                            <a:srgbClr val="1B2A33"/>
                          </a:solidFill>
                          <a:latin typeface="Calibri" pitchFamily="34" charset="0"/>
                          <a:ea typeface="Calibri" pitchFamily="34" charset="-122"/>
                          <a:cs typeface="Calibri" pitchFamily="34" charset="-120"/>
                        </a:rPr>
                        <a:t>Khớp test tự động</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EEF5F4"/>
                    </a:solidFill>
                  </a:tcPr>
                </a:tc>
              </a:tr>
              <a:tr h="566928">
                <a:tc>
                  <a:txBody>
                    <a:bodyPr/>
                    <a:lstStyle/>
                    <a:p>
                      <a:pPr algn="l" indent="0" marL="0">
                        <a:buNone/>
                      </a:pPr>
                      <a:r>
                        <a:rPr lang="en-US" sz="1400" b="1" dirty="0">
                          <a:solidFill>
                            <a:srgbClr val="1B2A33"/>
                          </a:solidFill>
                          <a:latin typeface="Calibri" pitchFamily="34" charset="0"/>
                          <a:ea typeface="Calibri" pitchFamily="34" charset="-122"/>
                          <a:cs typeface="Calibri" pitchFamily="34" charset="-120"/>
                        </a:rPr>
                        <a:t>C004</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A33"/>
                          </a:solidFill>
                          <a:latin typeface="Calibri" pitchFamily="34" charset="0"/>
                          <a:ea typeface="Calibri" pitchFamily="34" charset="-122"/>
                          <a:cs typeface="Calibri" pitchFamily="34" charset="-120"/>
                        </a:rPr>
                        <a:t>Quá hạn bổ sung, đóng</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33"/>
                          </a:solidFill>
                          <a:latin typeface="Calibri" pitchFamily="34" charset="0"/>
                          <a:ea typeface="Calibri" pitchFamily="34" charset="-122"/>
                          <a:cs typeface="Calibri" pitchFamily="34" charset="-120"/>
                        </a:rPr>
                        <a:t>5.740</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3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A33"/>
                          </a:solidFill>
                          <a:latin typeface="Calibri" pitchFamily="34" charset="0"/>
                          <a:ea typeface="Calibri" pitchFamily="34" charset="-122"/>
                          <a:cs typeface="Calibri" pitchFamily="34" charset="-120"/>
                        </a:rPr>
                        <a:t>Trễ phát hiện 2.130; ròng khi đóng 2.235</a:t>
                      </a:r>
                      <a:endParaRPr lang="en-US" sz="1400" dirty="0">
                        <a:latin typeface="Calibri" charset="0"/>
                        <a:ea typeface="Calibri" charset="0"/>
                        <a:cs typeface="Calibri" charset="0"/>
                      </a:endParaRPr>
                    </a:p>
                  </a:txBody>
                  <a:tcPr marL="91440" marR="91440" marT="45720" marB="45720" anchor="ctr">
                    <a:lnL w="9525" cap="flat" cmpd="sng" algn="ctr">
                      <a:solidFill>
                        <a:srgbClr val="D5E3E1"/>
                      </a:solidFill>
                      <a:prstDash val="solid"/>
                      <a:round/>
                      <a:headEnd type="none" w="med" len="med"/>
                      <a:tailEnd type="none" w="med" len="med"/>
                    </a:lnL>
                    <a:lnR w="9525" cap="flat" cmpd="sng" algn="ctr">
                      <a:solidFill>
                        <a:srgbClr val="D5E3E1"/>
                      </a:solidFill>
                      <a:prstDash val="solid"/>
                      <a:round/>
                      <a:headEnd type="none" w="med" len="med"/>
                      <a:tailEnd type="none" w="med" len="med"/>
                    </a:lnR>
                    <a:lnT w="9525" cap="flat" cmpd="sng" algn="ctr">
                      <a:solidFill>
                        <a:srgbClr val="D5E3E1"/>
                      </a:solidFill>
                      <a:prstDash val="solid"/>
                      <a:round/>
                      <a:headEnd type="none" w="med" len="med"/>
                      <a:tailEnd type="none" w="med" len="med"/>
                    </a:lnT>
                    <a:lnB w="9525" cap="flat" cmpd="sng" algn="ctr">
                      <a:solidFill>
                        <a:srgbClr val="D5E3E1"/>
                      </a:solidFill>
                      <a:prstDash val="solid"/>
                      <a:round/>
                      <a:headEnd type="none" w="med" len="med"/>
                      <a:tailEnd type="none" w="med" len="med"/>
                    </a:lnB>
                    <a:solidFill>
                      <a:srgbClr val="FFFFFF"/>
                    </a:solidFill>
                  </a:tcPr>
                </a:tc>
              </a:tr>
            </a:tbl>
          </a:graphicData>
        </a:graphic>
      </p:graphicFrame>
      <p:sp>
        <p:nvSpPr>
          <p:cNvPr id="5" name="don-vi-tinh-tay"/>
          <p:cNvSpPr txBox="1"/>
          <p:nvPr/>
        </p:nvSpPr>
        <p:spPr>
          <a:xfrm>
            <a:off x="548640" y="4343400"/>
            <a:ext cx="7498080" cy="320040"/>
          </a:xfrm>
          <a:prstGeom prst="rect">
            <a:avLst/>
          </a:prstGeom>
          <a:noFill/>
          <a:ln/>
        </p:spPr>
        <p:txBody>
          <a:bodyPr wrap="square" lIns="0" tIns="0" rIns="0" bIns="0" rtlCol="0" anchor="t"/>
          <a:lstStyle/>
          <a:p>
            <a:pPr indent="0" marL="0">
              <a:buNone/>
            </a:pPr>
            <a:r>
              <a:rPr lang="en-US" sz="1200" dirty="0">
                <a:solidFill>
                  <a:schemeClr val="accent6"/>
                </a:solidFill>
              </a:rPr>
              <a:t>Đơn vị: phút làm việc (1 ngày = 450 phút).</a:t>
            </a:r>
            <a:endParaRPr lang="en-US" sz="1200" dirty="0"/>
          </a:p>
        </p:txBody>
      </p:sp>
      <p:sp>
        <p:nvSpPr>
          <p:cNvPr id="6" name="icon-kiem-thu-nen"/>
          <p:cNvSpPr/>
          <p:nvPr/>
        </p:nvSpPr>
        <p:spPr>
          <a:xfrm>
            <a:off x="8595360" y="1371600"/>
            <a:ext cx="685800" cy="685800"/>
          </a:xfrm>
          <a:prstGeom prst="ellipse">
            <a:avLst/>
          </a:prstGeom>
          <a:solidFill>
            <a:srgbClr val="0E7C74"/>
          </a:solidFill>
          <a:ln w="12700">
            <a:solidFill>
              <a:srgbClr val="0E7C74"/>
            </a:solidFill>
            <a:prstDash val="solid"/>
          </a:ln>
        </p:spPr>
      </p:sp>
      <p:pic>
        <p:nvPicPr>
          <p:cNvPr id="7" name="icon-kiem-thu" descr="preencoded.png">    </p:cNvPr>
          <p:cNvPicPr>
            <a:picLocks noChangeAspect="1"/>
          </p:cNvPicPr>
          <p:nvPr/>
        </p:nvPicPr>
        <p:blipFill>
          <a:blip r:embed="rId1"/>
          <a:stretch>
            <a:fillRect/>
          </a:stretch>
        </p:blipFill>
        <p:spPr>
          <a:xfrm>
            <a:off x="8746236" y="1522476"/>
            <a:ext cx="384048" cy="384048"/>
          </a:xfrm>
          <a:prstGeom prst="rect">
            <a:avLst/>
          </a:prstGeom>
        </p:spPr>
      </p:pic>
      <p:sp>
        <p:nvSpPr>
          <p:cNvPr id="8" name="kiem-thu"/>
          <p:cNvSpPr txBox="1"/>
          <p:nvPr/>
        </p:nvSpPr>
        <p:spPr>
          <a:xfrm>
            <a:off x="8595360" y="2240280"/>
            <a:ext cx="3017520" cy="3840480"/>
          </a:xfrm>
          <a:prstGeom prst="rect">
            <a:avLst/>
          </a:prstGeom>
          <a:noFill/>
          <a:ln/>
        </p:spPr>
        <p:txBody>
          <a:bodyPr wrap="square" lIns="0" tIns="0" rIns="0" bIns="0" rtlCol="0" anchor="t"/>
          <a:lstStyle/>
          <a:p>
            <a:pPr indent="0" marL="0">
              <a:spcAft>
                <a:spcPts val="600"/>
              </a:spcAft>
              <a:buNone/>
            </a:pPr>
            <a:r>
              <a:rPr lang="en-US" sz="1800" b="1" dirty="0">
                <a:solidFill>
                  <a:schemeClr val="tx2"/>
                </a:solidFill>
              </a:rPr>
              <a:t>12 test tự động đều đạt</a:t>
            </a:r>
            <a:endParaRPr lang="en-US" sz="1400" dirty="0"/>
          </a:p>
          <a:p>
            <a:pPr marL="342900" indent="-342900">
              <a:spcAft>
                <a:spcPts val="600"/>
              </a:spcAft>
              <a:buSzPct val="100000"/>
              <a:buChar char="•"/>
            </a:pPr>
            <a:r>
              <a:rPr lang="en-US" sz="1400" dirty="0">
                <a:solidFill>
                  <a:schemeClr val="tx1"/>
                </a:solidFill>
              </a:rPr>
              <a:t>Hàm lịch làm việc khớp bộ tính tay C001–C004</a:t>
            </a:r>
            <a:endParaRPr lang="en-US" sz="1400" dirty="0"/>
          </a:p>
          <a:p>
            <a:pPr marL="342900" indent="-342900">
              <a:spcAft>
                <a:spcPts val="600"/>
              </a:spcAft>
              <a:buSzPct val="100000"/>
              <a:buChar char="•"/>
            </a:pPr>
            <a:r>
              <a:rPr lang="en-US" sz="1400" dirty="0">
                <a:solidFill>
                  <a:schemeClr val="tx1"/>
                </a:solidFill>
              </a:rPr>
              <a:t>Hàm tính KPI kiểm trực tiếp trên ca C001</a:t>
            </a:r>
            <a:endParaRPr lang="en-US" sz="1400" dirty="0"/>
          </a:p>
          <a:p>
            <a:pPr marL="342900" indent="-342900">
              <a:spcAft>
                <a:spcPts val="600"/>
              </a:spcAft>
              <a:buSzPct val="100000"/>
              <a:buChar char="•"/>
            </a:pPr>
            <a:r>
              <a:rPr lang="en-US" sz="1400" dirty="0">
                <a:solidFill>
                  <a:schemeClr val="tx1"/>
                </a:solidFill>
              </a:rPr>
              <a:t>Log mô phỏng đúng quy tắc: start trước complete, chỉ đóng dấu sau khi duyệt</a:t>
            </a:r>
            <a:endParaRPr lang="en-US" sz="1400" dirty="0"/>
          </a:p>
          <a:p>
            <a:pPr marL="342900" indent="-342900">
              <a:spcAft>
                <a:spcPts val="600"/>
              </a:spcAft>
              <a:buSzPct val="100000"/>
              <a:buChar char="•"/>
            </a:pPr>
            <a:r>
              <a:rPr lang="en-US" sz="1400" dirty="0">
                <a:solidFill>
                  <a:schemeClr val="tx1"/>
                </a:solidFill>
              </a:rPr>
              <a:t>Codex và Antigravity (Gemini) rà code 2 đợt; lỗi tìm được đã sửa trước khi chốt số</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8C8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nchor="ctr"/>
          <a:lstStyle/>
          <a:p>
            <a:pPr algn="l" indent="0" marL="0">
              <a:buNone/>
            </a:pPr>
            <a:r>
              <a:rPr lang="en-US" sz="2600" b="1" dirty="0">
                <a:solidFill>
                  <a:schemeClr val="tx2"/>
                </a:solidFill>
              </a:rPr>
              <a:t>TO-BE: bỏ bước thừa, tự động hóa giấy tờ và thông báo</a:t>
            </a:r>
            <a:endParaRPr lang="en-US" sz="2600" dirty="0"/>
          </a:p>
        </p:txBody>
      </p:sp>
      <p:pic>
        <p:nvPicPr>
          <p:cNvPr id="3" name="bpmn-to-be" descr="bpmn-to-be">    </p:cNvPr>
          <p:cNvPicPr>
            <a:picLocks noChangeAspect="1"/>
          </p:cNvPicPr>
          <p:nvPr/>
        </p:nvPicPr>
        <p:blipFill>
          <a:blip r:embed="rId1"/>
          <a:stretch>
            <a:fillRect/>
          </a:stretch>
        </p:blipFill>
        <p:spPr>
          <a:xfrm>
            <a:off x="548640" y="1188720"/>
            <a:ext cx="11064240" cy="3688080"/>
          </a:xfrm>
          <a:prstGeom prst="rect">
            <a:avLst/>
          </a:prstGeom>
        </p:spPr>
      </p:pic>
      <p:sp>
        <p:nvSpPr>
          <p:cNvPr id="4" name="thay-doi-1"/>
          <p:cNvSpPr txBox="1"/>
          <p:nvPr/>
        </p:nvSpPr>
        <p:spPr>
          <a:xfrm>
            <a:off x="548640" y="5029200"/>
            <a:ext cx="2606040" cy="1188720"/>
          </a:xfrm>
          <a:prstGeom prst="rect">
            <a:avLst/>
          </a:prstGeom>
          <a:noFill/>
          <a:ln/>
        </p:spPr>
        <p:txBody>
          <a:bodyPr wrap="square" lIns="0" tIns="0" rIns="0" bIns="0" rtlCol="0" anchor="t"/>
          <a:lstStyle/>
          <a:p>
            <a:pPr indent="0" marL="0">
              <a:buNone/>
            </a:pPr>
            <a:r>
              <a:rPr lang="en-US" sz="1500" b="1" dirty="0">
                <a:solidFill>
                  <a:schemeClr val="accent1"/>
                </a:solidFill>
              </a:rPr>
              <a:t>Kiểm soát lại</a:t>
            </a:r>
            <a:endParaRPr lang="en-US" sz="1400" dirty="0"/>
          </a:p>
          <a:p>
            <a:pPr indent="0" marL="0">
              <a:buNone/>
            </a:pPr>
            <a:r>
              <a:rPr lang="en-US" sz="1300" dirty="0">
                <a:solidFill>
                  <a:schemeClr val="tx1"/>
                </a:solidFill>
              </a:rPr>
              <a:t>Form web có checklist; ký 2 khung giờ/ngày; báo văn thư ngay</a:t>
            </a:r>
            <a:endParaRPr lang="en-US" sz="1400" dirty="0"/>
          </a:p>
        </p:txBody>
      </p:sp>
      <p:sp>
        <p:nvSpPr>
          <p:cNvPr id="5" name="thay-doi-2"/>
          <p:cNvSpPr txBox="1"/>
          <p:nvPr/>
        </p:nvSpPr>
        <p:spPr>
          <a:xfrm>
            <a:off x="3337560" y="5029200"/>
            <a:ext cx="2606040" cy="1188720"/>
          </a:xfrm>
          <a:prstGeom prst="rect">
            <a:avLst/>
          </a:prstGeom>
          <a:noFill/>
          <a:ln/>
        </p:spPr>
        <p:txBody>
          <a:bodyPr wrap="square" lIns="0" tIns="0" rIns="0" bIns="0" rtlCol="0" anchor="t"/>
          <a:lstStyle/>
          <a:p>
            <a:pPr indent="0" marL="0">
              <a:buNone/>
            </a:pPr>
            <a:r>
              <a:rPr lang="en-US" sz="1500" b="1" dirty="0">
                <a:solidFill>
                  <a:schemeClr val="accent1"/>
                </a:solidFill>
              </a:rPr>
              <a:t>Tự động hóa</a:t>
            </a:r>
            <a:endParaRPr lang="en-US" sz="1400" dirty="0"/>
          </a:p>
          <a:p>
            <a:pPr indent="0" marL="0">
              <a:buNone/>
            </a:pPr>
            <a:r>
              <a:rPr lang="en-US" sz="1300" dirty="0">
                <a:solidFill>
                  <a:schemeClr val="tx1"/>
                </a:solidFill>
              </a:rPr>
              <a:t>Mã hồ sơ, sinh giấy từ mẫu, email bổ sung, nhắc hạn, đóng quá hạn</a:t>
            </a:r>
            <a:endParaRPr lang="en-US" sz="1400" dirty="0"/>
          </a:p>
        </p:txBody>
      </p:sp>
      <p:sp>
        <p:nvSpPr>
          <p:cNvPr id="6" name="thay-doi-3"/>
          <p:cNvSpPr txBox="1"/>
          <p:nvPr/>
        </p:nvSpPr>
        <p:spPr>
          <a:xfrm>
            <a:off x="6126480" y="5029200"/>
            <a:ext cx="2606040" cy="1188720"/>
          </a:xfrm>
          <a:prstGeom prst="rect">
            <a:avLst/>
          </a:prstGeom>
          <a:noFill/>
          <a:ln/>
        </p:spPr>
        <p:txBody>
          <a:bodyPr wrap="square" lIns="0" tIns="0" rIns="0" bIns="0" rtlCol="0" anchor="t"/>
          <a:lstStyle/>
          <a:p>
            <a:pPr indent="0" marL="0">
              <a:buNone/>
            </a:pPr>
            <a:r>
              <a:rPr lang="en-US" sz="1500" b="1" dirty="0">
                <a:solidFill>
                  <a:schemeClr val="accent1"/>
                </a:solidFill>
              </a:rPr>
              <a:t>Loại bỏ</a:t>
            </a:r>
            <a:endParaRPr lang="en-US" sz="1400" dirty="0"/>
          </a:p>
          <a:p>
            <a:pPr indent="0" marL="0">
              <a:buNone/>
            </a:pPr>
            <a:r>
              <a:rPr lang="en-US" sz="1300" dirty="0">
                <a:solidFill>
                  <a:schemeClr val="tx1"/>
                </a:solidFill>
              </a:rPr>
              <a:t>Bước ghi lý do từ chối riêng (gộp vào bước duyệt, bắt buộc lý do)</a:t>
            </a:r>
            <a:endParaRPr lang="en-US" sz="1400" dirty="0"/>
          </a:p>
        </p:txBody>
      </p:sp>
      <p:sp>
        <p:nvSpPr>
          <p:cNvPr id="7" name="thay-doi-4"/>
          <p:cNvSpPr txBox="1"/>
          <p:nvPr/>
        </p:nvSpPr>
        <p:spPr>
          <a:xfrm>
            <a:off x="8915400" y="5029200"/>
            <a:ext cx="2606040" cy="1188720"/>
          </a:xfrm>
          <a:prstGeom prst="rect">
            <a:avLst/>
          </a:prstGeom>
          <a:noFill/>
          <a:ln/>
        </p:spPr>
        <p:txBody>
          <a:bodyPr wrap="square" lIns="0" tIns="0" rIns="0" bIns="0" rtlCol="0" anchor="t"/>
          <a:lstStyle/>
          <a:p>
            <a:pPr indent="0" marL="0">
              <a:buNone/>
            </a:pPr>
            <a:r>
              <a:rPr lang="en-US" sz="1500" b="1" dirty="0">
                <a:solidFill>
                  <a:schemeClr val="accent1"/>
                </a:solidFill>
              </a:rPr>
              <a:t>Giữ nguyên</a:t>
            </a:r>
            <a:endParaRPr lang="en-US" sz="1400" dirty="0"/>
          </a:p>
          <a:p>
            <a:pPr indent="0" marL="0">
              <a:buNone/>
            </a:pPr>
            <a:r>
              <a:rPr lang="en-US" sz="1300" dirty="0">
                <a:solidFill>
                  <a:schemeClr val="tx1"/>
                </a:solidFill>
              </a:rPr>
              <a:t>Lãnh đạo quyết định; ký và đóng dấu giấy; tiêu chí tư cách</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8C8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nchor="ctr"/>
          <a:lstStyle/>
          <a:p>
            <a:pPr algn="l" indent="0" marL="0">
              <a:buNone/>
            </a:pPr>
            <a:r>
              <a:rPr lang="en-US" sz="2600" b="1" dirty="0">
                <a:solidFill>
                  <a:schemeClr val="tx2"/>
                </a:solidFill>
              </a:rPr>
              <a:t>Prototype: app ghi trạng thái, n8n điều phối, Mailpit lưu email</a:t>
            </a:r>
            <a:endParaRPr lang="en-US" sz="2600" dirty="0"/>
          </a:p>
        </p:txBody>
      </p:sp>
      <p:sp>
        <p:nvSpPr>
          <p:cNvPr id="3" name="dich-vu-1"/>
          <p:cNvSpPr/>
          <p:nvPr/>
        </p:nvSpPr>
        <p:spPr>
          <a:xfrm>
            <a:off x="548640" y="1325880"/>
            <a:ext cx="2606040" cy="2148840"/>
          </a:xfrm>
          <a:prstGeom prst="roundRect">
            <a:avLst>
              <a:gd name="adj" fmla="val 5106"/>
            </a:avLst>
          </a:prstGeom>
          <a:solidFill>
            <a:srgbClr val="EEF5F4"/>
          </a:solidFill>
          <a:ln w="12700">
            <a:solidFill>
              <a:srgbClr val="EEF5F4"/>
            </a:solidFill>
            <a:prstDash val="solid"/>
          </a:ln>
        </p:spPr>
      </p:sp>
      <p:sp>
        <p:nvSpPr>
          <p:cNvPr id="4" name="icon-dich-vu-1-nen"/>
          <p:cNvSpPr/>
          <p:nvPr/>
        </p:nvSpPr>
        <p:spPr>
          <a:xfrm>
            <a:off x="731520" y="1463040"/>
            <a:ext cx="548640" cy="548640"/>
          </a:xfrm>
          <a:prstGeom prst="ellipse">
            <a:avLst/>
          </a:prstGeom>
          <a:solidFill>
            <a:srgbClr val="0E7C74"/>
          </a:solidFill>
          <a:ln w="12700">
            <a:solidFill>
              <a:srgbClr val="0E7C74"/>
            </a:solidFill>
            <a:prstDash val="solid"/>
          </a:ln>
        </p:spPr>
      </p:sp>
      <p:pic>
        <p:nvPicPr>
          <p:cNvPr id="5" name="icon-dich-vu-1" descr="preencoded.png">    </p:cNvPr>
          <p:cNvPicPr>
            <a:picLocks noChangeAspect="1"/>
          </p:cNvPicPr>
          <p:nvPr/>
        </p:nvPicPr>
        <p:blipFill>
          <a:blip r:embed="rId1"/>
          <a:stretch>
            <a:fillRect/>
          </a:stretch>
        </p:blipFill>
        <p:spPr>
          <a:xfrm>
            <a:off x="852221" y="1583741"/>
            <a:ext cx="307238" cy="307238"/>
          </a:xfrm>
          <a:prstGeom prst="rect">
            <a:avLst/>
          </a:prstGeom>
        </p:spPr>
      </p:pic>
      <p:sp>
        <p:nvSpPr>
          <p:cNvPr id="6" name="chu-dich-vu-1"/>
          <p:cNvSpPr txBox="1"/>
          <p:nvPr/>
        </p:nvSpPr>
        <p:spPr>
          <a:xfrm>
            <a:off x="731520" y="2103120"/>
            <a:ext cx="2240280" cy="1325880"/>
          </a:xfrm>
          <a:prstGeom prst="rect">
            <a:avLst/>
          </a:prstGeom>
          <a:noFill/>
          <a:ln/>
        </p:spPr>
        <p:txBody>
          <a:bodyPr wrap="square" lIns="0" tIns="0" rIns="0" bIns="0" rtlCol="0" anchor="t"/>
          <a:lstStyle/>
          <a:p>
            <a:pPr indent="0" marL="0">
              <a:buNone/>
            </a:pPr>
            <a:r>
              <a:rPr lang="en-US" sz="1600" b="1" dirty="0">
                <a:solidFill>
                  <a:schemeClr val="tx2"/>
                </a:solidFill>
              </a:rPr>
              <a:t>Web app (FastAPI)</a:t>
            </a:r>
            <a:endParaRPr lang="en-US" sz="1400" dirty="0"/>
          </a:p>
          <a:p>
            <a:pPr indent="0" marL="0">
              <a:buNone/>
            </a:pPr>
            <a:r>
              <a:rPr lang="en-US" sz="1300" dirty="0">
                <a:solidFill>
                  <a:schemeClr val="tx1"/>
                </a:solidFill>
              </a:rPr>
              <a:t>Giao diện SV, cán bộ, phân tích. Bên duy nhất ghi trạng thái và nhật ký</a:t>
            </a:r>
            <a:endParaRPr lang="en-US" sz="1400" dirty="0"/>
          </a:p>
        </p:txBody>
      </p:sp>
      <p:sp>
        <p:nvSpPr>
          <p:cNvPr id="7" name="dich-vu-2"/>
          <p:cNvSpPr/>
          <p:nvPr/>
        </p:nvSpPr>
        <p:spPr>
          <a:xfrm>
            <a:off x="3337560" y="1325880"/>
            <a:ext cx="2606040" cy="2148840"/>
          </a:xfrm>
          <a:prstGeom prst="roundRect">
            <a:avLst>
              <a:gd name="adj" fmla="val 5106"/>
            </a:avLst>
          </a:prstGeom>
          <a:solidFill>
            <a:srgbClr val="EEF5F4"/>
          </a:solidFill>
          <a:ln w="12700">
            <a:solidFill>
              <a:srgbClr val="EEF5F4"/>
            </a:solidFill>
            <a:prstDash val="solid"/>
          </a:ln>
        </p:spPr>
      </p:sp>
      <p:sp>
        <p:nvSpPr>
          <p:cNvPr id="8" name="icon-dich-vu-2-nen"/>
          <p:cNvSpPr/>
          <p:nvPr/>
        </p:nvSpPr>
        <p:spPr>
          <a:xfrm>
            <a:off x="3520440" y="1463040"/>
            <a:ext cx="548640" cy="548640"/>
          </a:xfrm>
          <a:prstGeom prst="ellipse">
            <a:avLst/>
          </a:prstGeom>
          <a:solidFill>
            <a:srgbClr val="0E7C74"/>
          </a:solidFill>
          <a:ln w="12700">
            <a:solidFill>
              <a:srgbClr val="0E7C74"/>
            </a:solidFill>
            <a:prstDash val="solid"/>
          </a:ln>
        </p:spPr>
      </p:sp>
      <p:pic>
        <p:nvPicPr>
          <p:cNvPr id="9" name="icon-dich-vu-2" descr="preencoded.png">    </p:cNvPr>
          <p:cNvPicPr>
            <a:picLocks noChangeAspect="1"/>
          </p:cNvPicPr>
          <p:nvPr/>
        </p:nvPicPr>
        <p:blipFill>
          <a:blip r:embed="rId2"/>
          <a:stretch>
            <a:fillRect/>
          </a:stretch>
        </p:blipFill>
        <p:spPr>
          <a:xfrm>
            <a:off x="3641141" y="1583741"/>
            <a:ext cx="307238" cy="307238"/>
          </a:xfrm>
          <a:prstGeom prst="rect">
            <a:avLst/>
          </a:prstGeom>
        </p:spPr>
      </p:pic>
      <p:sp>
        <p:nvSpPr>
          <p:cNvPr id="10" name="chu-dich-vu-2"/>
          <p:cNvSpPr txBox="1"/>
          <p:nvPr/>
        </p:nvSpPr>
        <p:spPr>
          <a:xfrm>
            <a:off x="3520440" y="2103120"/>
            <a:ext cx="2240280" cy="1325880"/>
          </a:xfrm>
          <a:prstGeom prst="rect">
            <a:avLst/>
          </a:prstGeom>
          <a:noFill/>
          <a:ln/>
        </p:spPr>
        <p:txBody>
          <a:bodyPr wrap="square" lIns="0" tIns="0" rIns="0" bIns="0" rtlCol="0" anchor="t"/>
          <a:lstStyle/>
          <a:p>
            <a:pPr indent="0" marL="0">
              <a:buNone/>
            </a:pPr>
            <a:r>
              <a:rPr lang="en-US" sz="1600" b="1" dirty="0">
                <a:solidFill>
                  <a:schemeClr val="tx2"/>
                </a:solidFill>
              </a:rPr>
              <a:t>PostgreSQL</a:t>
            </a:r>
            <a:endParaRPr lang="en-US" sz="1400" dirty="0"/>
          </a:p>
          <a:p>
            <a:pPr indent="0" marL="0">
              <a:buNone/>
            </a:pPr>
            <a:r>
              <a:rPr lang="en-US" sz="1300" dirty="0">
                <a:solidFill>
                  <a:schemeClr val="tx1"/>
                </a:solidFill>
              </a:rPr>
              <a:t>Data source: hồ sơ, nhật ký sự kiện, hàng đợi thông báo</a:t>
            </a:r>
            <a:endParaRPr lang="en-US" sz="1400" dirty="0"/>
          </a:p>
        </p:txBody>
      </p:sp>
      <p:sp>
        <p:nvSpPr>
          <p:cNvPr id="11" name="dich-vu-3"/>
          <p:cNvSpPr/>
          <p:nvPr/>
        </p:nvSpPr>
        <p:spPr>
          <a:xfrm>
            <a:off x="6126480" y="1325880"/>
            <a:ext cx="2606040" cy="2148840"/>
          </a:xfrm>
          <a:prstGeom prst="roundRect">
            <a:avLst>
              <a:gd name="adj" fmla="val 5106"/>
            </a:avLst>
          </a:prstGeom>
          <a:solidFill>
            <a:srgbClr val="EEF5F4"/>
          </a:solidFill>
          <a:ln w="12700">
            <a:solidFill>
              <a:srgbClr val="EEF5F4"/>
            </a:solidFill>
            <a:prstDash val="solid"/>
          </a:ln>
        </p:spPr>
      </p:sp>
      <p:sp>
        <p:nvSpPr>
          <p:cNvPr id="12" name="icon-dich-vu-3-nen"/>
          <p:cNvSpPr/>
          <p:nvPr/>
        </p:nvSpPr>
        <p:spPr>
          <a:xfrm>
            <a:off x="6309360" y="1463040"/>
            <a:ext cx="548640" cy="548640"/>
          </a:xfrm>
          <a:prstGeom prst="ellipse">
            <a:avLst/>
          </a:prstGeom>
          <a:solidFill>
            <a:srgbClr val="E39B2D"/>
          </a:solidFill>
          <a:ln w="12700">
            <a:solidFill>
              <a:srgbClr val="E39B2D"/>
            </a:solidFill>
            <a:prstDash val="solid"/>
          </a:ln>
        </p:spPr>
      </p:sp>
      <p:pic>
        <p:nvPicPr>
          <p:cNvPr id="13" name="icon-dich-vu-3" descr="preencoded.png">    </p:cNvPr>
          <p:cNvPicPr>
            <a:picLocks noChangeAspect="1"/>
          </p:cNvPicPr>
          <p:nvPr/>
        </p:nvPicPr>
        <p:blipFill>
          <a:blip r:embed="rId3"/>
          <a:stretch>
            <a:fillRect/>
          </a:stretch>
        </p:blipFill>
        <p:spPr>
          <a:xfrm>
            <a:off x="6430061" y="1583741"/>
            <a:ext cx="307238" cy="307238"/>
          </a:xfrm>
          <a:prstGeom prst="rect">
            <a:avLst/>
          </a:prstGeom>
        </p:spPr>
      </p:pic>
      <p:sp>
        <p:nvSpPr>
          <p:cNvPr id="14" name="chu-dich-vu-3"/>
          <p:cNvSpPr txBox="1"/>
          <p:nvPr/>
        </p:nvSpPr>
        <p:spPr>
          <a:xfrm>
            <a:off x="6309360" y="2103120"/>
            <a:ext cx="2240280" cy="1325880"/>
          </a:xfrm>
          <a:prstGeom prst="rect">
            <a:avLst/>
          </a:prstGeom>
          <a:noFill/>
          <a:ln/>
        </p:spPr>
        <p:txBody>
          <a:bodyPr wrap="square" lIns="0" tIns="0" rIns="0" bIns="0" rtlCol="0" anchor="t"/>
          <a:lstStyle/>
          <a:p>
            <a:pPr indent="0" marL="0">
              <a:buNone/>
            </a:pPr>
            <a:r>
              <a:rPr lang="en-US" sz="1600" b="1" dirty="0">
                <a:solidFill>
                  <a:schemeClr val="tx2"/>
                </a:solidFill>
              </a:rPr>
              <a:t>n8n Community</a:t>
            </a:r>
            <a:endParaRPr lang="en-US" sz="1400" dirty="0"/>
          </a:p>
          <a:p>
            <a:pPr indent="0" marL="0">
              <a:buNone/>
            </a:pPr>
            <a:r>
              <a:rPr lang="en-US" sz="1300" dirty="0">
                <a:solidFill>
                  <a:schemeClr val="tx1"/>
                </a:solidFill>
              </a:rPr>
              <a:t>Nhận webhook, tiền kiểm, gọi chuyển trạng thái, gửi email, callback</a:t>
            </a:r>
            <a:endParaRPr lang="en-US" sz="1400" dirty="0"/>
          </a:p>
        </p:txBody>
      </p:sp>
      <p:sp>
        <p:nvSpPr>
          <p:cNvPr id="15" name="dich-vu-4"/>
          <p:cNvSpPr/>
          <p:nvPr/>
        </p:nvSpPr>
        <p:spPr>
          <a:xfrm>
            <a:off x="8915400" y="1325880"/>
            <a:ext cx="2606040" cy="2148840"/>
          </a:xfrm>
          <a:prstGeom prst="roundRect">
            <a:avLst>
              <a:gd name="adj" fmla="val 5106"/>
            </a:avLst>
          </a:prstGeom>
          <a:solidFill>
            <a:srgbClr val="EEF5F4"/>
          </a:solidFill>
          <a:ln w="12700">
            <a:solidFill>
              <a:srgbClr val="EEF5F4"/>
            </a:solidFill>
            <a:prstDash val="solid"/>
          </a:ln>
        </p:spPr>
      </p:sp>
      <p:sp>
        <p:nvSpPr>
          <p:cNvPr id="16" name="icon-dich-vu-4-nen"/>
          <p:cNvSpPr/>
          <p:nvPr/>
        </p:nvSpPr>
        <p:spPr>
          <a:xfrm>
            <a:off x="9098280" y="1463040"/>
            <a:ext cx="548640" cy="548640"/>
          </a:xfrm>
          <a:prstGeom prst="ellipse">
            <a:avLst/>
          </a:prstGeom>
          <a:solidFill>
            <a:srgbClr val="0E7C74"/>
          </a:solidFill>
          <a:ln w="12700">
            <a:solidFill>
              <a:srgbClr val="0E7C74"/>
            </a:solidFill>
            <a:prstDash val="solid"/>
          </a:ln>
        </p:spPr>
      </p:sp>
      <p:pic>
        <p:nvPicPr>
          <p:cNvPr id="17" name="icon-dich-vu-4" descr="preencoded.png">    </p:cNvPr>
          <p:cNvPicPr>
            <a:picLocks noChangeAspect="1"/>
          </p:cNvPicPr>
          <p:nvPr/>
        </p:nvPicPr>
        <p:blipFill>
          <a:blip r:embed="rId4"/>
          <a:stretch>
            <a:fillRect/>
          </a:stretch>
        </p:blipFill>
        <p:spPr>
          <a:xfrm>
            <a:off x="9218981" y="1583741"/>
            <a:ext cx="307238" cy="307238"/>
          </a:xfrm>
          <a:prstGeom prst="rect">
            <a:avLst/>
          </a:prstGeom>
        </p:spPr>
      </p:pic>
      <p:sp>
        <p:nvSpPr>
          <p:cNvPr id="18" name="chu-dich-vu-4"/>
          <p:cNvSpPr txBox="1"/>
          <p:nvPr/>
        </p:nvSpPr>
        <p:spPr>
          <a:xfrm>
            <a:off x="9098280" y="2103120"/>
            <a:ext cx="2240280" cy="1325880"/>
          </a:xfrm>
          <a:prstGeom prst="rect">
            <a:avLst/>
          </a:prstGeom>
          <a:noFill/>
          <a:ln/>
        </p:spPr>
        <p:txBody>
          <a:bodyPr wrap="square" lIns="0" tIns="0" rIns="0" bIns="0" rtlCol="0" anchor="t"/>
          <a:lstStyle/>
          <a:p>
            <a:pPr indent="0" marL="0">
              <a:buNone/>
            </a:pPr>
            <a:r>
              <a:rPr lang="en-US" sz="1600" b="1" dirty="0">
                <a:solidFill>
                  <a:schemeClr val="tx2"/>
                </a:solidFill>
              </a:rPr>
              <a:t>Mailpit</a:t>
            </a:r>
            <a:endParaRPr lang="en-US" sz="1400" dirty="0"/>
          </a:p>
          <a:p>
            <a:pPr indent="0" marL="0">
              <a:buNone/>
            </a:pPr>
            <a:r>
              <a:rPr lang="en-US" sz="1300" dirty="0">
                <a:solidFill>
                  <a:schemeClr val="tx1"/>
                </a:solidFill>
              </a:rPr>
              <a:t>Hộp thư thử nghiệm local, không gửi ra Internet</a:t>
            </a:r>
            <a:endParaRPr lang="en-US" sz="1400" dirty="0"/>
          </a:p>
        </p:txBody>
      </p:sp>
      <p:sp>
        <p:nvSpPr>
          <p:cNvPr id="19" name="tieu-de-workflow"/>
          <p:cNvSpPr txBox="1"/>
          <p:nvPr/>
        </p:nvSpPr>
        <p:spPr>
          <a:xfrm>
            <a:off x="548640" y="3749040"/>
            <a:ext cx="11064240" cy="411480"/>
          </a:xfrm>
          <a:prstGeom prst="rect">
            <a:avLst/>
          </a:prstGeom>
          <a:noFill/>
          <a:ln/>
        </p:spPr>
        <p:txBody>
          <a:bodyPr wrap="square" lIns="0" tIns="0" rIns="0" bIns="0" rtlCol="0" anchor="t"/>
          <a:lstStyle/>
          <a:p>
            <a:pPr indent="0" marL="0">
              <a:buNone/>
            </a:pPr>
            <a:r>
              <a:rPr lang="en-US" sz="1800" b="1" dirty="0">
                <a:solidFill>
                  <a:schemeClr val="tx2"/>
                </a:solidFill>
              </a:rPr>
              <a:t>Workflow n8n đáp ứng yêu cầu tối thiểu</a:t>
            </a:r>
            <a:endParaRPr lang="en-US" sz="1800" dirty="0"/>
          </a:p>
        </p:txBody>
      </p:sp>
      <p:sp>
        <p:nvSpPr>
          <p:cNvPr id="20" name="yeu-cau-1"/>
          <p:cNvSpPr/>
          <p:nvPr/>
        </p:nvSpPr>
        <p:spPr>
          <a:xfrm>
            <a:off x="548640" y="4251960"/>
            <a:ext cx="2103120" cy="1600200"/>
          </a:xfrm>
          <a:prstGeom prst="roundRect">
            <a:avLst>
              <a:gd name="adj" fmla="val 5714"/>
            </a:avLst>
          </a:prstGeom>
          <a:solidFill>
            <a:srgbClr val="FFFFFF"/>
          </a:solidFill>
          <a:ln w="12700">
            <a:solidFill>
              <a:srgbClr val="9DBFB9"/>
            </a:solidFill>
            <a:prstDash val="solid"/>
          </a:ln>
        </p:spPr>
      </p:sp>
      <p:sp>
        <p:nvSpPr>
          <p:cNvPr id="21" name="chu-yeu-cau-1"/>
          <p:cNvSpPr txBox="1"/>
          <p:nvPr/>
        </p:nvSpPr>
        <p:spPr>
          <a:xfrm>
            <a:off x="685800" y="4389120"/>
            <a:ext cx="1828800" cy="1371600"/>
          </a:xfrm>
          <a:prstGeom prst="rect">
            <a:avLst/>
          </a:prstGeom>
          <a:noFill/>
          <a:ln/>
        </p:spPr>
        <p:txBody>
          <a:bodyPr wrap="square" lIns="0" tIns="0" rIns="0" bIns="0" rtlCol="0" anchor="t"/>
          <a:lstStyle/>
          <a:p>
            <a:pPr indent="0" marL="0">
              <a:buNone/>
            </a:pPr>
            <a:r>
              <a:rPr lang="en-US" sz="1500" b="1" dirty="0">
                <a:solidFill>
                  <a:schemeClr val="accent1"/>
                </a:solidFill>
              </a:rPr>
              <a:t>Trigger</a:t>
            </a:r>
            <a:endParaRPr lang="en-US" sz="1400" dirty="0"/>
          </a:p>
          <a:p>
            <a:pPr indent="0" marL="0">
              <a:buNone/>
            </a:pPr>
            <a:r>
              <a:rPr lang="en-US" sz="1250" dirty="0">
                <a:solidFill>
                  <a:schemeClr val="tx1"/>
                </a:solidFill>
              </a:rPr>
              <a:t>Webhook nhận yêu cầu từ web</a:t>
            </a:r>
            <a:endParaRPr lang="en-US" sz="1400" dirty="0"/>
          </a:p>
        </p:txBody>
      </p:sp>
      <p:sp>
        <p:nvSpPr>
          <p:cNvPr id="22" name="yeu-cau-2"/>
          <p:cNvSpPr/>
          <p:nvPr/>
        </p:nvSpPr>
        <p:spPr>
          <a:xfrm>
            <a:off x="2798064" y="4251960"/>
            <a:ext cx="2103120" cy="1600200"/>
          </a:xfrm>
          <a:prstGeom prst="roundRect">
            <a:avLst>
              <a:gd name="adj" fmla="val 5714"/>
            </a:avLst>
          </a:prstGeom>
          <a:solidFill>
            <a:srgbClr val="FFFFFF"/>
          </a:solidFill>
          <a:ln w="12700">
            <a:solidFill>
              <a:srgbClr val="9DBFB9"/>
            </a:solidFill>
            <a:prstDash val="solid"/>
          </a:ln>
        </p:spPr>
      </p:sp>
      <p:sp>
        <p:nvSpPr>
          <p:cNvPr id="23" name="chu-yeu-cau-2"/>
          <p:cNvSpPr txBox="1"/>
          <p:nvPr/>
        </p:nvSpPr>
        <p:spPr>
          <a:xfrm>
            <a:off x="2935224" y="4389120"/>
            <a:ext cx="1828800" cy="1371600"/>
          </a:xfrm>
          <a:prstGeom prst="rect">
            <a:avLst/>
          </a:prstGeom>
          <a:noFill/>
          <a:ln/>
        </p:spPr>
        <p:txBody>
          <a:bodyPr wrap="square" lIns="0" tIns="0" rIns="0" bIns="0" rtlCol="0" anchor="t"/>
          <a:lstStyle/>
          <a:p>
            <a:pPr indent="0" marL="0">
              <a:buNone/>
            </a:pPr>
            <a:r>
              <a:rPr lang="en-US" sz="1500" b="1" dirty="0">
                <a:solidFill>
                  <a:schemeClr val="accent1"/>
                </a:solidFill>
              </a:rPr>
              <a:t>Data source</a:t>
            </a:r>
            <a:endParaRPr lang="en-US" sz="1400" dirty="0"/>
          </a:p>
          <a:p>
            <a:pPr indent="0" marL="0">
              <a:buNone/>
            </a:pPr>
            <a:r>
              <a:rPr lang="en-US" sz="1250" dirty="0">
                <a:solidFill>
                  <a:schemeClr val="tx1"/>
                </a:solidFill>
              </a:rPr>
              <a:t>Đọc hồ sơ và dữ liệu SV qua API</a:t>
            </a:r>
            <a:endParaRPr lang="en-US" sz="1400" dirty="0"/>
          </a:p>
        </p:txBody>
      </p:sp>
      <p:sp>
        <p:nvSpPr>
          <p:cNvPr id="24" name="yeu-cau-3"/>
          <p:cNvSpPr/>
          <p:nvPr/>
        </p:nvSpPr>
        <p:spPr>
          <a:xfrm>
            <a:off x="5047488" y="4251960"/>
            <a:ext cx="2103120" cy="1600200"/>
          </a:xfrm>
          <a:prstGeom prst="roundRect">
            <a:avLst>
              <a:gd name="adj" fmla="val 5714"/>
            </a:avLst>
          </a:prstGeom>
          <a:solidFill>
            <a:srgbClr val="FFFFFF"/>
          </a:solidFill>
          <a:ln w="12700">
            <a:solidFill>
              <a:srgbClr val="9DBFB9"/>
            </a:solidFill>
            <a:prstDash val="solid"/>
          </a:ln>
        </p:spPr>
      </p:sp>
      <p:sp>
        <p:nvSpPr>
          <p:cNvPr id="25" name="chu-yeu-cau-3"/>
          <p:cNvSpPr txBox="1"/>
          <p:nvPr/>
        </p:nvSpPr>
        <p:spPr>
          <a:xfrm>
            <a:off x="5184648" y="4389120"/>
            <a:ext cx="1828800" cy="1371600"/>
          </a:xfrm>
          <a:prstGeom prst="rect">
            <a:avLst/>
          </a:prstGeom>
          <a:noFill/>
          <a:ln/>
        </p:spPr>
        <p:txBody>
          <a:bodyPr wrap="square" lIns="0" tIns="0" rIns="0" bIns="0" rtlCol="0" anchor="t"/>
          <a:lstStyle/>
          <a:p>
            <a:pPr indent="0" marL="0">
              <a:buNone/>
            </a:pPr>
            <a:r>
              <a:rPr lang="en-US" sz="1500" b="1" dirty="0">
                <a:solidFill>
                  <a:schemeClr val="accent1"/>
                </a:solidFill>
              </a:rPr>
              <a:t>Condition</a:t>
            </a:r>
            <a:endParaRPr lang="en-US" sz="1400" dirty="0"/>
          </a:p>
          <a:p>
            <a:pPr indent="0" marL="0">
              <a:buNone/>
            </a:pPr>
            <a:r>
              <a:rPr lang="en-US" sz="1250" dirty="0">
                <a:solidFill>
                  <a:schemeClr val="tx1"/>
                </a:solidFill>
              </a:rPr>
              <a:t>IF tiền kiểm? · IF đủ điều kiện và đủ thông tin?</a:t>
            </a:r>
            <a:endParaRPr lang="en-US" sz="1400" dirty="0"/>
          </a:p>
        </p:txBody>
      </p:sp>
      <p:sp>
        <p:nvSpPr>
          <p:cNvPr id="26" name="yeu-cau-4"/>
          <p:cNvSpPr/>
          <p:nvPr/>
        </p:nvSpPr>
        <p:spPr>
          <a:xfrm>
            <a:off x="7296912" y="4251960"/>
            <a:ext cx="2103120" cy="1600200"/>
          </a:xfrm>
          <a:prstGeom prst="roundRect">
            <a:avLst>
              <a:gd name="adj" fmla="val 5714"/>
            </a:avLst>
          </a:prstGeom>
          <a:solidFill>
            <a:srgbClr val="FFFFFF"/>
          </a:solidFill>
          <a:ln w="12700">
            <a:solidFill>
              <a:srgbClr val="9DBFB9"/>
            </a:solidFill>
            <a:prstDash val="solid"/>
          </a:ln>
        </p:spPr>
      </p:sp>
      <p:sp>
        <p:nvSpPr>
          <p:cNvPr id="27" name="chu-yeu-cau-4"/>
          <p:cNvSpPr txBox="1"/>
          <p:nvPr/>
        </p:nvSpPr>
        <p:spPr>
          <a:xfrm>
            <a:off x="7434072" y="4389120"/>
            <a:ext cx="1828800" cy="1371600"/>
          </a:xfrm>
          <a:prstGeom prst="rect">
            <a:avLst/>
          </a:prstGeom>
          <a:noFill/>
          <a:ln/>
        </p:spPr>
        <p:txBody>
          <a:bodyPr wrap="square" lIns="0" tIns="0" rIns="0" bIns="0" rtlCol="0" anchor="t"/>
          <a:lstStyle/>
          <a:p>
            <a:pPr indent="0" marL="0">
              <a:buNone/>
            </a:pPr>
            <a:r>
              <a:rPr lang="en-US" sz="1500" b="1" dirty="0">
                <a:solidFill>
                  <a:schemeClr val="accent1"/>
                </a:solidFill>
              </a:rPr>
              <a:t>4 actions</a:t>
            </a:r>
            <a:endParaRPr lang="en-US" sz="1400" dirty="0"/>
          </a:p>
          <a:p>
            <a:pPr indent="0" marL="0">
              <a:buNone/>
            </a:pPr>
            <a:r>
              <a:rPr lang="en-US" sz="1250" dirty="0">
                <a:solidFill>
                  <a:schemeClr val="tx1"/>
                </a:solidFill>
              </a:rPr>
              <a:t>Ghi đạt · ghi yêu cầu bổ sung · xác nhận đồng bộ · phản hồi</a:t>
            </a:r>
            <a:endParaRPr lang="en-US" sz="1400" dirty="0"/>
          </a:p>
        </p:txBody>
      </p:sp>
      <p:sp>
        <p:nvSpPr>
          <p:cNvPr id="28" name="yeu-cau-5"/>
          <p:cNvSpPr/>
          <p:nvPr/>
        </p:nvSpPr>
        <p:spPr>
          <a:xfrm>
            <a:off x="9546336" y="4251960"/>
            <a:ext cx="2103120" cy="1600200"/>
          </a:xfrm>
          <a:prstGeom prst="roundRect">
            <a:avLst>
              <a:gd name="adj" fmla="val 5714"/>
            </a:avLst>
          </a:prstGeom>
          <a:solidFill>
            <a:srgbClr val="FFFFFF"/>
          </a:solidFill>
          <a:ln w="12700">
            <a:solidFill>
              <a:srgbClr val="9DBFB9"/>
            </a:solidFill>
            <a:prstDash val="solid"/>
          </a:ln>
        </p:spPr>
      </p:sp>
      <p:sp>
        <p:nvSpPr>
          <p:cNvPr id="29" name="chu-yeu-cau-5"/>
          <p:cNvSpPr txBox="1"/>
          <p:nvPr/>
        </p:nvSpPr>
        <p:spPr>
          <a:xfrm>
            <a:off x="9683496" y="4389120"/>
            <a:ext cx="1828800" cy="1371600"/>
          </a:xfrm>
          <a:prstGeom prst="rect">
            <a:avLst/>
          </a:prstGeom>
          <a:noFill/>
          <a:ln/>
        </p:spPr>
        <p:txBody>
          <a:bodyPr wrap="square" lIns="0" tIns="0" rIns="0" bIns="0" rtlCol="0" anchor="t"/>
          <a:lstStyle/>
          <a:p>
            <a:pPr indent="0" marL="0">
              <a:buNone/>
            </a:pPr>
            <a:r>
              <a:rPr lang="en-US" sz="1500" b="1" dirty="0">
                <a:solidFill>
                  <a:schemeClr val="accent1"/>
                </a:solidFill>
              </a:rPr>
              <a:t>Notification</a:t>
            </a:r>
            <a:endParaRPr lang="en-US" sz="1400" dirty="0"/>
          </a:p>
          <a:p>
            <a:pPr indent="0" marL="0">
              <a:buNone/>
            </a:pPr>
            <a:r>
              <a:rPr lang="en-US" sz="1250" dirty="0">
                <a:solidFill>
                  <a:schemeClr val="tx1"/>
                </a:solidFill>
              </a:rPr>
              <a:t>Gửi email qua Mailpit (SMTP)</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8C85"/>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nchor="ctr"/>
          <a:lstStyle/>
          <a:p>
            <a:pPr algn="l" indent="0" marL="0">
              <a:buNone/>
            </a:pPr>
            <a:r>
              <a:rPr lang="en-US" sz="2600" b="1" dirty="0">
                <a:solidFill>
                  <a:schemeClr val="tx2"/>
                </a:solidFill>
              </a:rPr>
              <a:t>Một hồ sơ chạy thật: từ form nộp tới email thử nghiệm</a:t>
            </a:r>
            <a:endParaRPr lang="en-US" sz="2600" dirty="0"/>
          </a:p>
        </p:txBody>
      </p:sp>
      <p:pic>
        <p:nvPicPr>
          <p:cNvPr id="3" name="man-hinh-sinh-vien" descr="man-hinh-sinh-vien">    </p:cNvPr>
          <p:cNvPicPr>
            <a:picLocks noChangeAspect="1"/>
          </p:cNvPicPr>
          <p:nvPr/>
        </p:nvPicPr>
        <p:blipFill>
          <a:blip r:embed="rId1"/>
          <a:stretch>
            <a:fillRect/>
          </a:stretch>
        </p:blipFill>
        <p:spPr>
          <a:xfrm>
            <a:off x="548640" y="1280160"/>
            <a:ext cx="3566160" cy="2228850"/>
          </a:xfrm>
          <a:prstGeom prst="rect">
            <a:avLst/>
          </a:prstGeom>
        </p:spPr>
      </p:pic>
      <p:pic>
        <p:nvPicPr>
          <p:cNvPr id="4" name="man-hinh-can-bo" descr="man-hinh-can-bo">    </p:cNvPr>
          <p:cNvPicPr>
            <a:picLocks noChangeAspect="1"/>
          </p:cNvPicPr>
          <p:nvPr/>
        </p:nvPicPr>
        <p:blipFill>
          <a:blip r:embed="rId2"/>
          <a:stretch>
            <a:fillRect/>
          </a:stretch>
        </p:blipFill>
        <p:spPr>
          <a:xfrm>
            <a:off x="4297680" y="1280160"/>
            <a:ext cx="3566160" cy="2187828"/>
          </a:xfrm>
          <a:prstGeom prst="rect">
            <a:avLst/>
          </a:prstGeom>
        </p:spPr>
      </p:pic>
      <p:pic>
        <p:nvPicPr>
          <p:cNvPr id="5" name="man-hinh-mailpit" descr="man-hinh-mailpit">    </p:cNvPr>
          <p:cNvPicPr>
            <a:picLocks noChangeAspect="1"/>
          </p:cNvPicPr>
          <p:nvPr/>
        </p:nvPicPr>
        <p:blipFill>
          <a:blip r:embed="rId3"/>
          <a:stretch>
            <a:fillRect/>
          </a:stretch>
        </p:blipFill>
        <p:spPr>
          <a:xfrm>
            <a:off x="8046720" y="1280160"/>
            <a:ext cx="3566160" cy="1756729"/>
          </a:xfrm>
          <a:prstGeom prst="rect">
            <a:avLst/>
          </a:prstGeom>
        </p:spPr>
      </p:pic>
      <p:sp>
        <p:nvSpPr>
          <p:cNvPr id="6" name="buoc-demo-1"/>
          <p:cNvSpPr txBox="1"/>
          <p:nvPr/>
        </p:nvSpPr>
        <p:spPr>
          <a:xfrm>
            <a:off x="548640" y="3840480"/>
            <a:ext cx="3566160" cy="1097280"/>
          </a:xfrm>
          <a:prstGeom prst="rect">
            <a:avLst/>
          </a:prstGeom>
          <a:noFill/>
          <a:ln/>
        </p:spPr>
        <p:txBody>
          <a:bodyPr wrap="square" lIns="0" tIns="0" rIns="0" bIns="0" rtlCol="0" anchor="t"/>
          <a:lstStyle/>
          <a:p>
            <a:pPr indent="0" marL="0">
              <a:buNone/>
            </a:pPr>
            <a:r>
              <a:rPr lang="en-US" sz="1500" b="1" dirty="0">
                <a:solidFill>
                  <a:schemeClr val="tx2"/>
                </a:solidFill>
              </a:rPr>
              <a:t>1. Sinh viên nộp form</a:t>
            </a:r>
            <a:endParaRPr lang="en-US" sz="1400" dirty="0"/>
          </a:p>
          <a:p>
            <a:pPr indent="0" marL="0">
              <a:buNone/>
            </a:pPr>
            <a:r>
              <a:rPr lang="en-US" sz="1300" dirty="0">
                <a:solidFill>
                  <a:schemeClr val="tx1"/>
                </a:solidFill>
              </a:rPr>
              <a:t>Nhận mã hồ sơ GXN-…; n8n tiền kiểm tự động</a:t>
            </a:r>
            <a:endParaRPr lang="en-US" sz="1400" dirty="0"/>
          </a:p>
        </p:txBody>
      </p:sp>
      <p:sp>
        <p:nvSpPr>
          <p:cNvPr id="7" name="buoc-demo-2"/>
          <p:cNvSpPr txBox="1"/>
          <p:nvPr/>
        </p:nvSpPr>
        <p:spPr>
          <a:xfrm>
            <a:off x="4297680" y="3840480"/>
            <a:ext cx="3566160" cy="1097280"/>
          </a:xfrm>
          <a:prstGeom prst="rect">
            <a:avLst/>
          </a:prstGeom>
          <a:noFill/>
          <a:ln/>
        </p:spPr>
        <p:txBody>
          <a:bodyPr wrap="square" lIns="0" tIns="0" rIns="0" bIns="0" rtlCol="0" anchor="t"/>
          <a:lstStyle/>
          <a:p>
            <a:pPr indent="0" marL="0">
              <a:buNone/>
            </a:pPr>
            <a:r>
              <a:rPr lang="en-US" sz="1500" b="1" dirty="0">
                <a:solidFill>
                  <a:schemeClr val="tx2"/>
                </a:solidFill>
              </a:rPr>
              <a:t>2. Cán bộ nhận xử lý, duyệt, cấp giấy</a:t>
            </a:r>
            <a:endParaRPr lang="en-US" sz="1400" dirty="0"/>
          </a:p>
          <a:p>
            <a:pPr indent="0" marL="0">
              <a:buNone/>
            </a:pPr>
            <a:r>
              <a:rPr lang="en-US" sz="1300" dirty="0">
                <a:solidFill>
                  <a:schemeClr val="tx1"/>
                </a:solidFill>
              </a:rPr>
              <a:t>Mỗi bước ghi start/complete; thao tác sai thứ tự bị từ chối</a:t>
            </a:r>
            <a:endParaRPr lang="en-US" sz="1400" dirty="0"/>
          </a:p>
        </p:txBody>
      </p:sp>
      <p:sp>
        <p:nvSpPr>
          <p:cNvPr id="8" name="buoc-demo-3"/>
          <p:cNvSpPr txBox="1"/>
          <p:nvPr/>
        </p:nvSpPr>
        <p:spPr>
          <a:xfrm>
            <a:off x="8046720" y="3840480"/>
            <a:ext cx="3566160" cy="1097280"/>
          </a:xfrm>
          <a:prstGeom prst="rect">
            <a:avLst/>
          </a:prstGeom>
          <a:noFill/>
          <a:ln/>
        </p:spPr>
        <p:txBody>
          <a:bodyPr wrap="square" lIns="0" tIns="0" rIns="0" bIns="0" rtlCol="0" anchor="t"/>
          <a:lstStyle/>
          <a:p>
            <a:pPr indent="0" marL="0">
              <a:buNone/>
            </a:pPr>
            <a:r>
              <a:rPr lang="en-US" sz="1500" b="1" dirty="0">
                <a:solidFill>
                  <a:schemeClr val="tx2"/>
                </a:solidFill>
              </a:rPr>
              <a:t>3. Email trong Mailpit</a:t>
            </a:r>
            <a:endParaRPr lang="en-US" sz="1400" dirty="0"/>
          </a:p>
          <a:p>
            <a:pPr indent="0" marL="0">
              <a:buNone/>
            </a:pPr>
            <a:r>
              <a:rPr lang="en-US" sz="1300" dirty="0">
                <a:solidFill>
                  <a:schemeClr val="tx1"/>
                </a:solidFill>
              </a:rPr>
              <a:t>Có bằng chứng thư; trạng thái đổi sang 'Đã thông báo'</a:t>
            </a:r>
            <a:endParaRPr lang="en-US" sz="1400" dirty="0"/>
          </a:p>
        </p:txBody>
      </p:sp>
      <p:sp>
        <p:nvSpPr>
          <p:cNvPr id="9" name="ghi-chu-chay-thu"/>
          <p:cNvSpPr txBox="1"/>
          <p:nvPr/>
        </p:nvSpPr>
        <p:spPr>
          <a:xfrm>
            <a:off x="548640" y="5257800"/>
            <a:ext cx="11064240" cy="457200"/>
          </a:xfrm>
          <a:prstGeom prst="rect">
            <a:avLst/>
          </a:prstGeom>
          <a:noFill/>
          <a:ln/>
        </p:spPr>
        <p:txBody>
          <a:bodyPr wrap="square" lIns="0" tIns="0" rIns="0" bIns="0" rtlCol="0" anchor="t"/>
          <a:lstStyle/>
          <a:p>
            <a:pPr indent="0" marL="0">
              <a:buNone/>
            </a:pPr>
            <a:r>
              <a:rPr lang="en-US" sz="1400" i="1" dirty="0">
                <a:solidFill>
                  <a:schemeClr val="accent6"/>
                </a:solidFill>
              </a:rPr>
              <a:t>Đã chạy thử qua giao diện ngày 24/10/2026: luồng cấp giấy và vòng yêu cầu bổ sung đều đạt.</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8C85"/>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nchor="ctr"/>
          <a:lstStyle/>
          <a:p>
            <a:pPr algn="l" indent="0" marL="0">
              <a:buNone/>
            </a:pPr>
            <a:r>
              <a:rPr lang="en-US" sz="2600" b="1" dirty="0">
                <a:solidFill>
                  <a:schemeClr val="tx2"/>
                </a:solidFill>
              </a:rPr>
              <a:t>Đổi lịch ký mới giảm chờ ký; phần mềm giảm thao tác cán bộ</a:t>
            </a:r>
            <a:endParaRPr lang="en-US" sz="2600" dirty="0"/>
          </a:p>
        </p:txBody>
      </p:sp>
      <p:sp>
        <p:nvSpPr>
          <p:cNvPr id="3" name="nhan-du-lieu-mo-phong"/>
          <p:cNvSpPr txBox="1"/>
          <p:nvPr/>
        </p:nvSpPr>
        <p:spPr>
          <a:xfrm>
            <a:off x="9326880" y="6382512"/>
            <a:ext cx="1691640" cy="347472"/>
          </a:xfrm>
          <a:prstGeom prst="roundRect">
            <a:avLst>
              <a:gd name="adj" fmla="val 21053"/>
            </a:avLst>
          </a:prstGeom>
          <a:solidFill>
            <a:srgbClr val="E39B2D">
              <a:alpha val="18000"/>
            </a:srgbClr>
          </a:solidFill>
          <a:ln/>
        </p:spPr>
        <p:txBody>
          <a:bodyPr wrap="square" lIns="0" tIns="0" rIns="0" bIns="0" rtlCol="0" anchor="ctr"/>
          <a:lstStyle/>
          <a:p>
            <a:pPr algn="ctr" indent="0" marL="0">
              <a:buNone/>
            </a:pPr>
            <a:r>
              <a:rPr lang="en-US" sz="1100" b="1" dirty="0">
                <a:solidFill>
                  <a:schemeClr val="accent3"/>
                </a:solidFill>
              </a:rPr>
              <a:t>Dữ liệu mô phỏng</a:t>
            </a:r>
            <a:endParaRPr lang="en-US" sz="1100" dirty="0"/>
          </a:p>
        </p:txBody>
      </p:sp>
      <p:graphicFrame>
        <p:nvGraphicFramePr>
          <p:cNvPr id="4" name="bieu-do-k1" descr=""/>
          <p:cNvGraphicFramePr/>
          <p:nvPr/>
        </p:nvGraphicFramePr>
        <p:xfrm>
          <a:off x="548640" y="1325880"/>
          <a:ext cx="365760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bieu-do-k3" descr=""/>
          <p:cNvGraphicFramePr/>
          <p:nvPr/>
        </p:nvGraphicFramePr>
        <p:xfrm>
          <a:off x="4297680" y="1325880"/>
          <a:ext cx="3657600" cy="3291840"/>
        </p:xfrm>
        <a:graphic xmlns:a="http://schemas.openxmlformats.org/drawingml/2006/main">
          <a:graphicData uri="http://schemas.openxmlformats.org/drawingml/2006/chart">
            <c:chart xmlns:c="http://schemas.openxmlformats.org/drawingml/2006/chart" r:id="rId2"/>
          </a:graphicData>
        </a:graphic>
      </p:graphicFrame>
      <p:sp>
        <p:nvSpPr>
          <p:cNvPr id="6" name="the-tom-tat-kpi"/>
          <p:cNvSpPr/>
          <p:nvPr/>
        </p:nvSpPr>
        <p:spPr>
          <a:xfrm>
            <a:off x="8183880" y="1325880"/>
            <a:ext cx="3429000" cy="3291840"/>
          </a:xfrm>
          <a:prstGeom prst="roundRect">
            <a:avLst>
              <a:gd name="adj" fmla="val 3333"/>
            </a:avLst>
          </a:prstGeom>
          <a:solidFill>
            <a:srgbClr val="EEF5F4"/>
          </a:solidFill>
          <a:ln w="12700">
            <a:solidFill>
              <a:srgbClr val="EEF5F4"/>
            </a:solidFill>
            <a:prstDash val="solid"/>
          </a:ln>
        </p:spPr>
      </p:sp>
      <p:sp>
        <p:nvSpPr>
          <p:cNvPr id="7" name="tom-tat-kpi"/>
          <p:cNvSpPr txBox="1"/>
          <p:nvPr/>
        </p:nvSpPr>
        <p:spPr>
          <a:xfrm>
            <a:off x="8366760" y="1463040"/>
            <a:ext cx="3108960" cy="3063240"/>
          </a:xfrm>
          <a:prstGeom prst="rect">
            <a:avLst/>
          </a:prstGeom>
          <a:noFill/>
          <a:ln/>
        </p:spPr>
        <p:txBody>
          <a:bodyPr wrap="square" lIns="0" tIns="0" rIns="0" bIns="0" rtlCol="0" anchor="t"/>
          <a:lstStyle/>
          <a:p>
            <a:pPr indent="0" marL="0">
              <a:spcAft>
                <a:spcPts val="600"/>
              </a:spcAft>
              <a:buNone/>
            </a:pPr>
            <a:r>
              <a:rPr lang="en-US" sz="1600" b="1" dirty="0">
                <a:solidFill>
                  <a:schemeClr val="tx2"/>
                </a:solidFill>
              </a:rPr>
              <a:t>So theo cặp, 20 seed (p = 0,15)</a:t>
            </a:r>
            <a:endParaRPr lang="en-US" sz="1400" dirty="0"/>
          </a:p>
          <a:p>
            <a:pPr marL="342900" indent="-342900">
              <a:spcAft>
                <a:spcPts val="600"/>
              </a:spcAft>
              <a:buSzPct val="100000"/>
              <a:buChar char="•"/>
            </a:pPr>
            <a:r>
              <a:rPr lang="en-US" sz="1400" dirty="0">
                <a:solidFill>
                  <a:schemeClr val="tx1"/>
                </a:solidFill>
              </a:rPr>
              <a:t>S1 tốt hơn AS-IS ở 20/20 seed về thời gian phía trường và chờ ký</a:t>
            </a:r>
            <a:endParaRPr lang="en-US" sz="1400" dirty="0"/>
          </a:p>
          <a:p>
            <a:pPr marL="342900" indent="-342900">
              <a:spcAft>
                <a:spcPts val="600"/>
              </a:spcAft>
              <a:buSzPct val="100000"/>
              <a:buChar char="•"/>
            </a:pPr>
            <a:r>
              <a:rPr lang="en-US" sz="1400" dirty="0">
                <a:solidFill>
                  <a:schemeClr val="tx1"/>
                </a:solidFill>
              </a:rPr>
              <a:t>S0 không giảm chờ ký: 0/20 seed (3/20 và 4/20 khi p = 0,22 và 0,30)</a:t>
            </a:r>
            <a:endParaRPr lang="en-US" sz="1400" dirty="0"/>
          </a:p>
          <a:p>
            <a:pPr marL="342900" indent="-342900">
              <a:spcAft>
                <a:spcPts val="600"/>
              </a:spcAft>
              <a:buSzPct val="100000"/>
              <a:buChar char="•"/>
            </a:pPr>
            <a:r>
              <a:rPr lang="en-US" sz="1400" dirty="0">
                <a:solidFill>
                  <a:schemeClr val="tx1"/>
                </a:solidFill>
              </a:rPr>
              <a:t>Thao tác cán bộ: 43 → 21 phút/ca</a:t>
            </a:r>
            <a:endParaRPr lang="en-US" sz="1400" dirty="0"/>
          </a:p>
          <a:p>
            <a:pPr marL="342900" indent="-342900">
              <a:spcAft>
                <a:spcPts val="600"/>
              </a:spcAft>
              <a:buSzPct val="100000"/>
              <a:buChar char="•"/>
            </a:pPr>
            <a:r>
              <a:rPr lang="en-US" sz="1400" dirty="0">
                <a:solidFill>
                  <a:schemeClr val="tx1"/>
                </a:solidFill>
              </a:rPr>
              <a:t>Trễ phát hiện quá hạn: 1.239 → 0 phút</a:t>
            </a:r>
            <a:endParaRPr lang="en-US" sz="1400" dirty="0"/>
          </a:p>
        </p:txBody>
      </p:sp>
      <p:sp>
        <p:nvSpPr>
          <p:cNvPr id="8" name="khong-ket-luan"/>
          <p:cNvSpPr txBox="1"/>
          <p:nvPr/>
        </p:nvSpPr>
        <p:spPr>
          <a:xfrm>
            <a:off x="548640" y="4937760"/>
            <a:ext cx="11064240" cy="822960"/>
          </a:xfrm>
          <a:prstGeom prst="rect">
            <a:avLst/>
          </a:prstGeom>
          <a:noFill/>
          <a:ln/>
        </p:spPr>
        <p:txBody>
          <a:bodyPr wrap="square" lIns="0" tIns="0" rIns="0" bIns="0" rtlCol="0" anchor="t"/>
          <a:lstStyle/>
          <a:p>
            <a:pPr indent="0" marL="0">
              <a:buNone/>
            </a:pPr>
            <a:r>
              <a:rPr lang="en-US" sz="1500" b="1" dirty="0">
                <a:solidFill>
                  <a:schemeClr val="accent3"/>
                </a:solidFill>
              </a:rPr>
              <a:t>Không được kết luận: </a:t>
            </a:r>
            <a:pPr indent="0" marL="0">
              <a:buNone/>
            </a:pPr>
            <a:r>
              <a:rPr lang="en-US" sz="1500" dirty="0">
                <a:solidFill>
                  <a:schemeClr val="tx1"/>
                </a:solidFill>
              </a:rPr>
              <a:t>hiệu quả thực tế tại trường; phần mềm tự thân làm giảm chờ ký; form web chắc chắn giảm một nửa hồ sơ phải bổ sung (đó là giả định đầu vào).</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8C85"/>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0607040" cy="1645920"/>
          </a:xfrm>
          <a:prstGeom prst="rect">
            <a:avLst/>
          </a:prstGeom>
          <a:noFill/>
          <a:ln/>
        </p:spPr>
        <p:txBody>
          <a:bodyPr wrap="square" rtlCol="0" anchor="b"/>
          <a:lstStyle/>
          <a:p>
            <a:pPr algn="l" indent="0" marL="0">
              <a:buNone/>
            </a:pPr>
            <a:r>
              <a:rPr lang="en-US" sz="3800" b="1" dirty="0">
                <a:solidFill>
                  <a:schemeClr val="bg1"/>
                </a:solidFill>
              </a:rPr>
              <a:t>Kết quả mô phỏng chỉ minh họa phương pháp; cần nhật ký thật để kiểm chứng</a:t>
            </a:r>
            <a:endParaRPr lang="en-US" sz="3800" dirty="0"/>
          </a:p>
        </p:txBody>
      </p:sp>
      <p:sp>
        <p:nvSpPr>
          <p:cNvPr id="3" name="Text 0"/>
          <p:cNvSpPr/>
          <p:nvPr>
            <p:ph idx="101" type="body" hasCustomPrompt="1"/>
          </p:nvPr>
        </p:nvSpPr>
        <p:spPr>
          <a:xfrm>
            <a:off x="548640" y="3840480"/>
            <a:ext cx="10607040" cy="2377440"/>
          </a:xfrm>
          <a:prstGeom prst="rect">
            <a:avLst/>
          </a:prstGeom>
          <a:noFill/>
          <a:ln/>
        </p:spPr>
        <p:txBody>
          <a:bodyPr wrap="square" rtlCol="0" anchor="t"/>
          <a:lstStyle/>
          <a:p>
            <a:pPr marL="342900" indent="-342900">
              <a:buSzPct val="100000"/>
              <a:buChar char="•"/>
            </a:pPr>
            <a:r>
              <a:rPr lang="en-US" sz="1800" dirty="0">
                <a:solidFill>
                  <a:schemeClr val="accent5"/>
                </a:solidFill>
              </a:rPr>
              <a:t>Giới hạn: tham số là giả định, 1 cán bộ tiếp nhận, chưa loại trừ ngày lễ; prototype chưa có nhắc hạn và đóng quá hạn tự động</a:t>
            </a:r>
            <a:endParaRPr lang="en-US" sz="1800" dirty="0"/>
          </a:p>
          <a:p>
            <a:pPr marL="342900" indent="-342900">
              <a:buSzPct val="100000"/>
              <a:buChar char="•"/>
            </a:pPr>
            <a:r>
              <a:rPr lang="en-US" sz="1800" dirty="0">
                <a:solidFill>
                  <a:schemeClr val="accent5"/>
                </a:solidFill>
              </a:rPr>
              <a:t>Bước 1: thu sổ tiếp nhận, phiếu trình, sổ văn thư của một học kỳ để dựng event log thật</a:t>
            </a:r>
            <a:endParaRPr lang="en-US" sz="1800" dirty="0"/>
          </a:p>
          <a:p>
            <a:pPr marL="342900" indent="-342900">
              <a:buSzPct val="100000"/>
              <a:buChar char="•"/>
            </a:pPr>
            <a:r>
              <a:rPr lang="en-US" sz="1800" dirty="0">
                <a:solidFill>
                  <a:schemeClr val="accent5"/>
                </a:solidFill>
              </a:rPr>
              <a:t>Bước 2: hiệu chỉnh tham số, chạy lại Process Mining, xác nhận hoặc bác giả thuyết H1</a:t>
            </a:r>
            <a:endParaRPr lang="en-US" sz="1800" dirty="0"/>
          </a:p>
          <a:p>
            <a:pPr marL="342900" indent="-342900">
              <a:buSzPct val="100000"/>
              <a:buChar char="•"/>
            </a:pPr>
            <a:r>
              <a:rPr lang="en-US" sz="1800" dirty="0">
                <a:solidFill>
                  <a:schemeClr val="accent5"/>
                </a:solidFill>
              </a:rPr>
              <a:t>Bước 3: thí điểm lịch ký 2 khung giờ và form web cho một loại giấy, đo hằng tuần</a:t>
            </a:r>
            <a:endParaRPr lang="en-US" sz="1800" dirty="0"/>
          </a:p>
        </p:txBody>
      </p:sp>
    </p:spTree>
  </p:cSld>
  <p:clrMapOvr>
    <a:masterClrMapping/>
  </p:clrMapOvr>
</p:sld>
</file>

<file path=ppt/theme/theme1.xml><?xml version="1.0" encoding="utf-8"?>
<a:theme xmlns:a="http://schemas.openxmlformats.org/drawingml/2006/main" name="Teal Clinic">
  <a:themeElements>
    <a:clrScheme name="Teal Clinic">
      <a:dk1>
        <a:srgbClr val="1B2A33"/>
      </a:dk1>
      <a:lt1>
        <a:srgbClr val="FFFFFF"/>
      </a:lt1>
      <a:dk2>
        <a:srgbClr val="0E4A50"/>
      </a:dk2>
      <a:lt2>
        <a:srgbClr val="EEF5F4"/>
      </a:lt2>
      <a:accent1>
        <a:srgbClr val="0E7C74"/>
      </a:accent1>
      <a:accent2>
        <a:srgbClr val="E39B2D"/>
      </a:accent2>
      <a:accent3>
        <a:srgbClr val="C2453B"/>
      </a:accent3>
      <a:accent4>
        <a:srgbClr val="5B8C85"/>
      </a:accent4>
      <a:accent5>
        <a:srgbClr val="9DBFB9"/>
      </a:accent5>
      <a:accent6>
        <a:srgbClr val="3D5A66"/>
      </a:accent6>
      <a:hlink>
        <a:srgbClr val="0E7C74"/>
      </a:hlink>
      <a:folHlink>
        <a:srgbClr val="5B8C85"/>
      </a:folHlink>
    </a:clrScheme>
    <a:fontScheme name="Teal Clinic">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Cấp giấy xác nhận sinh viên: phân tích và tự động hóa quy trình</dc:title>
  <dc:subject>PptxGenJS Presentation</dc:subject>
  <dc:creator>Nhóm 4</dc:creator>
  <cp:lastModifiedBy>Nhóm 4</cp:lastModifiedBy>
  <cp:revision>1</cp:revision>
  <dcterms:created xsi:type="dcterms:W3CDTF">2026-10-24T10:06:40Z</dcterms:created>
  <dcterms:modified xsi:type="dcterms:W3CDTF">2026-10-24T10:06:40Z</dcterms:modified>
</cp:coreProperties>
</file>