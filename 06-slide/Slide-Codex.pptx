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TV1. Giới thiệu đề tài và phạm vi bốn loại giấy: xác nhận đang học, hoãn nghĩa vụ quân sự, vay vốn và học bổng. Nhóm có bốn thành viên; TV1 phụ trách bài toán và giới hạn, TV2 mô hình quy trình, TV3 dữ liệu và khai phá, TV4 prototype và đánh giá. Bối cảnh trường là giả định học thuật. Mục tiêu là dùng phân tích quy trình để chọn chỗ cần thay đổi, rồi hiện thực một phần bằng prototype. Toàn bộ số liệu Process Mining là mô phỏng, không phải đo tại trường. Prototype không phát hành giấy có giá trị pháp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TV1. Đi lần lượt từ trải nghiệm của sinh viên sang công việc của cán bộ. Sinh viên không có trạng thái để tự tra cứu nên phải hỏi lại. Cán bộ có thể phát hiện thiếu thông tin muộn, mất thời gian rà sổ và chuyển giấy. Đặt năm mục tiêu tương ứng như trên slide, đây là mục tiêu dự kiến chứ chưa phải hiệu quả thực tế. Thông báo có lưu vết chỉ đo được ở TO-BE vì AS-IS không có nguồn dữ liệu tương ứng; không dùng chỉ số này để so sánh hai kịch bản. Giới thiệu bốn vai trò xuyên suốt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TV1. Trình bày theo SIPOC: sinh viên cung cấp dữ liệu; phòng CTHSSV xử lý cùng lãnh đạo và văn thư; sinh viên hoặc cơ quan nhận giấy là bên sử dụng kết quả. Ngoài giấy hoặc thông báo từ chối còn có nhật ký sự kiện. Ba kết cục là nhận giấy, từ chối có lý do và đóng do quá hạn bổ sung. T_trường kết thúc khi sinh viên được thông báo, không phải khi nội bộ mới đóng dấu xong. T_SV chỉ tính hồ sơ đã nhận giấy. Các hồ sơ đã cấp nhưng chưa nhận là dữ liệu bị cắt, báo cáo riêng số lượng và tuổi, không tự đóng. Ngoài phạm vi: ký số, giá trị pháp lý, tích hợp cơ sở dữ liệu trường và cấp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TV2. Sơ đồ trên slide rút gọn BPMN as-is.png thành các bước lớn theo bốn làn để dễ đọc khi chiếu. Dẫn theo luồng nộp, kiểm tra, trình ký, đóng dấu và báo kết quả. Sinh viên nộp; cán bộ ghi sổ, kiểm tra điều kiện; đủ thì soạn và trình ký; lãnh đạo quyết định; văn thư đóng dấu; sau đó cán bộ thông báo. Sau kiểm tra có nhánh đủ điều kiện, yêu cầu bổ sung hoặc trình từ chối. Chỉ lãnh đạo quyết định từ chối. Nhánh bổ sung quay lại kiểm tra và AS-IS không giới hạn số vòng. Hết hạn bổ sung không đồng nghĩa đã phát hiện: mô hình giả định rà chiều thứ Sáu nên có khoảng trễ. Mô hình này là giả định nghiên cứu, chưa phải quy trình được xác minh tại một trường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TV2. Bốn giả thuyết ngang hàng: chờ ký, vòng bổ sung, chờ kiểm tra và chờ bàn giao từ ký sang đóng dấu. Tách vòng bổ sung thành thời gian của trường trước yêu cầu, thời gian sinh viên phản hồi và thời gian trường kiểm tra lại. Tiêu chí công bố trước: trung vị thuộc top ba chuyển tiếp chờ, ít nhất một nửa số ca vượt ngưỡng và có bằng chứng lịch, lô hoặc mã lý do. Chỉ hai tiêu chí thời gian thì gọi là ứng viên nghẽn; chưa đủ để kết luận nguyên nhân. So trung vị với P90 để tránh bị ngoại lai chi phối. Chỉ dùng phút làm việc, không gọi nghỉ trưa hay cuối tuần là nghẽn.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TV3. Mỗi lần mô phỏng có 400 hồ sơ đến trong 12 tuần, thêm 8 tuần để xả hàng. Lặp 20 hạt giống độc lập. Một ngày có 450 phút làm việc theo lịch giả định. Ghép cặp cùng hồ sơ giữa AS-IS và TO-BE bằng cùng luồng ngẫu nhiên để khác biệt bớt do may rủi. Giữ tỷ lệ loại giấy và hành vi sinh viên. Thay tự động hóa, lịch ký và tham số kiểm tra đầu vào. S0 vẫn ký theo lô, S1 ký hai lần mỗi ngày; thử thêm S1 nhưng tỷ lệ bổ sung không giảm. Mục đích là phân biệt hiệu ứng phần mềm với hiệu ứng tổ chức công việc. Tất cả tham số là giả định, chưa hiệu chỉnh bằng nhật ký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TV3. Sơ đồ rút gọn từ bản đồ luồng trực tiếp thể hiện các chuyển tiếp được quan sát trong log mô phỏng. DFG gốc thể hiện tần suất bằng độ dày và thời gian bằng số trên cạnh. Slide rút gọn để các nhãn dễ đọc, giữ vòng bổ sung, cạnh chờ ký và thông tin tần suất tổng hợp; không mã hóa độ dày của mọi cạnh. Quy tắc đỏ: thuộc top ba bước chờ, ít nhất 50% ca chờ quá một ngày làm việc và xuất hiện trong ít nhất 10% tổng số ca; quy tắc đã chốt trước. Ở AS-IS, cạnh trình ký là ứng viên duy nhất đạt đủ ba tiêu chí tô đỏ: trung vị 621 phút, P90 1.201 phút, 63% ca vượt một ngày và xuất hiện ở 369/400 ca. Ở TO-BE S1 không còn cạnh đỏ, chờ ký 123 phút. Đây là bản đồ một seed minh họa, khác bảng tổng hợp 20 seed. Luồng đi thẳng tăng 62,3% lên 75,5% sau chuẩn hóa bước tương đương. Phân bố vòng bổ sung nhìn qua nhánh quay lại; tài liệu không cung cấp tần suất từng số vòng nên không tự thêm. Tỷ lệ phải bổ sung 30,1% xuống 15,6% là tham số p giả định, không phải phát hiện hay hiệu quả đã chứng minh của web form. Cạnh nộp tới ghi sổ không được diễn giải là xếp hàng thật vì ảnh hưởng quy ước làm tròn đầu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TV3. Bảng ghi các mốc đối chiếu đã được chốt: C001 843, C002 1.693, C003 1.233 và C004 5.740 phút. Đây là mốc kiểm chứng hàm lịch, không tự gán cả bốn là KPI thời gian hoàn tất. Các phép tính chờ ký 555 và 585, trễ phát hiện 2.130, tuổi net C004 95 cũng khớp tính tay. Cách tính trừ giờ nghỉ trưa, ngoài giờ và cuối tuần theo lịch giả định; tách thời gian sinh viên phản hồi khỏi phần net của trường. Hàm KPI được kiểm trực tiếp trên C001. Dàn ý dự kiến sáu hồ sơ, nhưng tài liệu chốt chỉ có số cụ thể cho bốn hồ sơ AS-IS nên bảng chỉ dùng bốn hồ sơ này, không tạo thêm hai ca TO-BE. Không suy rằng đã có đối chiếu đầy đủ từng thành phần của sáu 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TV2. Sơ đồ trên slide rút gọn từ to-be.png theo năm làn. BPMN TO-BE thêm làn hệ thống: kiểm tra định dạng ngay trên biểu mẫu, cấp mã hồ sơ, sinh bản thảo từ mẫu, nhắc hạn, đóng đúng thời điểm quá hạn và thông báo có lưu vết. Loại các thao tác ghi chép, chuyển dữ liệu trùng. Thẩm quyền duyệt của lãnh đạo và đóng dấu của văn thư được giữ trong mô hình nghiệp vụ. Chỉ thay phần thao tác và cách tổ chức lịch ký, không tự động thay thẩm quyền. Phân biệt mô hình đích với phần đã hiện thực: prototype gộp bước, tiền kiểm n8n đứng trước cán bộ xem xét, chưa triển khai timer A16 nhắc hạn và A13 đóng quá hạn. Sinh bản thảo cũng là hướng thiết kế TO-BE, không khẳng định là bằng chứng đã phát hành giấy trong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TV4. Đây là kiến trúc đã dựng, thay cho đặc tả cũ trong dàn ý. Bốn dịch vụ Docker Compose: app FastAPI và Jinja có PM4Py cho phân tích, PostgreSQL lưu hồ sơ, event log và outbox, n8n điều phối, Mailpit giữ email thử nghiệm local. App là bên duy nhất ghi trạng thái và nhật ký, kiểm tra vai trò, trạng thái, version và Idempotency-Key. n8n nhận webhook, đọc dữ liệu qua API app, tiền kiểm, gọi API chuyển trạng thái, gửi SMTP và callback. Không nói n8n quyết định mọi trạng thái hay đã có năm workflow. Luồng SUBMITTED tới PRECHECK_OK hoặc NEED_SUPPLEMENT; cán bộ IN_REVIEW tới APPROVED, REJECTED hoặc NEED_SUPPLEMENT; sau duyệt tới ISSUED. Nhánh bổ sung và từ chối bắt buộc lý do. Sinh viên gửi lại thì về SUBMITTED và tăng attempt_no. Prototype gộp vai trò và bước so với BPMN; không đại diện đầy đủ thẩm quyền ngoài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TV4. Các ảnh là bằng chứng ghi sẵn từ prototype, không phải dữ liệu đo vận hành trường. Đi từ nộp form và nhận mã tới cán bộ xử lý và thư trong Mailpit. Workflow thật đáp ứng trigger webhook, data source qua API đọc PostgreSQL, IF kiểm tra, ít nhất bốn hành động và SMTP notification. Các hành động gồm ghi tiền kiểm đạt, ghi yêu cầu bổ sung, xác nhận đồng bộ thông báo và phản hồi thành công. App chống gửi trùng bằng Idempotency-Key, chặn sai quyền, sai thứ tự; thao tác lỗi không tạo thêm sự kiện. Nếu n8n hoặc callback lỗi, hồ sơ giữ PENDING/FAILED. Chỉ callback thành công mới ghi SYNCED, không hiển thị thành công giả. Tài liệu chốt báo 20 test tự động prototype đạt, smoke E2E và các luồng trình duyệt gồm cấp giấy và bổ sung gửi lại đã đạt. Khi demo sống: nộp, mở workflow, nhận xử lý, duyệt/cấp, kiểm Mailpit, thử bổ sung và thao tác sai. Nếu lỗi, dùng bằng chứng ghi sẵn và nói rõ trạng thái còn chờ/lỗi.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TV4. Biểu đồ trên slide dựng lại các trung vị tổng hợp qua 20 seed, chỉ dùng số đã chốt. Ảnh kpi_compare.png đầu vào có thêm khoảng min–max; tài liệu văn bản không cung cấp giá trị biên nên slide không tự dựng các khoảng này. K1 T_trường AS-IS 1.363 và S1 788 phút; giảm ghép cặp trung vị 574 phút theo kết quả đã chốt, không lấy hiệu hai số đã làm tròn để thay con số ghép cặp. K2 P90 T_trường_net 1.780 xuống 804. K3 chờ ký 551 xuống 121, mức giảm ghép cặp 434 phút. K1, K2 và K3 đều cải thiện ở 20/20 seed S1. S0 chỉ tự động hóa mà còn ký theo lô: chờ ký 584, chênh ghép cặp +26 phút, 0/20 seed tốt hơn. Vì vậy cải thiện chờ ký đến từ đổi lịch ký hai lần mỗi ngày, không chỉ phần mềm. Phần mềm giảm thao tác cán bộ 43 xuống 21 phút/ca và trễ phát hiện 1.239 xuống 0 trong mô hình. K5 net bằng 0% mọi cấu hình, không phân biệt được; thay bằng K5b gross 9,8% so với 0% ở S1. Tỷ lệ đóng quá hạn 12,7–14,2% do giữ hành vi sinh viên; không kết luận nhắc hạn giảm tỷ lệ này. Tỷ lệ bổ sung là tham số, không phải hiệu quả đo được. Bộ 20 test prototype ở slide trước kiểm kỹ thuật, khác bằng chứng cải thiện trong mô phỏng.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TV1. Kết luận ở mức phương pháp: tách được chờ và xử lý, xác định ứng viên chờ ký trong mô phỏng, hiện thực một phần tự động hóa có nhật ký và bằng chứng thư. Giới hạn: thời gian, tỷ lệ bổ sung giả định; một cán bộ kiêm nhiệm; chưa kết nối cơ sở dữ liệu thật; mô hình chưa loại trừ các ngày lễ nêu trong tài liệu nên không ngoại suy mùa cao điểm hay nhiều cán bộ. Analytics trong app dùng bộ nhỏ 120 ca mỗi kịch bản để minh họa, không thay bộ chính 20 seed của bài. Bước tiếp theo là xin thí điểm, thu sổ tiếp nhận, phiếu trình, sổ văn thư và hộp thư, thống nhất định nghĩa sự kiện, hiệu chỉnh tham số và đo hằng tuần. Hoàn thiện timer và các bước prototype còn thiếu trước khi thử nghiệm vận hành. Nhấn mạnh chưa có chứng minh hiệu quả thực tế tại trường và không phát hành giấy có giá trị pháp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D3A"/>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8DD3C7"/>
                </a:solidFill>
                <a:latin typeface="Arial" pitchFamily="34" charset="0"/>
                <a:ea typeface="Arial" pitchFamily="34" charset="-122"/>
                <a:cs typeface="Arial" pitchFamily="34" charset="-120"/>
              </a:rPr>
              <a:t>NGHIÊN CỨU QUY TRÌNH</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Cấp giấy xác nhận sinh viên</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D2E3E6"/>
                </a:solidFill>
                <a:latin typeface="Arial" pitchFamily="34" charset="0"/>
                <a:ea typeface="Arial" pitchFamily="34" charset="-122"/>
                <a:cs typeface="Arial" pitchFamily="34" charset="-120"/>
              </a:rPr>
              <a:t>Phân tích quy trình và thiết kế tự động hóa tại trường cao đẳng Y Dược</a:t>
            </a:r>
            <a:endParaRPr lang="en-US" sz="1800" dirty="0"/>
          </a:p>
        </p:txBody>
      </p:sp>
      <p:sp>
        <p:nvSpPr>
          <p:cNvPr id="6" name="Shape 4"/>
          <p:cNvSpPr/>
          <p:nvPr/>
        </p:nvSpPr>
        <p:spPr>
          <a:xfrm>
            <a:off x="457200" y="6428232"/>
            <a:ext cx="11265408" cy="0"/>
          </a:xfrm>
          <a:prstGeom prst="line">
            <a:avLst/>
          </a:prstGeom>
          <a:noFill/>
          <a:ln w="8890">
            <a:solidFill>
              <a:srgbClr val="47616B"/>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B7CED2"/>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B7CED2"/>
                </a:solidFill>
                <a:latin typeface="Arial" pitchFamily="34" charset="0"/>
                <a:ea typeface="Arial" pitchFamily="34" charset="-122"/>
                <a:cs typeface="Arial" pitchFamily="34" charset="-120"/>
              </a:rPr>
              <a:t>01</a:t>
            </a:r>
            <a:endParaRPr lang="en-US" sz="1200" dirty="0"/>
          </a:p>
        </p:txBody>
      </p:sp>
      <p:sp>
        <p:nvSpPr>
          <p:cNvPr id="9" name="Text 7"/>
          <p:cNvSpPr/>
          <p:nvPr/>
        </p:nvSpPr>
        <p:spPr>
          <a:xfrm>
            <a:off x="502920" y="2468880"/>
            <a:ext cx="5852160" cy="1828800"/>
          </a:xfrm>
          <a:prstGeom prst="rect">
            <a:avLst/>
          </a:prstGeom>
          <a:noFill/>
          <a:ln/>
        </p:spPr>
        <p:txBody>
          <a:bodyPr wrap="square" lIns="0" tIns="0" rIns="0" bIns="0" rtlCol="0" anchor="ctr"/>
          <a:lstStyle/>
          <a:p>
            <a:pPr indent="0" marL="0">
              <a:buNone/>
            </a:pPr>
            <a:r>
              <a:rPr lang="en-US" sz="3500" b="1" dirty="0">
                <a:solidFill>
                  <a:srgbClr val="FFFFFF"/>
                </a:solidFill>
                <a:latin typeface="Arial" pitchFamily="34" charset="0"/>
                <a:ea typeface="Arial" pitchFamily="34" charset="-122"/>
                <a:cs typeface="Arial" pitchFamily="34" charset="-120"/>
              </a:rPr>
              <a:t>TỪ HỒ SƠ</a:t>
            </a:r>
            <a:endParaRPr lang="en-US" sz="3500" dirty="0"/>
          </a:p>
          <a:p>
            <a:pPr indent="0" marL="0">
              <a:buNone/>
            </a:pPr>
            <a:r>
              <a:rPr lang="en-US" sz="3500" b="1" dirty="0">
                <a:solidFill>
                  <a:srgbClr val="FFFFFF"/>
                </a:solidFill>
                <a:latin typeface="Arial" pitchFamily="34" charset="0"/>
                <a:ea typeface="Arial" pitchFamily="34" charset="-122"/>
                <a:cs typeface="Arial" pitchFamily="34" charset="-120"/>
              </a:rPr>
              <a:t>ĐẾN KẾT QUẢ</a:t>
            </a:r>
            <a:endParaRPr lang="en-US" sz="3500" dirty="0"/>
          </a:p>
          <a:p>
            <a:pPr indent="0" marL="0">
              <a:buNone/>
            </a:pPr>
            <a:r>
              <a:rPr lang="en-US" sz="3500" b="1" dirty="0">
                <a:solidFill>
                  <a:srgbClr val="FFFFFF"/>
                </a:solidFill>
                <a:latin typeface="Arial" pitchFamily="34" charset="0"/>
                <a:ea typeface="Arial" pitchFamily="34" charset="-122"/>
                <a:cs typeface="Arial" pitchFamily="34" charset="-120"/>
              </a:rPr>
              <a:t>CÓ THỂ THEO DÕI</a:t>
            </a:r>
            <a:endParaRPr lang="en-US" sz="3500" dirty="0"/>
          </a:p>
        </p:txBody>
      </p:sp>
      <p:sp>
        <p:nvSpPr>
          <p:cNvPr id="10" name="Text 8"/>
          <p:cNvSpPr/>
          <p:nvPr/>
        </p:nvSpPr>
        <p:spPr>
          <a:xfrm>
            <a:off x="521208" y="4663440"/>
            <a:ext cx="6035040" cy="548640"/>
          </a:xfrm>
          <a:prstGeom prst="rect">
            <a:avLst/>
          </a:prstGeom>
          <a:noFill/>
          <a:ln/>
        </p:spPr>
        <p:txBody>
          <a:bodyPr wrap="square" lIns="0" tIns="0" rIns="0" bIns="0" rtlCol="0" anchor="ctr"/>
          <a:lstStyle/>
          <a:p>
            <a:pPr indent="0" marL="0">
              <a:buNone/>
            </a:pPr>
            <a:r>
              <a:rPr lang="en-US" sz="1800" dirty="0">
                <a:solidFill>
                  <a:srgbClr val="B7D9D6"/>
                </a:solidFill>
                <a:latin typeface="Arial" pitchFamily="34" charset="0"/>
                <a:ea typeface="Arial" pitchFamily="34" charset="-122"/>
                <a:cs typeface="Arial" pitchFamily="34" charset="-120"/>
              </a:rPr>
              <a:t>Phân tích điểm nghẽn → thiết kế lại → prototype</a:t>
            </a:r>
            <a:endParaRPr lang="en-US" sz="1800" dirty="0"/>
          </a:p>
        </p:txBody>
      </p:sp>
      <p:sp>
        <p:nvSpPr>
          <p:cNvPr id="11" name="Shape 9"/>
          <p:cNvSpPr/>
          <p:nvPr/>
        </p:nvSpPr>
        <p:spPr>
          <a:xfrm>
            <a:off x="7040880" y="2468880"/>
            <a:ext cx="4617720" cy="3072384"/>
          </a:xfrm>
          <a:prstGeom prst="rect">
            <a:avLst/>
          </a:prstGeom>
          <a:solidFill>
            <a:srgbClr val="1D414D"/>
          </a:solidFill>
          <a:ln w="8890">
            <a:solidFill>
              <a:srgbClr val="1D414D"/>
            </a:solidFill>
            <a:prstDash val="solid"/>
          </a:ln>
        </p:spPr>
      </p:sp>
      <p:sp>
        <p:nvSpPr>
          <p:cNvPr id="12" name="Text 10"/>
          <p:cNvSpPr/>
          <p:nvPr/>
        </p:nvSpPr>
        <p:spPr>
          <a:xfrm>
            <a:off x="7296912" y="2688336"/>
            <a:ext cx="4114800" cy="365760"/>
          </a:xfrm>
          <a:prstGeom prst="rect">
            <a:avLst/>
          </a:prstGeom>
          <a:noFill/>
          <a:ln/>
        </p:spPr>
        <p:txBody>
          <a:bodyPr wrap="square" lIns="0" tIns="0" rIns="0" bIns="0" rtlCol="0" anchor="ctr"/>
          <a:lstStyle/>
          <a:p>
            <a:pPr indent="0" marL="0">
              <a:buNone/>
            </a:pPr>
            <a:r>
              <a:rPr lang="en-US" sz="1600" b="1" dirty="0">
                <a:solidFill>
                  <a:srgbClr val="8DD3C7"/>
                </a:solidFill>
                <a:latin typeface="Arial" pitchFamily="34" charset="0"/>
                <a:ea typeface="Arial" pitchFamily="34" charset="-122"/>
                <a:cs typeface="Arial" pitchFamily="34" charset="-120"/>
              </a:rPr>
              <a:t>PHẠM VI GIẤY XÁC NHẬN</a:t>
            </a:r>
            <a:endParaRPr lang="en-US" sz="1600" dirty="0"/>
          </a:p>
        </p:txBody>
      </p:sp>
      <p:sp>
        <p:nvSpPr>
          <p:cNvPr id="13" name="Text 11"/>
          <p:cNvSpPr/>
          <p:nvPr/>
        </p:nvSpPr>
        <p:spPr>
          <a:xfrm>
            <a:off x="7333488" y="3246120"/>
            <a:ext cx="4023360" cy="36576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  Đang học</a:t>
            </a:r>
            <a:endParaRPr lang="en-US" sz="2000" dirty="0"/>
          </a:p>
        </p:txBody>
      </p:sp>
      <p:sp>
        <p:nvSpPr>
          <p:cNvPr id="14" name="Text 12"/>
          <p:cNvSpPr/>
          <p:nvPr/>
        </p:nvSpPr>
        <p:spPr>
          <a:xfrm>
            <a:off x="7333488" y="3694176"/>
            <a:ext cx="4023360" cy="36576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  Hoãn nghĩa vụ quân sự</a:t>
            </a:r>
            <a:endParaRPr lang="en-US" sz="2000" dirty="0"/>
          </a:p>
        </p:txBody>
      </p:sp>
      <p:sp>
        <p:nvSpPr>
          <p:cNvPr id="15" name="Text 13"/>
          <p:cNvSpPr/>
          <p:nvPr/>
        </p:nvSpPr>
        <p:spPr>
          <a:xfrm>
            <a:off x="7333488" y="4142232"/>
            <a:ext cx="4023360" cy="36576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  Vay vốn</a:t>
            </a:r>
            <a:endParaRPr lang="en-US" sz="2000" dirty="0"/>
          </a:p>
        </p:txBody>
      </p:sp>
      <p:sp>
        <p:nvSpPr>
          <p:cNvPr id="16" name="Text 14"/>
          <p:cNvSpPr/>
          <p:nvPr/>
        </p:nvSpPr>
        <p:spPr>
          <a:xfrm>
            <a:off x="7333488" y="4590288"/>
            <a:ext cx="4023360" cy="36576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  Học bổng</a:t>
            </a:r>
            <a:endParaRPr lang="en-US" sz="2000" dirty="0"/>
          </a:p>
        </p:txBody>
      </p:sp>
      <p:sp>
        <p:nvSpPr>
          <p:cNvPr id="17" name="Shape 15"/>
          <p:cNvSpPr/>
          <p:nvPr/>
        </p:nvSpPr>
        <p:spPr>
          <a:xfrm>
            <a:off x="502920" y="5678424"/>
            <a:ext cx="11155680" cy="475488"/>
          </a:xfrm>
          <a:prstGeom prst="rect">
            <a:avLst/>
          </a:prstGeom>
          <a:solidFill>
            <a:srgbClr val="264B56"/>
          </a:solidFill>
          <a:ln w="8890">
            <a:solidFill>
              <a:srgbClr val="264B56"/>
            </a:solidFill>
            <a:prstDash val="solid"/>
          </a:ln>
        </p:spPr>
      </p:sp>
      <p:sp>
        <p:nvSpPr>
          <p:cNvPr id="18" name="Text 16"/>
          <p:cNvSpPr/>
          <p:nvPr/>
        </p:nvSpPr>
        <p:spPr>
          <a:xfrm>
            <a:off x="658368" y="5696712"/>
            <a:ext cx="10881360" cy="420624"/>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Thử nghiệm học thuật • Dữ liệu mô phỏng • Không phát hành giấy có giá trị pháp lý</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BÀI TOÁN NGHIỆP VỤ</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Thiếu trạng thái, chờ lâu, khó phát hiện hồ sơ tồn</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Các vấn đề được đặt dưới dạng giả thuyết học thuật để kiểm chứng.</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02</a:t>
            </a:r>
            <a:endParaRPr lang="en-US" sz="1200" dirty="0"/>
          </a:p>
        </p:txBody>
      </p:sp>
      <p:sp>
        <p:nvSpPr>
          <p:cNvPr id="9" name="Shape 7"/>
          <p:cNvSpPr/>
          <p:nvPr/>
        </p:nvSpPr>
        <p:spPr>
          <a:xfrm>
            <a:off x="457200" y="2395728"/>
            <a:ext cx="11247120" cy="512064"/>
          </a:xfrm>
          <a:prstGeom prst="rect">
            <a:avLst/>
          </a:prstGeom>
          <a:solidFill>
            <a:srgbClr val="DFEFEB"/>
          </a:solidFill>
          <a:ln w="8890">
            <a:solidFill>
              <a:srgbClr val="DFEFEB"/>
            </a:solidFill>
            <a:prstDash val="solid"/>
          </a:ln>
        </p:spPr>
      </p:sp>
      <p:sp>
        <p:nvSpPr>
          <p:cNvPr id="10" name="Text 8"/>
          <p:cNvSpPr/>
          <p:nvPr/>
        </p:nvSpPr>
        <p:spPr>
          <a:xfrm>
            <a:off x="640080" y="2395728"/>
            <a:ext cx="4754880" cy="512064"/>
          </a:xfrm>
          <a:prstGeom prst="rect">
            <a:avLst/>
          </a:prstGeom>
          <a:noFill/>
          <a:ln/>
        </p:spPr>
        <p:txBody>
          <a:bodyPr wrap="square" lIns="0" tIns="0" rIns="0" bIns="0" rtlCol="0" anchor="ctr"/>
          <a:lstStyle/>
          <a:p>
            <a:pPr indent="0" marL="0">
              <a:buNone/>
            </a:pPr>
            <a:r>
              <a:rPr lang="en-US" sz="1800" b="1" dirty="0">
                <a:solidFill>
                  <a:srgbClr val="122D3A"/>
                </a:solidFill>
                <a:latin typeface="Arial" pitchFamily="34" charset="0"/>
                <a:ea typeface="Arial" pitchFamily="34" charset="-122"/>
                <a:cs typeface="Arial" pitchFamily="34" charset="-120"/>
              </a:rPr>
              <a:t>Không tra được tiến độ</a:t>
            </a:r>
            <a:endParaRPr lang="en-US" sz="1800" dirty="0"/>
          </a:p>
        </p:txBody>
      </p:sp>
      <p:sp>
        <p:nvSpPr>
          <p:cNvPr id="11" name="Text 9"/>
          <p:cNvSpPr/>
          <p:nvPr/>
        </p:nvSpPr>
        <p:spPr>
          <a:xfrm>
            <a:off x="5577840" y="2395728"/>
            <a:ext cx="411480" cy="512064"/>
          </a:xfrm>
          <a:prstGeom prst="rect">
            <a:avLst/>
          </a:prstGeom>
          <a:noFill/>
          <a:ln/>
        </p:spPr>
        <p:txBody>
          <a:bodyPr wrap="square" lIns="0" tIns="0" rIns="0" bIns="0" rtlCol="0" anchor="ctr"/>
          <a:lstStyle/>
          <a:p>
            <a:pPr indent="0" marL="0">
              <a:buNone/>
            </a:pPr>
            <a:r>
              <a:rPr lang="en-US" sz="1800" b="1" dirty="0">
                <a:solidFill>
                  <a:srgbClr val="007F79"/>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6126480" y="2395728"/>
            <a:ext cx="5303520" cy="512064"/>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Cấp mã hồ sơ và trạng thái rõ ràng</a:t>
            </a:r>
            <a:endParaRPr lang="en-US" sz="1700" dirty="0"/>
          </a:p>
        </p:txBody>
      </p:sp>
      <p:sp>
        <p:nvSpPr>
          <p:cNvPr id="13" name="Shape 11"/>
          <p:cNvSpPr/>
          <p:nvPr/>
        </p:nvSpPr>
        <p:spPr>
          <a:xfrm>
            <a:off x="457200" y="2999232"/>
            <a:ext cx="11247120" cy="512064"/>
          </a:xfrm>
          <a:prstGeom prst="rect">
            <a:avLst/>
          </a:prstGeom>
          <a:solidFill>
            <a:srgbClr val="FFFFFF"/>
          </a:solidFill>
          <a:ln w="8890">
            <a:solidFill>
              <a:srgbClr val="FFFFFF"/>
            </a:solidFill>
            <a:prstDash val="solid"/>
          </a:ln>
        </p:spPr>
      </p:sp>
      <p:sp>
        <p:nvSpPr>
          <p:cNvPr id="14" name="Text 12"/>
          <p:cNvSpPr/>
          <p:nvPr/>
        </p:nvSpPr>
        <p:spPr>
          <a:xfrm>
            <a:off x="640080" y="2999232"/>
            <a:ext cx="4754880" cy="512064"/>
          </a:xfrm>
          <a:prstGeom prst="rect">
            <a:avLst/>
          </a:prstGeom>
          <a:noFill/>
          <a:ln/>
        </p:spPr>
        <p:txBody>
          <a:bodyPr wrap="square" lIns="0" tIns="0" rIns="0" bIns="0" rtlCol="0" anchor="ctr"/>
          <a:lstStyle/>
          <a:p>
            <a:pPr indent="0" marL="0">
              <a:buNone/>
            </a:pPr>
            <a:r>
              <a:rPr lang="en-US" sz="1800" b="1" dirty="0">
                <a:solidFill>
                  <a:srgbClr val="122D3A"/>
                </a:solidFill>
                <a:latin typeface="Arial" pitchFamily="34" charset="0"/>
                <a:ea typeface="Arial" pitchFamily="34" charset="-122"/>
                <a:cs typeface="Arial" pitchFamily="34" charset="-120"/>
              </a:rPr>
              <a:t>Thiếu thông tin phát hiện muộn</a:t>
            </a:r>
            <a:endParaRPr lang="en-US" sz="1800" dirty="0"/>
          </a:p>
        </p:txBody>
      </p:sp>
      <p:sp>
        <p:nvSpPr>
          <p:cNvPr id="15" name="Text 13"/>
          <p:cNvSpPr/>
          <p:nvPr/>
        </p:nvSpPr>
        <p:spPr>
          <a:xfrm>
            <a:off x="5577840" y="2999232"/>
            <a:ext cx="411480" cy="512064"/>
          </a:xfrm>
          <a:prstGeom prst="rect">
            <a:avLst/>
          </a:prstGeom>
          <a:noFill/>
          <a:ln/>
        </p:spPr>
        <p:txBody>
          <a:bodyPr wrap="square" lIns="0" tIns="0" rIns="0" bIns="0" rtlCol="0" anchor="ctr"/>
          <a:lstStyle/>
          <a:p>
            <a:pPr indent="0" marL="0">
              <a:buNone/>
            </a:pPr>
            <a:r>
              <a:rPr lang="en-US" sz="1800" b="1" dirty="0">
                <a:solidFill>
                  <a:srgbClr val="007F79"/>
                </a:solidFill>
                <a:latin typeface="Arial" pitchFamily="34" charset="0"/>
                <a:ea typeface="Arial" pitchFamily="34" charset="-122"/>
                <a:cs typeface="Arial" pitchFamily="34" charset="-120"/>
              </a:rPr>
              <a:t>→</a:t>
            </a:r>
            <a:endParaRPr lang="en-US" sz="1800" dirty="0"/>
          </a:p>
        </p:txBody>
      </p:sp>
      <p:sp>
        <p:nvSpPr>
          <p:cNvPr id="16" name="Text 14"/>
          <p:cNvSpPr/>
          <p:nvPr/>
        </p:nvSpPr>
        <p:spPr>
          <a:xfrm>
            <a:off x="6126480" y="2999232"/>
            <a:ext cx="5303520" cy="512064"/>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Kiểm tra biểu mẫu ngay khi nộp</a:t>
            </a:r>
            <a:endParaRPr lang="en-US" sz="1700" dirty="0"/>
          </a:p>
        </p:txBody>
      </p:sp>
      <p:sp>
        <p:nvSpPr>
          <p:cNvPr id="17" name="Shape 15"/>
          <p:cNvSpPr/>
          <p:nvPr/>
        </p:nvSpPr>
        <p:spPr>
          <a:xfrm>
            <a:off x="457200" y="3602736"/>
            <a:ext cx="11247120" cy="512064"/>
          </a:xfrm>
          <a:prstGeom prst="rect">
            <a:avLst/>
          </a:prstGeom>
          <a:solidFill>
            <a:srgbClr val="DFEFEB"/>
          </a:solidFill>
          <a:ln w="8890">
            <a:solidFill>
              <a:srgbClr val="DFEFEB"/>
            </a:solidFill>
            <a:prstDash val="solid"/>
          </a:ln>
        </p:spPr>
      </p:sp>
      <p:sp>
        <p:nvSpPr>
          <p:cNvPr id="18" name="Text 16"/>
          <p:cNvSpPr/>
          <p:nvPr/>
        </p:nvSpPr>
        <p:spPr>
          <a:xfrm>
            <a:off x="640080" y="3602736"/>
            <a:ext cx="4754880" cy="512064"/>
          </a:xfrm>
          <a:prstGeom prst="rect">
            <a:avLst/>
          </a:prstGeom>
          <a:noFill/>
          <a:ln/>
        </p:spPr>
        <p:txBody>
          <a:bodyPr wrap="square" lIns="0" tIns="0" rIns="0" bIns="0" rtlCol="0" anchor="ctr"/>
          <a:lstStyle/>
          <a:p>
            <a:pPr indent="0" marL="0">
              <a:buNone/>
            </a:pPr>
            <a:r>
              <a:rPr lang="en-US" sz="1800" b="1" dirty="0">
                <a:solidFill>
                  <a:srgbClr val="122D3A"/>
                </a:solidFill>
                <a:latin typeface="Arial" pitchFamily="34" charset="0"/>
                <a:ea typeface="Arial" pitchFamily="34" charset="-122"/>
                <a:cs typeface="Arial" pitchFamily="34" charset="-120"/>
              </a:rPr>
              <a:t>Trình ký theo đợt gây chờ</a:t>
            </a:r>
            <a:endParaRPr lang="en-US" sz="1800" dirty="0"/>
          </a:p>
        </p:txBody>
      </p:sp>
      <p:sp>
        <p:nvSpPr>
          <p:cNvPr id="19" name="Text 17"/>
          <p:cNvSpPr/>
          <p:nvPr/>
        </p:nvSpPr>
        <p:spPr>
          <a:xfrm>
            <a:off x="5577840" y="3602736"/>
            <a:ext cx="411480" cy="512064"/>
          </a:xfrm>
          <a:prstGeom prst="rect">
            <a:avLst/>
          </a:prstGeom>
          <a:noFill/>
          <a:ln/>
        </p:spPr>
        <p:txBody>
          <a:bodyPr wrap="square" lIns="0" tIns="0" rIns="0" bIns="0" rtlCol="0" anchor="ctr"/>
          <a:lstStyle/>
          <a:p>
            <a:pPr indent="0" marL="0">
              <a:buNone/>
            </a:pPr>
            <a:r>
              <a:rPr lang="en-US" sz="1800" b="1" dirty="0">
                <a:solidFill>
                  <a:srgbClr val="007F79"/>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6126480" y="3602736"/>
            <a:ext cx="5303520" cy="512064"/>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Đo riêng chờ ký và thao tác</a:t>
            </a:r>
            <a:endParaRPr lang="en-US" sz="1700" dirty="0"/>
          </a:p>
        </p:txBody>
      </p:sp>
      <p:sp>
        <p:nvSpPr>
          <p:cNvPr id="21" name="Shape 19"/>
          <p:cNvSpPr/>
          <p:nvPr/>
        </p:nvSpPr>
        <p:spPr>
          <a:xfrm>
            <a:off x="457200" y="4206240"/>
            <a:ext cx="11247120" cy="512064"/>
          </a:xfrm>
          <a:prstGeom prst="rect">
            <a:avLst/>
          </a:prstGeom>
          <a:solidFill>
            <a:srgbClr val="FFFFFF"/>
          </a:solidFill>
          <a:ln w="8890">
            <a:solidFill>
              <a:srgbClr val="FFFFFF"/>
            </a:solidFill>
            <a:prstDash val="solid"/>
          </a:ln>
        </p:spPr>
      </p:sp>
      <p:sp>
        <p:nvSpPr>
          <p:cNvPr id="22" name="Text 20"/>
          <p:cNvSpPr/>
          <p:nvPr/>
        </p:nvSpPr>
        <p:spPr>
          <a:xfrm>
            <a:off x="640080" y="4206240"/>
            <a:ext cx="4754880" cy="512064"/>
          </a:xfrm>
          <a:prstGeom prst="rect">
            <a:avLst/>
          </a:prstGeom>
          <a:noFill/>
          <a:ln/>
        </p:spPr>
        <p:txBody>
          <a:bodyPr wrap="square" lIns="0" tIns="0" rIns="0" bIns="0" rtlCol="0" anchor="ctr"/>
          <a:lstStyle/>
          <a:p>
            <a:pPr indent="0" marL="0">
              <a:buNone/>
            </a:pPr>
            <a:r>
              <a:rPr lang="en-US" sz="1800" b="1" dirty="0">
                <a:solidFill>
                  <a:srgbClr val="122D3A"/>
                </a:solidFill>
                <a:latin typeface="Arial" pitchFamily="34" charset="0"/>
                <a:ea typeface="Arial" pitchFamily="34" charset="-122"/>
                <a:cs typeface="Arial" pitchFamily="34" charset="-120"/>
              </a:rPr>
              <a:t>Quá hạn chỉ lộ khi rà sổ</a:t>
            </a:r>
            <a:endParaRPr lang="en-US" sz="1800" dirty="0"/>
          </a:p>
        </p:txBody>
      </p:sp>
      <p:sp>
        <p:nvSpPr>
          <p:cNvPr id="23" name="Text 21"/>
          <p:cNvSpPr/>
          <p:nvPr/>
        </p:nvSpPr>
        <p:spPr>
          <a:xfrm>
            <a:off x="5577840" y="4206240"/>
            <a:ext cx="411480" cy="512064"/>
          </a:xfrm>
          <a:prstGeom prst="rect">
            <a:avLst/>
          </a:prstGeom>
          <a:noFill/>
          <a:ln/>
        </p:spPr>
        <p:txBody>
          <a:bodyPr wrap="square" lIns="0" tIns="0" rIns="0" bIns="0" rtlCol="0" anchor="ctr"/>
          <a:lstStyle/>
          <a:p>
            <a:pPr indent="0" marL="0">
              <a:buNone/>
            </a:pPr>
            <a:r>
              <a:rPr lang="en-US" sz="1800" b="1" dirty="0">
                <a:solidFill>
                  <a:srgbClr val="007F79"/>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6126480" y="4206240"/>
            <a:ext cx="5303520" cy="512064"/>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Nhắc hạn và phát hiện đúng thời điểm</a:t>
            </a:r>
            <a:endParaRPr lang="en-US" sz="1700" dirty="0"/>
          </a:p>
        </p:txBody>
      </p:sp>
      <p:sp>
        <p:nvSpPr>
          <p:cNvPr id="25" name="Shape 23"/>
          <p:cNvSpPr/>
          <p:nvPr/>
        </p:nvSpPr>
        <p:spPr>
          <a:xfrm>
            <a:off x="457200" y="4809744"/>
            <a:ext cx="11247120" cy="512064"/>
          </a:xfrm>
          <a:prstGeom prst="rect">
            <a:avLst/>
          </a:prstGeom>
          <a:solidFill>
            <a:srgbClr val="DFEFEB"/>
          </a:solidFill>
          <a:ln w="8890">
            <a:solidFill>
              <a:srgbClr val="DFEFEB"/>
            </a:solidFill>
            <a:prstDash val="solid"/>
          </a:ln>
        </p:spPr>
      </p:sp>
      <p:sp>
        <p:nvSpPr>
          <p:cNvPr id="26" name="Text 24"/>
          <p:cNvSpPr/>
          <p:nvPr/>
        </p:nvSpPr>
        <p:spPr>
          <a:xfrm>
            <a:off x="640080" y="4809744"/>
            <a:ext cx="4754880" cy="512064"/>
          </a:xfrm>
          <a:prstGeom prst="rect">
            <a:avLst/>
          </a:prstGeom>
          <a:noFill/>
          <a:ln/>
        </p:spPr>
        <p:txBody>
          <a:bodyPr wrap="square" lIns="0" tIns="0" rIns="0" bIns="0" rtlCol="0" anchor="ctr"/>
          <a:lstStyle/>
          <a:p>
            <a:pPr indent="0" marL="0">
              <a:buNone/>
            </a:pPr>
            <a:r>
              <a:rPr lang="en-US" sz="1800" b="1" dirty="0">
                <a:solidFill>
                  <a:srgbClr val="122D3A"/>
                </a:solidFill>
                <a:latin typeface="Arial" pitchFamily="34" charset="0"/>
                <a:ea typeface="Arial" pitchFamily="34" charset="-122"/>
                <a:cs typeface="Arial" pitchFamily="34" charset="-120"/>
              </a:rPr>
              <a:t>Thông báo không lưu vết</a:t>
            </a:r>
            <a:endParaRPr lang="en-US" sz="1800" dirty="0"/>
          </a:p>
        </p:txBody>
      </p:sp>
      <p:sp>
        <p:nvSpPr>
          <p:cNvPr id="27" name="Text 25"/>
          <p:cNvSpPr/>
          <p:nvPr/>
        </p:nvSpPr>
        <p:spPr>
          <a:xfrm>
            <a:off x="5577840" y="4809744"/>
            <a:ext cx="411480" cy="512064"/>
          </a:xfrm>
          <a:prstGeom prst="rect">
            <a:avLst/>
          </a:prstGeom>
          <a:noFill/>
          <a:ln/>
        </p:spPr>
        <p:txBody>
          <a:bodyPr wrap="square" lIns="0" tIns="0" rIns="0" bIns="0" rtlCol="0" anchor="ctr"/>
          <a:lstStyle/>
          <a:p>
            <a:pPr indent="0" marL="0">
              <a:buNone/>
            </a:pPr>
            <a:r>
              <a:rPr lang="en-US" sz="1800" b="1" dirty="0">
                <a:solidFill>
                  <a:srgbClr val="007F79"/>
                </a:solidFill>
                <a:latin typeface="Arial" pitchFamily="34" charset="0"/>
                <a:ea typeface="Arial" pitchFamily="34" charset="-122"/>
                <a:cs typeface="Arial" pitchFamily="34" charset="-120"/>
              </a:rPr>
              <a:t>→</a:t>
            </a:r>
            <a:endParaRPr lang="en-US" sz="1800" dirty="0"/>
          </a:p>
        </p:txBody>
      </p:sp>
      <p:sp>
        <p:nvSpPr>
          <p:cNvPr id="28" name="Text 26"/>
          <p:cNvSpPr/>
          <p:nvPr/>
        </p:nvSpPr>
        <p:spPr>
          <a:xfrm>
            <a:off x="6126480" y="4809744"/>
            <a:ext cx="5303520" cy="512064"/>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Lưu bằng chứng gửi và lý do</a:t>
            </a:r>
            <a:endParaRPr lang="en-US" sz="1700" dirty="0"/>
          </a:p>
        </p:txBody>
      </p:sp>
      <p:sp>
        <p:nvSpPr>
          <p:cNvPr id="29" name="Text 27"/>
          <p:cNvSpPr/>
          <p:nvPr/>
        </p:nvSpPr>
        <p:spPr>
          <a:xfrm>
            <a:off x="621792" y="5742432"/>
            <a:ext cx="10972800" cy="384048"/>
          </a:xfrm>
          <a:prstGeom prst="rect">
            <a:avLst/>
          </a:prstGeom>
          <a:noFill/>
          <a:ln/>
        </p:spPr>
        <p:txBody>
          <a:bodyPr wrap="square" lIns="0" tIns="0" rIns="0" bIns="0" rtlCol="0" anchor="ctr"/>
          <a:lstStyle/>
          <a:p>
            <a:pPr indent="0" marL="0">
              <a:buNone/>
            </a:pPr>
            <a:r>
              <a:rPr lang="en-US" sz="1800" b="1" dirty="0">
                <a:solidFill>
                  <a:srgbClr val="007F79"/>
                </a:solidFill>
                <a:latin typeface="Arial" pitchFamily="34" charset="0"/>
                <a:ea typeface="Arial" pitchFamily="34" charset="-122"/>
                <a:cs typeface="Arial" pitchFamily="34" charset="-120"/>
              </a:rPr>
              <a:t>Sinh viên  →  Cán bộ CTHSSV  →  Lãnh đạo ký  →  Văn thư</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PHẠM VI ĐẦU–CUỐI</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Một đầu vào, các kết cục rõ ràng</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Tách thời gian phía trường khỏi thời gian sinh viên chờ nhận giấy.</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03</a:t>
            </a:r>
            <a:endParaRPr lang="en-US" sz="1200" dirty="0"/>
          </a:p>
        </p:txBody>
      </p:sp>
      <p:sp>
        <p:nvSpPr>
          <p:cNvPr id="9" name="Shape 7"/>
          <p:cNvSpPr/>
          <p:nvPr/>
        </p:nvSpPr>
        <p:spPr>
          <a:xfrm>
            <a:off x="457200" y="2404872"/>
            <a:ext cx="2788920" cy="1965960"/>
          </a:xfrm>
          <a:prstGeom prst="rect">
            <a:avLst/>
          </a:prstGeom>
          <a:solidFill>
            <a:srgbClr val="FFFFFF"/>
          </a:solidFill>
          <a:ln w="8890">
            <a:solidFill>
              <a:srgbClr val="FFFFFF"/>
            </a:solidFill>
            <a:prstDash val="solid"/>
          </a:ln>
        </p:spPr>
      </p:sp>
      <p:sp>
        <p:nvSpPr>
          <p:cNvPr id="10" name="Shape 8"/>
          <p:cNvSpPr/>
          <p:nvPr/>
        </p:nvSpPr>
        <p:spPr>
          <a:xfrm>
            <a:off x="457200" y="2404872"/>
            <a:ext cx="54864" cy="1965960"/>
          </a:xfrm>
          <a:prstGeom prst="rect">
            <a:avLst/>
          </a:prstGeom>
          <a:solidFill>
            <a:srgbClr val="007F79"/>
          </a:solidFill>
          <a:ln w="8890">
            <a:solidFill>
              <a:srgbClr val="007F79"/>
            </a:solidFill>
            <a:prstDash val="solid"/>
          </a:ln>
        </p:spPr>
      </p:sp>
      <p:sp>
        <p:nvSpPr>
          <p:cNvPr id="11" name="Text 9"/>
          <p:cNvSpPr/>
          <p:nvPr/>
        </p:nvSpPr>
        <p:spPr>
          <a:xfrm>
            <a:off x="658368" y="2542032"/>
            <a:ext cx="2404872" cy="384048"/>
          </a:xfrm>
          <a:prstGeom prst="rect">
            <a:avLst/>
          </a:prstGeom>
          <a:noFill/>
          <a:ln/>
        </p:spPr>
        <p:txBody>
          <a:bodyPr wrap="square" lIns="0" tIns="0" rIns="0" bIns="0" rtlCol="0" anchor="ctr"/>
          <a:lstStyle/>
          <a:p>
            <a:pPr indent="0" marL="0">
              <a:buNone/>
            </a:pPr>
            <a:r>
              <a:rPr lang="en-US" sz="2000" b="1" dirty="0">
                <a:solidFill>
                  <a:srgbClr val="007F79"/>
                </a:solidFill>
                <a:latin typeface="Arial" pitchFamily="34" charset="0"/>
                <a:ea typeface="Arial" pitchFamily="34" charset="-122"/>
                <a:cs typeface="Arial" pitchFamily="34" charset="-120"/>
              </a:rPr>
              <a:t>Đầu vào</a:t>
            </a:r>
            <a:endParaRPr lang="en-US" sz="2000" dirty="0"/>
          </a:p>
        </p:txBody>
      </p:sp>
      <p:sp>
        <p:nvSpPr>
          <p:cNvPr id="12" name="Text 10"/>
          <p:cNvSpPr/>
          <p:nvPr/>
        </p:nvSpPr>
        <p:spPr>
          <a:xfrm>
            <a:off x="658368" y="3108960"/>
            <a:ext cx="2404872" cy="1115568"/>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Thông tin sinh viên</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Loại giấy, mục đích</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Số bản, email, minh chứng</a:t>
            </a:r>
            <a:endParaRPr lang="en-US" sz="1700" dirty="0"/>
          </a:p>
        </p:txBody>
      </p:sp>
      <p:sp>
        <p:nvSpPr>
          <p:cNvPr id="13" name="Shape 11"/>
          <p:cNvSpPr/>
          <p:nvPr/>
        </p:nvSpPr>
        <p:spPr>
          <a:xfrm>
            <a:off x="3657600" y="3035808"/>
            <a:ext cx="3246120" cy="603504"/>
          </a:xfrm>
          <a:prstGeom prst="rect">
            <a:avLst/>
          </a:prstGeom>
          <a:solidFill>
            <a:srgbClr val="DFEFEB"/>
          </a:solidFill>
          <a:ln w="8890">
            <a:solidFill>
              <a:srgbClr val="DFEFEB"/>
            </a:solidFill>
            <a:prstDash val="solid"/>
          </a:ln>
        </p:spPr>
      </p:sp>
      <p:sp>
        <p:nvSpPr>
          <p:cNvPr id="14" name="Text 12"/>
          <p:cNvSpPr/>
          <p:nvPr/>
        </p:nvSpPr>
        <p:spPr>
          <a:xfrm>
            <a:off x="3749040" y="3090672"/>
            <a:ext cx="3063240"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Tiếp nhận và xử lý</a:t>
            </a:r>
            <a:endParaRPr lang="en-US" sz="1700" dirty="0"/>
          </a:p>
        </p:txBody>
      </p:sp>
      <p:sp>
        <p:nvSpPr>
          <p:cNvPr id="15" name="Shape 13"/>
          <p:cNvSpPr/>
          <p:nvPr/>
        </p:nvSpPr>
        <p:spPr>
          <a:xfrm>
            <a:off x="3273552" y="3337560"/>
            <a:ext cx="329184" cy="0"/>
          </a:xfrm>
          <a:prstGeom prst="line">
            <a:avLst/>
          </a:prstGeom>
          <a:noFill/>
          <a:ln w="19050">
            <a:solidFill>
              <a:srgbClr val="007F79"/>
            </a:solidFill>
            <a:prstDash val="solid"/>
            <a:headEnd type="none"/>
            <a:tailEnd type="triangle"/>
          </a:ln>
        </p:spPr>
      </p:sp>
      <p:sp>
        <p:nvSpPr>
          <p:cNvPr id="16" name="Shape 14"/>
          <p:cNvSpPr/>
          <p:nvPr/>
        </p:nvSpPr>
        <p:spPr>
          <a:xfrm>
            <a:off x="7452360" y="2423160"/>
            <a:ext cx="4251960" cy="603504"/>
          </a:xfrm>
          <a:prstGeom prst="rect">
            <a:avLst/>
          </a:prstGeom>
          <a:solidFill>
            <a:srgbClr val="DFEFEB"/>
          </a:solidFill>
          <a:ln w="8890">
            <a:solidFill>
              <a:srgbClr val="DFEFEB"/>
            </a:solidFill>
            <a:prstDash val="solid"/>
          </a:ln>
        </p:spPr>
      </p:sp>
      <p:sp>
        <p:nvSpPr>
          <p:cNvPr id="17" name="Text 15"/>
          <p:cNvSpPr/>
          <p:nvPr/>
        </p:nvSpPr>
        <p:spPr>
          <a:xfrm>
            <a:off x="7543800" y="2478024"/>
            <a:ext cx="4069080"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Nhận giấy</a:t>
            </a:r>
            <a:endParaRPr lang="en-US" sz="1700" dirty="0"/>
          </a:p>
        </p:txBody>
      </p:sp>
      <p:sp>
        <p:nvSpPr>
          <p:cNvPr id="18" name="Shape 16"/>
          <p:cNvSpPr/>
          <p:nvPr/>
        </p:nvSpPr>
        <p:spPr>
          <a:xfrm>
            <a:off x="7452360" y="3182112"/>
            <a:ext cx="4251960" cy="603504"/>
          </a:xfrm>
          <a:prstGeom prst="rect">
            <a:avLst/>
          </a:prstGeom>
          <a:solidFill>
            <a:srgbClr val="F3E4D8"/>
          </a:solidFill>
          <a:ln w="8890">
            <a:solidFill>
              <a:srgbClr val="F3E4D8"/>
            </a:solidFill>
            <a:prstDash val="solid"/>
          </a:ln>
        </p:spPr>
      </p:sp>
      <p:sp>
        <p:nvSpPr>
          <p:cNvPr id="19" name="Text 17"/>
          <p:cNvSpPr/>
          <p:nvPr/>
        </p:nvSpPr>
        <p:spPr>
          <a:xfrm>
            <a:off x="7543800" y="3236976"/>
            <a:ext cx="4069080"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Từ chối có lý do</a:t>
            </a:r>
            <a:endParaRPr lang="en-US" sz="1700" dirty="0"/>
          </a:p>
        </p:txBody>
      </p:sp>
      <p:sp>
        <p:nvSpPr>
          <p:cNvPr id="20" name="Shape 18"/>
          <p:cNvSpPr/>
          <p:nvPr/>
        </p:nvSpPr>
        <p:spPr>
          <a:xfrm>
            <a:off x="7452360" y="3941064"/>
            <a:ext cx="4251960" cy="603504"/>
          </a:xfrm>
          <a:prstGeom prst="rect">
            <a:avLst/>
          </a:prstGeom>
          <a:solidFill>
            <a:srgbClr val="FFFFFF"/>
          </a:solidFill>
          <a:ln w="8890">
            <a:solidFill>
              <a:srgbClr val="FFFFFF"/>
            </a:solidFill>
            <a:prstDash val="solid"/>
          </a:ln>
        </p:spPr>
      </p:sp>
      <p:sp>
        <p:nvSpPr>
          <p:cNvPr id="21" name="Text 19"/>
          <p:cNvSpPr/>
          <p:nvPr/>
        </p:nvSpPr>
        <p:spPr>
          <a:xfrm>
            <a:off x="7543800" y="3995928"/>
            <a:ext cx="4069080"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Đóng do quá hạn bổ sung</a:t>
            </a:r>
            <a:endParaRPr lang="en-US" sz="1700" dirty="0"/>
          </a:p>
        </p:txBody>
      </p:sp>
      <p:sp>
        <p:nvSpPr>
          <p:cNvPr id="22" name="Shape 20"/>
          <p:cNvSpPr/>
          <p:nvPr/>
        </p:nvSpPr>
        <p:spPr>
          <a:xfrm>
            <a:off x="6949440" y="3337560"/>
            <a:ext cx="411480" cy="0"/>
          </a:xfrm>
          <a:prstGeom prst="line">
            <a:avLst/>
          </a:prstGeom>
          <a:noFill/>
          <a:ln w="19050">
            <a:solidFill>
              <a:srgbClr val="007F79"/>
            </a:solidFill>
            <a:prstDash val="solid"/>
            <a:headEnd type="none"/>
            <a:tailEnd type="triangle"/>
          </a:ln>
        </p:spPr>
      </p:sp>
      <p:sp>
        <p:nvSpPr>
          <p:cNvPr id="23" name="Shape 21"/>
          <p:cNvSpPr/>
          <p:nvPr/>
        </p:nvSpPr>
        <p:spPr>
          <a:xfrm>
            <a:off x="457200" y="4782312"/>
            <a:ext cx="11247120" cy="1207008"/>
          </a:xfrm>
          <a:prstGeom prst="rect">
            <a:avLst/>
          </a:prstGeom>
          <a:solidFill>
            <a:srgbClr val="122D3A"/>
          </a:solidFill>
          <a:ln w="8890">
            <a:solidFill>
              <a:srgbClr val="122D3A"/>
            </a:solidFill>
            <a:prstDash val="solid"/>
          </a:ln>
        </p:spPr>
      </p:sp>
      <p:sp>
        <p:nvSpPr>
          <p:cNvPr id="24" name="Text 22"/>
          <p:cNvSpPr/>
          <p:nvPr/>
        </p:nvSpPr>
        <p:spPr>
          <a:xfrm>
            <a:off x="676656" y="4937760"/>
            <a:ext cx="1645920" cy="329184"/>
          </a:xfrm>
          <a:prstGeom prst="rect">
            <a:avLst/>
          </a:prstGeom>
          <a:noFill/>
          <a:ln/>
        </p:spPr>
        <p:txBody>
          <a:bodyPr wrap="square" lIns="0" tIns="0" rIns="0" bIns="0" rtlCol="0" anchor="ctr"/>
          <a:lstStyle/>
          <a:p>
            <a:pPr indent="0" marL="0">
              <a:buNone/>
            </a:pPr>
            <a:r>
              <a:rPr lang="en-US" sz="2100" b="1" dirty="0">
                <a:solidFill>
                  <a:srgbClr val="8DD3C7"/>
                </a:solidFill>
                <a:latin typeface="Arial" pitchFamily="34" charset="0"/>
                <a:ea typeface="Arial" pitchFamily="34" charset="-122"/>
                <a:cs typeface="Arial" pitchFamily="34" charset="-120"/>
              </a:rPr>
              <a:t>T_trường</a:t>
            </a:r>
            <a:endParaRPr lang="en-US" sz="2100" dirty="0"/>
          </a:p>
        </p:txBody>
      </p:sp>
      <p:sp>
        <p:nvSpPr>
          <p:cNvPr id="25" name="Text 23"/>
          <p:cNvSpPr/>
          <p:nvPr/>
        </p:nvSpPr>
        <p:spPr>
          <a:xfrm>
            <a:off x="2560320" y="4892040"/>
            <a:ext cx="8778240" cy="41148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Từ nộp yêu cầu đến thông báo kết quả hoặc đóng hồ sơ</a:t>
            </a:r>
            <a:endParaRPr lang="en-US" sz="1800" dirty="0"/>
          </a:p>
        </p:txBody>
      </p:sp>
      <p:sp>
        <p:nvSpPr>
          <p:cNvPr id="26" name="Text 24"/>
          <p:cNvSpPr/>
          <p:nvPr/>
        </p:nvSpPr>
        <p:spPr>
          <a:xfrm>
            <a:off x="676656" y="5468112"/>
            <a:ext cx="1645920" cy="329184"/>
          </a:xfrm>
          <a:prstGeom prst="rect">
            <a:avLst/>
          </a:prstGeom>
          <a:noFill/>
          <a:ln/>
        </p:spPr>
        <p:txBody>
          <a:bodyPr wrap="square" lIns="0" tIns="0" rIns="0" bIns="0" rtlCol="0" anchor="ctr"/>
          <a:lstStyle/>
          <a:p>
            <a:pPr indent="0" marL="0">
              <a:buNone/>
            </a:pPr>
            <a:r>
              <a:rPr lang="en-US" sz="2100" b="1" dirty="0">
                <a:solidFill>
                  <a:srgbClr val="8DD3C7"/>
                </a:solidFill>
                <a:latin typeface="Arial" pitchFamily="34" charset="0"/>
                <a:ea typeface="Arial" pitchFamily="34" charset="-122"/>
                <a:cs typeface="Arial" pitchFamily="34" charset="-120"/>
              </a:rPr>
              <a:t>T_SV</a:t>
            </a:r>
            <a:endParaRPr lang="en-US" sz="2100" dirty="0"/>
          </a:p>
        </p:txBody>
      </p:sp>
      <p:sp>
        <p:nvSpPr>
          <p:cNvPr id="27" name="Text 25"/>
          <p:cNvSpPr/>
          <p:nvPr/>
        </p:nvSpPr>
        <p:spPr>
          <a:xfrm>
            <a:off x="2560320" y="5431536"/>
            <a:ext cx="8778240" cy="41148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Từ nộp yêu cầu đến nhận giấy; chỉ tính hồ sơ đã nhận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AS-IS • GIẢ ĐỊNH NGHIỆP VỤ</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Quy trình thủ công tạo vòng lặp và thời gian chờ</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Các vai trò bàn giao hồ sơ; việc quá hạn được rà thủ công vào chiều thứ Sáu.</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04</a:t>
            </a:r>
            <a:endParaRPr lang="en-US" sz="1200" dirty="0"/>
          </a:p>
        </p:txBody>
      </p:sp>
      <p:sp>
        <p:nvSpPr>
          <p:cNvPr id="9" name="Shape 7"/>
          <p:cNvSpPr/>
          <p:nvPr/>
        </p:nvSpPr>
        <p:spPr>
          <a:xfrm>
            <a:off x="457200" y="2395728"/>
            <a:ext cx="11247120" cy="740664"/>
          </a:xfrm>
          <a:prstGeom prst="rect">
            <a:avLst/>
          </a:prstGeom>
          <a:solidFill>
            <a:srgbClr val="EAF0EB"/>
          </a:solidFill>
          <a:ln w="8890">
            <a:solidFill>
              <a:srgbClr val="D6DED9"/>
            </a:solidFill>
            <a:prstDash val="solid"/>
          </a:ln>
        </p:spPr>
      </p:sp>
      <p:sp>
        <p:nvSpPr>
          <p:cNvPr id="10" name="Text 8"/>
          <p:cNvSpPr/>
          <p:nvPr/>
        </p:nvSpPr>
        <p:spPr>
          <a:xfrm>
            <a:off x="576072" y="2496312"/>
            <a:ext cx="1536192" cy="512064"/>
          </a:xfrm>
          <a:prstGeom prst="rect">
            <a:avLst/>
          </a:prstGeom>
          <a:noFill/>
          <a:ln/>
        </p:spPr>
        <p:txBody>
          <a:bodyPr wrap="square" lIns="0" tIns="0" rIns="0" bIns="0" rtlCol="0" anchor="ctr"/>
          <a:lstStyle/>
          <a:p>
            <a:pPr indent="0" marL="0">
              <a:buNone/>
            </a:pPr>
            <a:r>
              <a:rPr lang="en-US" sz="1500" b="1" dirty="0">
                <a:solidFill>
                  <a:srgbClr val="007F79"/>
                </a:solidFill>
                <a:latin typeface="Arial" pitchFamily="34" charset="0"/>
                <a:ea typeface="Arial" pitchFamily="34" charset="-122"/>
                <a:cs typeface="Arial" pitchFamily="34" charset="-120"/>
              </a:rPr>
              <a:t>Sinh viên</a:t>
            </a:r>
            <a:endParaRPr lang="en-US" sz="1500" dirty="0"/>
          </a:p>
        </p:txBody>
      </p:sp>
      <p:sp>
        <p:nvSpPr>
          <p:cNvPr id="11" name="Shape 9"/>
          <p:cNvSpPr/>
          <p:nvPr/>
        </p:nvSpPr>
        <p:spPr>
          <a:xfrm>
            <a:off x="2121408" y="2395728"/>
            <a:ext cx="0" cy="740664"/>
          </a:xfrm>
          <a:prstGeom prst="line">
            <a:avLst/>
          </a:prstGeom>
          <a:noFill/>
          <a:ln w="7620">
            <a:solidFill>
              <a:srgbClr val="D6DED9"/>
            </a:solidFill>
            <a:prstDash val="solid"/>
            <a:headEnd type="none"/>
            <a:tailEnd type="none"/>
          </a:ln>
        </p:spPr>
      </p:sp>
      <p:sp>
        <p:nvSpPr>
          <p:cNvPr id="12" name="Shape 10"/>
          <p:cNvSpPr/>
          <p:nvPr/>
        </p:nvSpPr>
        <p:spPr>
          <a:xfrm>
            <a:off x="457200" y="3136392"/>
            <a:ext cx="11247120" cy="740664"/>
          </a:xfrm>
          <a:prstGeom prst="rect">
            <a:avLst/>
          </a:prstGeom>
          <a:solidFill>
            <a:srgbClr val="FFFFFF"/>
          </a:solidFill>
          <a:ln w="8890">
            <a:solidFill>
              <a:srgbClr val="D6DED9"/>
            </a:solidFill>
            <a:prstDash val="solid"/>
          </a:ln>
        </p:spPr>
      </p:sp>
      <p:sp>
        <p:nvSpPr>
          <p:cNvPr id="13" name="Text 11"/>
          <p:cNvSpPr/>
          <p:nvPr/>
        </p:nvSpPr>
        <p:spPr>
          <a:xfrm>
            <a:off x="576072" y="3236976"/>
            <a:ext cx="1536192" cy="512064"/>
          </a:xfrm>
          <a:prstGeom prst="rect">
            <a:avLst/>
          </a:prstGeom>
          <a:noFill/>
          <a:ln/>
        </p:spPr>
        <p:txBody>
          <a:bodyPr wrap="square" lIns="0" tIns="0" rIns="0" bIns="0" rtlCol="0" anchor="ctr"/>
          <a:lstStyle/>
          <a:p>
            <a:pPr indent="0" marL="0">
              <a:buNone/>
            </a:pPr>
            <a:r>
              <a:rPr lang="en-US" sz="1500" b="1" dirty="0">
                <a:solidFill>
                  <a:srgbClr val="007F79"/>
                </a:solidFill>
                <a:latin typeface="Arial" pitchFamily="34" charset="0"/>
                <a:ea typeface="Arial" pitchFamily="34" charset="-122"/>
                <a:cs typeface="Arial" pitchFamily="34" charset="-120"/>
              </a:rPr>
              <a:t>Cán bộ CTHSSV</a:t>
            </a:r>
            <a:endParaRPr lang="en-US" sz="1500" dirty="0"/>
          </a:p>
        </p:txBody>
      </p:sp>
      <p:sp>
        <p:nvSpPr>
          <p:cNvPr id="14" name="Shape 12"/>
          <p:cNvSpPr/>
          <p:nvPr/>
        </p:nvSpPr>
        <p:spPr>
          <a:xfrm>
            <a:off x="2121408" y="3136392"/>
            <a:ext cx="0" cy="740664"/>
          </a:xfrm>
          <a:prstGeom prst="line">
            <a:avLst/>
          </a:prstGeom>
          <a:noFill/>
          <a:ln w="7620">
            <a:solidFill>
              <a:srgbClr val="D6DED9"/>
            </a:solidFill>
            <a:prstDash val="solid"/>
            <a:headEnd type="none"/>
            <a:tailEnd type="none"/>
          </a:ln>
        </p:spPr>
      </p:sp>
      <p:sp>
        <p:nvSpPr>
          <p:cNvPr id="15" name="Shape 13"/>
          <p:cNvSpPr/>
          <p:nvPr/>
        </p:nvSpPr>
        <p:spPr>
          <a:xfrm>
            <a:off x="457200" y="3877056"/>
            <a:ext cx="11247120" cy="740664"/>
          </a:xfrm>
          <a:prstGeom prst="rect">
            <a:avLst/>
          </a:prstGeom>
          <a:solidFill>
            <a:srgbClr val="EAF0EB"/>
          </a:solidFill>
          <a:ln w="8890">
            <a:solidFill>
              <a:srgbClr val="D6DED9"/>
            </a:solidFill>
            <a:prstDash val="solid"/>
          </a:ln>
        </p:spPr>
      </p:sp>
      <p:sp>
        <p:nvSpPr>
          <p:cNvPr id="16" name="Text 14"/>
          <p:cNvSpPr/>
          <p:nvPr/>
        </p:nvSpPr>
        <p:spPr>
          <a:xfrm>
            <a:off x="576072" y="3977640"/>
            <a:ext cx="1536192" cy="512064"/>
          </a:xfrm>
          <a:prstGeom prst="rect">
            <a:avLst/>
          </a:prstGeom>
          <a:noFill/>
          <a:ln/>
        </p:spPr>
        <p:txBody>
          <a:bodyPr wrap="square" lIns="0" tIns="0" rIns="0" bIns="0" rtlCol="0" anchor="ctr"/>
          <a:lstStyle/>
          <a:p>
            <a:pPr indent="0" marL="0">
              <a:buNone/>
            </a:pPr>
            <a:r>
              <a:rPr lang="en-US" sz="1500" b="1" dirty="0">
                <a:solidFill>
                  <a:srgbClr val="007F79"/>
                </a:solidFill>
                <a:latin typeface="Arial" pitchFamily="34" charset="0"/>
                <a:ea typeface="Arial" pitchFamily="34" charset="-122"/>
                <a:cs typeface="Arial" pitchFamily="34" charset="-120"/>
              </a:rPr>
              <a:t>Lãnh đạo</a:t>
            </a:r>
            <a:endParaRPr lang="en-US" sz="1500" dirty="0"/>
          </a:p>
        </p:txBody>
      </p:sp>
      <p:sp>
        <p:nvSpPr>
          <p:cNvPr id="17" name="Shape 15"/>
          <p:cNvSpPr/>
          <p:nvPr/>
        </p:nvSpPr>
        <p:spPr>
          <a:xfrm>
            <a:off x="2121408" y="3877056"/>
            <a:ext cx="0" cy="740664"/>
          </a:xfrm>
          <a:prstGeom prst="line">
            <a:avLst/>
          </a:prstGeom>
          <a:noFill/>
          <a:ln w="7620">
            <a:solidFill>
              <a:srgbClr val="D6DED9"/>
            </a:solidFill>
            <a:prstDash val="solid"/>
            <a:headEnd type="none"/>
            <a:tailEnd type="none"/>
          </a:ln>
        </p:spPr>
      </p:sp>
      <p:sp>
        <p:nvSpPr>
          <p:cNvPr id="18" name="Shape 16"/>
          <p:cNvSpPr/>
          <p:nvPr/>
        </p:nvSpPr>
        <p:spPr>
          <a:xfrm>
            <a:off x="457200" y="4617720"/>
            <a:ext cx="11247120" cy="740664"/>
          </a:xfrm>
          <a:prstGeom prst="rect">
            <a:avLst/>
          </a:prstGeom>
          <a:solidFill>
            <a:srgbClr val="FFFFFF"/>
          </a:solidFill>
          <a:ln w="8890">
            <a:solidFill>
              <a:srgbClr val="D6DED9"/>
            </a:solidFill>
            <a:prstDash val="solid"/>
          </a:ln>
        </p:spPr>
      </p:sp>
      <p:sp>
        <p:nvSpPr>
          <p:cNvPr id="19" name="Text 17"/>
          <p:cNvSpPr/>
          <p:nvPr/>
        </p:nvSpPr>
        <p:spPr>
          <a:xfrm>
            <a:off x="576072" y="4718304"/>
            <a:ext cx="1536192" cy="512064"/>
          </a:xfrm>
          <a:prstGeom prst="rect">
            <a:avLst/>
          </a:prstGeom>
          <a:noFill/>
          <a:ln/>
        </p:spPr>
        <p:txBody>
          <a:bodyPr wrap="square" lIns="0" tIns="0" rIns="0" bIns="0" rtlCol="0" anchor="ctr"/>
          <a:lstStyle/>
          <a:p>
            <a:pPr indent="0" marL="0">
              <a:buNone/>
            </a:pPr>
            <a:r>
              <a:rPr lang="en-US" sz="1500" b="1" dirty="0">
                <a:solidFill>
                  <a:srgbClr val="007F79"/>
                </a:solidFill>
                <a:latin typeface="Arial" pitchFamily="34" charset="0"/>
                <a:ea typeface="Arial" pitchFamily="34" charset="-122"/>
                <a:cs typeface="Arial" pitchFamily="34" charset="-120"/>
              </a:rPr>
              <a:t>Văn thư</a:t>
            </a:r>
            <a:endParaRPr lang="en-US" sz="1500" dirty="0"/>
          </a:p>
        </p:txBody>
      </p:sp>
      <p:sp>
        <p:nvSpPr>
          <p:cNvPr id="20" name="Shape 18"/>
          <p:cNvSpPr/>
          <p:nvPr/>
        </p:nvSpPr>
        <p:spPr>
          <a:xfrm>
            <a:off x="2121408" y="4617720"/>
            <a:ext cx="0" cy="740664"/>
          </a:xfrm>
          <a:prstGeom prst="line">
            <a:avLst/>
          </a:prstGeom>
          <a:noFill/>
          <a:ln w="7620">
            <a:solidFill>
              <a:srgbClr val="D6DED9"/>
            </a:solidFill>
            <a:prstDash val="solid"/>
            <a:headEnd type="none"/>
            <a:tailEnd type="none"/>
          </a:ln>
        </p:spPr>
      </p:sp>
      <p:sp>
        <p:nvSpPr>
          <p:cNvPr id="21" name="Shape 19"/>
          <p:cNvSpPr/>
          <p:nvPr/>
        </p:nvSpPr>
        <p:spPr>
          <a:xfrm>
            <a:off x="2331720" y="2496312"/>
            <a:ext cx="1463040" cy="530352"/>
          </a:xfrm>
          <a:prstGeom prst="rect">
            <a:avLst/>
          </a:prstGeom>
          <a:solidFill>
            <a:srgbClr val="FFFFFF"/>
          </a:solidFill>
          <a:ln w="8890">
            <a:solidFill>
              <a:srgbClr val="D6DED9"/>
            </a:solidFill>
            <a:prstDash val="solid"/>
          </a:ln>
        </p:spPr>
      </p:sp>
      <p:sp>
        <p:nvSpPr>
          <p:cNvPr id="22" name="Text 20"/>
          <p:cNvSpPr/>
          <p:nvPr/>
        </p:nvSpPr>
        <p:spPr>
          <a:xfrm>
            <a:off x="2386584" y="2514600"/>
            <a:ext cx="1353312" cy="493776"/>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Nộp đơn</a:t>
            </a:r>
            <a:endParaRPr lang="en-US" sz="1400" dirty="0"/>
          </a:p>
        </p:txBody>
      </p:sp>
      <p:sp>
        <p:nvSpPr>
          <p:cNvPr id="23" name="Shape 21"/>
          <p:cNvSpPr/>
          <p:nvPr/>
        </p:nvSpPr>
        <p:spPr>
          <a:xfrm>
            <a:off x="4626864" y="2496312"/>
            <a:ext cx="1591056" cy="530352"/>
          </a:xfrm>
          <a:prstGeom prst="rect">
            <a:avLst/>
          </a:prstGeom>
          <a:solidFill>
            <a:srgbClr val="F3E4D8"/>
          </a:solidFill>
          <a:ln w="8890">
            <a:solidFill>
              <a:srgbClr val="D6DED9"/>
            </a:solidFill>
            <a:prstDash val="solid"/>
          </a:ln>
        </p:spPr>
      </p:sp>
      <p:sp>
        <p:nvSpPr>
          <p:cNvPr id="24" name="Text 22"/>
          <p:cNvSpPr/>
          <p:nvPr/>
        </p:nvSpPr>
        <p:spPr>
          <a:xfrm>
            <a:off x="4681728" y="2514600"/>
            <a:ext cx="1481328" cy="493776"/>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Bổ sung</a:t>
            </a:r>
            <a:endParaRPr lang="en-US" sz="1400" dirty="0"/>
          </a:p>
        </p:txBody>
      </p:sp>
      <p:sp>
        <p:nvSpPr>
          <p:cNvPr id="25" name="Shape 23"/>
          <p:cNvSpPr/>
          <p:nvPr/>
        </p:nvSpPr>
        <p:spPr>
          <a:xfrm>
            <a:off x="9756648" y="2496312"/>
            <a:ext cx="1700784" cy="530352"/>
          </a:xfrm>
          <a:prstGeom prst="rect">
            <a:avLst/>
          </a:prstGeom>
          <a:solidFill>
            <a:srgbClr val="DFEFEB"/>
          </a:solidFill>
          <a:ln w="8890">
            <a:solidFill>
              <a:srgbClr val="D6DED9"/>
            </a:solidFill>
            <a:prstDash val="solid"/>
          </a:ln>
        </p:spPr>
      </p:sp>
      <p:sp>
        <p:nvSpPr>
          <p:cNvPr id="26" name="Text 24"/>
          <p:cNvSpPr/>
          <p:nvPr/>
        </p:nvSpPr>
        <p:spPr>
          <a:xfrm>
            <a:off x="9811512" y="2514600"/>
            <a:ext cx="1591056" cy="493776"/>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Nhận giấy</a:t>
            </a:r>
            <a:endParaRPr lang="en-US" sz="1400" dirty="0"/>
          </a:p>
        </p:txBody>
      </p:sp>
      <p:sp>
        <p:nvSpPr>
          <p:cNvPr id="27" name="Shape 25"/>
          <p:cNvSpPr/>
          <p:nvPr/>
        </p:nvSpPr>
        <p:spPr>
          <a:xfrm>
            <a:off x="2990088" y="3236976"/>
            <a:ext cx="2130552" cy="530352"/>
          </a:xfrm>
          <a:prstGeom prst="rect">
            <a:avLst/>
          </a:prstGeom>
          <a:solidFill>
            <a:srgbClr val="FFFFFF"/>
          </a:solidFill>
          <a:ln w="8890">
            <a:solidFill>
              <a:srgbClr val="D6DED9"/>
            </a:solidFill>
            <a:prstDash val="solid"/>
          </a:ln>
        </p:spPr>
      </p:sp>
      <p:sp>
        <p:nvSpPr>
          <p:cNvPr id="28" name="Text 26"/>
          <p:cNvSpPr/>
          <p:nvPr/>
        </p:nvSpPr>
        <p:spPr>
          <a:xfrm>
            <a:off x="3044952" y="3255264"/>
            <a:ext cx="2020824" cy="493776"/>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Ghi sổ / kiểm tra</a:t>
            </a:r>
            <a:endParaRPr lang="en-US" sz="1400" dirty="0"/>
          </a:p>
        </p:txBody>
      </p:sp>
      <p:sp>
        <p:nvSpPr>
          <p:cNvPr id="29" name="Shape 27"/>
          <p:cNvSpPr/>
          <p:nvPr/>
        </p:nvSpPr>
        <p:spPr>
          <a:xfrm>
            <a:off x="5650992" y="3236976"/>
            <a:ext cx="1920240" cy="530352"/>
          </a:xfrm>
          <a:prstGeom prst="rect">
            <a:avLst/>
          </a:prstGeom>
          <a:solidFill>
            <a:srgbClr val="FFFFFF"/>
          </a:solidFill>
          <a:ln w="8890">
            <a:solidFill>
              <a:srgbClr val="D6DED9"/>
            </a:solidFill>
            <a:prstDash val="solid"/>
          </a:ln>
        </p:spPr>
      </p:sp>
      <p:sp>
        <p:nvSpPr>
          <p:cNvPr id="30" name="Text 28"/>
          <p:cNvSpPr/>
          <p:nvPr/>
        </p:nvSpPr>
        <p:spPr>
          <a:xfrm>
            <a:off x="5705856" y="3255264"/>
            <a:ext cx="1810512" cy="493776"/>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Soạn / trình ký</a:t>
            </a:r>
            <a:endParaRPr lang="en-US" sz="1400" dirty="0"/>
          </a:p>
        </p:txBody>
      </p:sp>
      <p:sp>
        <p:nvSpPr>
          <p:cNvPr id="31" name="Shape 29"/>
          <p:cNvSpPr/>
          <p:nvPr/>
        </p:nvSpPr>
        <p:spPr>
          <a:xfrm>
            <a:off x="9528048" y="3236976"/>
            <a:ext cx="1929384" cy="530352"/>
          </a:xfrm>
          <a:prstGeom prst="rect">
            <a:avLst/>
          </a:prstGeom>
          <a:solidFill>
            <a:srgbClr val="FFFFFF"/>
          </a:solidFill>
          <a:ln w="8890">
            <a:solidFill>
              <a:srgbClr val="D6DED9"/>
            </a:solidFill>
            <a:prstDash val="solid"/>
          </a:ln>
        </p:spPr>
      </p:sp>
      <p:sp>
        <p:nvSpPr>
          <p:cNvPr id="32" name="Text 30"/>
          <p:cNvSpPr/>
          <p:nvPr/>
        </p:nvSpPr>
        <p:spPr>
          <a:xfrm>
            <a:off x="9582912" y="3255264"/>
            <a:ext cx="1819656" cy="493776"/>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Báo kết quả</a:t>
            </a:r>
            <a:endParaRPr lang="en-US" sz="1400" dirty="0"/>
          </a:p>
        </p:txBody>
      </p:sp>
      <p:sp>
        <p:nvSpPr>
          <p:cNvPr id="33" name="Shape 31"/>
          <p:cNvSpPr/>
          <p:nvPr/>
        </p:nvSpPr>
        <p:spPr>
          <a:xfrm>
            <a:off x="6583680" y="3977640"/>
            <a:ext cx="2404872" cy="530352"/>
          </a:xfrm>
          <a:prstGeom prst="rect">
            <a:avLst/>
          </a:prstGeom>
          <a:solidFill>
            <a:srgbClr val="FFFFFF"/>
          </a:solidFill>
          <a:ln w="8890">
            <a:solidFill>
              <a:srgbClr val="D6DED9"/>
            </a:solidFill>
            <a:prstDash val="solid"/>
          </a:ln>
        </p:spPr>
      </p:sp>
      <p:sp>
        <p:nvSpPr>
          <p:cNvPr id="34" name="Text 32"/>
          <p:cNvSpPr/>
          <p:nvPr/>
        </p:nvSpPr>
        <p:spPr>
          <a:xfrm>
            <a:off x="6638544" y="3995928"/>
            <a:ext cx="2295144" cy="493776"/>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Duyệt / từ chối, ký</a:t>
            </a:r>
            <a:endParaRPr lang="en-US" sz="1400" dirty="0"/>
          </a:p>
        </p:txBody>
      </p:sp>
      <p:sp>
        <p:nvSpPr>
          <p:cNvPr id="35" name="Shape 33"/>
          <p:cNvSpPr/>
          <p:nvPr/>
        </p:nvSpPr>
        <p:spPr>
          <a:xfrm>
            <a:off x="8814816" y="4718304"/>
            <a:ext cx="2642616" cy="530352"/>
          </a:xfrm>
          <a:prstGeom prst="rect">
            <a:avLst/>
          </a:prstGeom>
          <a:solidFill>
            <a:srgbClr val="FFFFFF"/>
          </a:solidFill>
          <a:ln w="8890">
            <a:solidFill>
              <a:srgbClr val="D6DED9"/>
            </a:solidFill>
            <a:prstDash val="solid"/>
          </a:ln>
        </p:spPr>
      </p:sp>
      <p:sp>
        <p:nvSpPr>
          <p:cNvPr id="36" name="Text 34"/>
          <p:cNvSpPr/>
          <p:nvPr/>
        </p:nvSpPr>
        <p:spPr>
          <a:xfrm>
            <a:off x="8869680" y="4736592"/>
            <a:ext cx="2532888" cy="493776"/>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Đóng dấu / vào sổ</a:t>
            </a:r>
            <a:endParaRPr lang="en-US" sz="1400" dirty="0"/>
          </a:p>
        </p:txBody>
      </p:sp>
      <p:sp>
        <p:nvSpPr>
          <p:cNvPr id="37" name="Shape 35"/>
          <p:cNvSpPr/>
          <p:nvPr/>
        </p:nvSpPr>
        <p:spPr>
          <a:xfrm>
            <a:off x="3063240" y="3035808"/>
            <a:ext cx="0" cy="173736"/>
          </a:xfrm>
          <a:prstGeom prst="line">
            <a:avLst/>
          </a:prstGeom>
          <a:noFill/>
          <a:ln w="19050">
            <a:solidFill>
              <a:srgbClr val="007F79"/>
            </a:solidFill>
            <a:prstDash val="solid"/>
            <a:headEnd type="none"/>
            <a:tailEnd type="triangle"/>
          </a:ln>
        </p:spPr>
      </p:sp>
      <p:sp>
        <p:nvSpPr>
          <p:cNvPr id="38" name="Shape 36"/>
          <p:cNvSpPr/>
          <p:nvPr/>
        </p:nvSpPr>
        <p:spPr>
          <a:xfrm>
            <a:off x="5148072" y="3502152"/>
            <a:ext cx="466344" cy="0"/>
          </a:xfrm>
          <a:prstGeom prst="line">
            <a:avLst/>
          </a:prstGeom>
          <a:noFill/>
          <a:ln w="19050">
            <a:solidFill>
              <a:srgbClr val="007F79"/>
            </a:solidFill>
            <a:prstDash val="solid"/>
            <a:headEnd type="none"/>
            <a:tailEnd type="triangle"/>
          </a:ln>
        </p:spPr>
      </p:sp>
      <p:sp>
        <p:nvSpPr>
          <p:cNvPr id="39" name="Shape 37"/>
          <p:cNvSpPr/>
          <p:nvPr/>
        </p:nvSpPr>
        <p:spPr>
          <a:xfrm>
            <a:off x="6620256" y="3776472"/>
            <a:ext cx="0" cy="173736"/>
          </a:xfrm>
          <a:prstGeom prst="line">
            <a:avLst/>
          </a:prstGeom>
          <a:noFill/>
          <a:ln w="19050">
            <a:solidFill>
              <a:srgbClr val="007F79"/>
            </a:solidFill>
            <a:prstDash val="solid"/>
            <a:headEnd type="none"/>
            <a:tailEnd type="triangle"/>
          </a:ln>
        </p:spPr>
      </p:sp>
      <p:sp>
        <p:nvSpPr>
          <p:cNvPr id="40" name="Shape 38"/>
          <p:cNvSpPr/>
          <p:nvPr/>
        </p:nvSpPr>
        <p:spPr>
          <a:xfrm>
            <a:off x="8513064" y="4526280"/>
            <a:ext cx="402336" cy="173736"/>
          </a:xfrm>
          <a:prstGeom prst="line">
            <a:avLst/>
          </a:prstGeom>
          <a:noFill/>
          <a:ln w="19050">
            <a:solidFill>
              <a:srgbClr val="007F79"/>
            </a:solidFill>
            <a:prstDash val="solid"/>
            <a:headEnd type="none"/>
            <a:tailEnd type="triangle"/>
          </a:ln>
        </p:spPr>
      </p:sp>
      <p:sp>
        <p:nvSpPr>
          <p:cNvPr id="41" name="Shape 39"/>
          <p:cNvSpPr/>
          <p:nvPr/>
        </p:nvSpPr>
        <p:spPr>
          <a:xfrm flipV="1">
            <a:off x="11567160" y="3511296"/>
            <a:ext cx="0" cy="1472184"/>
          </a:xfrm>
          <a:prstGeom prst="line">
            <a:avLst/>
          </a:prstGeom>
          <a:noFill/>
          <a:ln w="19050">
            <a:solidFill>
              <a:srgbClr val="007F79"/>
            </a:solidFill>
            <a:prstDash val="solid"/>
            <a:headEnd type="none"/>
            <a:tailEnd type="none"/>
          </a:ln>
        </p:spPr>
      </p:sp>
      <p:sp>
        <p:nvSpPr>
          <p:cNvPr id="42" name="Shape 40"/>
          <p:cNvSpPr/>
          <p:nvPr/>
        </p:nvSpPr>
        <p:spPr>
          <a:xfrm flipH="1">
            <a:off x="11484864" y="3511296"/>
            <a:ext cx="82296" cy="0"/>
          </a:xfrm>
          <a:prstGeom prst="line">
            <a:avLst/>
          </a:prstGeom>
          <a:noFill/>
          <a:ln w="19050">
            <a:solidFill>
              <a:srgbClr val="007F79"/>
            </a:solidFill>
            <a:prstDash val="solid"/>
            <a:headEnd type="none"/>
            <a:tailEnd type="triangle"/>
          </a:ln>
        </p:spPr>
      </p:sp>
      <p:sp>
        <p:nvSpPr>
          <p:cNvPr id="43" name="Shape 41"/>
          <p:cNvSpPr/>
          <p:nvPr/>
        </p:nvSpPr>
        <p:spPr>
          <a:xfrm flipV="1">
            <a:off x="10515600" y="3054096"/>
            <a:ext cx="0" cy="173736"/>
          </a:xfrm>
          <a:prstGeom prst="line">
            <a:avLst/>
          </a:prstGeom>
          <a:noFill/>
          <a:ln w="19050">
            <a:solidFill>
              <a:srgbClr val="007F79"/>
            </a:solidFill>
            <a:prstDash val="solid"/>
            <a:headEnd type="none"/>
            <a:tailEnd type="triangle"/>
          </a:ln>
        </p:spPr>
      </p:sp>
      <p:sp>
        <p:nvSpPr>
          <p:cNvPr id="44" name="Shape 42"/>
          <p:cNvSpPr/>
          <p:nvPr/>
        </p:nvSpPr>
        <p:spPr>
          <a:xfrm flipV="1">
            <a:off x="4681728" y="3044952"/>
            <a:ext cx="0" cy="173736"/>
          </a:xfrm>
          <a:prstGeom prst="line">
            <a:avLst/>
          </a:prstGeom>
          <a:noFill/>
          <a:ln w="19050">
            <a:solidFill>
              <a:srgbClr val="CB6338"/>
            </a:solidFill>
            <a:prstDash val="solid"/>
            <a:headEnd type="none"/>
            <a:tailEnd type="triangle"/>
          </a:ln>
        </p:spPr>
      </p:sp>
      <p:sp>
        <p:nvSpPr>
          <p:cNvPr id="45" name="Shape 43"/>
          <p:cNvSpPr/>
          <p:nvPr/>
        </p:nvSpPr>
        <p:spPr>
          <a:xfrm>
            <a:off x="5394960" y="3017520"/>
            <a:ext cx="0" cy="137160"/>
          </a:xfrm>
          <a:prstGeom prst="line">
            <a:avLst/>
          </a:prstGeom>
          <a:noFill/>
          <a:ln w="19050">
            <a:solidFill>
              <a:srgbClr val="CB6338"/>
            </a:solidFill>
            <a:prstDash val="solid"/>
            <a:headEnd type="none"/>
            <a:tailEnd type="none"/>
          </a:ln>
        </p:spPr>
      </p:sp>
      <p:sp>
        <p:nvSpPr>
          <p:cNvPr id="46" name="Shape 44"/>
          <p:cNvSpPr/>
          <p:nvPr/>
        </p:nvSpPr>
        <p:spPr>
          <a:xfrm flipH="1">
            <a:off x="4023360" y="3154680"/>
            <a:ext cx="1371600" cy="0"/>
          </a:xfrm>
          <a:prstGeom prst="line">
            <a:avLst/>
          </a:prstGeom>
          <a:noFill/>
          <a:ln w="19050">
            <a:solidFill>
              <a:srgbClr val="CB6338"/>
            </a:solidFill>
            <a:prstDash val="solid"/>
            <a:headEnd type="none"/>
            <a:tailEnd type="none"/>
          </a:ln>
        </p:spPr>
      </p:sp>
      <p:sp>
        <p:nvSpPr>
          <p:cNvPr id="47" name="Shape 45"/>
          <p:cNvSpPr/>
          <p:nvPr/>
        </p:nvSpPr>
        <p:spPr>
          <a:xfrm>
            <a:off x="4023360" y="3154680"/>
            <a:ext cx="0" cy="64008"/>
          </a:xfrm>
          <a:prstGeom prst="line">
            <a:avLst/>
          </a:prstGeom>
          <a:noFill/>
          <a:ln w="19050">
            <a:solidFill>
              <a:srgbClr val="CB6338"/>
            </a:solidFill>
            <a:prstDash val="solid"/>
            <a:headEnd type="none"/>
            <a:tailEnd type="triangle"/>
          </a:ln>
        </p:spPr>
      </p:sp>
      <p:sp>
        <p:nvSpPr>
          <p:cNvPr id="48" name="Shape 46"/>
          <p:cNvSpPr/>
          <p:nvPr/>
        </p:nvSpPr>
        <p:spPr>
          <a:xfrm>
            <a:off x="457200" y="5605272"/>
            <a:ext cx="11247120" cy="566928"/>
          </a:xfrm>
          <a:prstGeom prst="rect">
            <a:avLst/>
          </a:prstGeom>
          <a:solidFill>
            <a:srgbClr val="F3E4D8"/>
          </a:solidFill>
          <a:ln w="8890">
            <a:solidFill>
              <a:srgbClr val="F3E4D8"/>
            </a:solidFill>
            <a:prstDash val="solid"/>
          </a:ln>
        </p:spPr>
      </p:sp>
      <p:sp>
        <p:nvSpPr>
          <p:cNvPr id="49" name="Text 47"/>
          <p:cNvSpPr/>
          <p:nvPr/>
        </p:nvSpPr>
        <p:spPr>
          <a:xfrm>
            <a:off x="603504" y="5660136"/>
            <a:ext cx="10954512" cy="448056"/>
          </a:xfrm>
          <a:prstGeom prst="rect">
            <a:avLst/>
          </a:prstGeom>
          <a:noFill/>
          <a:ln/>
        </p:spPr>
        <p:txBody>
          <a:bodyPr wrap="square" lIns="0" tIns="0" rIns="0" bIns="0" rtlCol="0" anchor="ctr"/>
          <a:lstStyle/>
          <a:p>
            <a:pPr indent="0" marL="0">
              <a:buNone/>
            </a:pPr>
            <a:r>
              <a:rPr lang="en-US" sz="1500" b="1" dirty="0">
                <a:solidFill>
                  <a:srgbClr val="B34735"/>
                </a:solidFill>
                <a:latin typeface="Arial" pitchFamily="34" charset="0"/>
                <a:ea typeface="Arial" pitchFamily="34" charset="-122"/>
                <a:cs typeface="Arial" pitchFamily="34" charset="-120"/>
              </a:rPr>
              <a:t>Thiếu → bổ sung và kiểm tra lại   •   Không đủ điều kiện → trình từ chối   •   Quá hạn → rà chiều thứ Sáu</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GIẢ THUYẾT ĐIỂM NGHẼN</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Kiểm chứng các vị trí gây trễ trên cùng tiêu chí</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Chưa xếp hạng nguyên nhân trước khi xem dữ liệu.</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05</a:t>
            </a:r>
            <a:endParaRPr lang="en-US" sz="1200" dirty="0"/>
          </a:p>
        </p:txBody>
      </p:sp>
      <p:sp>
        <p:nvSpPr>
          <p:cNvPr id="9" name="Shape 7"/>
          <p:cNvSpPr/>
          <p:nvPr/>
        </p:nvSpPr>
        <p:spPr>
          <a:xfrm>
            <a:off x="457200" y="2377440"/>
            <a:ext cx="5532120" cy="1088136"/>
          </a:xfrm>
          <a:prstGeom prst="rect">
            <a:avLst/>
          </a:prstGeom>
          <a:solidFill>
            <a:srgbClr val="FFFFFF"/>
          </a:solidFill>
          <a:ln w="8890">
            <a:solidFill>
              <a:srgbClr val="FFFFFF"/>
            </a:solidFill>
            <a:prstDash val="solid"/>
          </a:ln>
        </p:spPr>
      </p:sp>
      <p:sp>
        <p:nvSpPr>
          <p:cNvPr id="10" name="Shape 8"/>
          <p:cNvSpPr/>
          <p:nvPr/>
        </p:nvSpPr>
        <p:spPr>
          <a:xfrm>
            <a:off x="457200" y="2377440"/>
            <a:ext cx="54864" cy="1088136"/>
          </a:xfrm>
          <a:prstGeom prst="rect">
            <a:avLst/>
          </a:prstGeom>
          <a:solidFill>
            <a:srgbClr val="007F79"/>
          </a:solidFill>
          <a:ln w="8890">
            <a:solidFill>
              <a:srgbClr val="007F79"/>
            </a:solidFill>
            <a:prstDash val="solid"/>
          </a:ln>
        </p:spPr>
      </p:sp>
      <p:sp>
        <p:nvSpPr>
          <p:cNvPr id="11" name="Text 9"/>
          <p:cNvSpPr/>
          <p:nvPr/>
        </p:nvSpPr>
        <p:spPr>
          <a:xfrm>
            <a:off x="658368" y="2468880"/>
            <a:ext cx="5129784" cy="310896"/>
          </a:xfrm>
          <a:prstGeom prst="rect">
            <a:avLst/>
          </a:prstGeom>
          <a:noFill/>
          <a:ln/>
        </p:spPr>
        <p:txBody>
          <a:bodyPr wrap="square" lIns="0" tIns="0" rIns="0" bIns="0" rtlCol="0" anchor="ctr"/>
          <a:lstStyle/>
          <a:p>
            <a:pPr indent="0" marL="0">
              <a:buNone/>
            </a:pPr>
            <a:r>
              <a:rPr lang="en-US" sz="2000" b="1" dirty="0">
                <a:solidFill>
                  <a:srgbClr val="007F79"/>
                </a:solidFill>
                <a:latin typeface="Arial" pitchFamily="34" charset="0"/>
                <a:ea typeface="Arial" pitchFamily="34" charset="-122"/>
                <a:cs typeface="Arial" pitchFamily="34" charset="-120"/>
              </a:rPr>
              <a:t>Chờ trình ký</a:t>
            </a:r>
            <a:endParaRPr lang="en-US" sz="2000" dirty="0"/>
          </a:p>
        </p:txBody>
      </p:sp>
      <p:sp>
        <p:nvSpPr>
          <p:cNvPr id="12" name="Text 10"/>
          <p:cNvSpPr/>
          <p:nvPr/>
        </p:nvSpPr>
        <p:spPr>
          <a:xfrm>
            <a:off x="658368" y="2843784"/>
            <a:ext cx="5129784" cy="539496"/>
          </a:xfrm>
          <a:prstGeom prst="rect">
            <a:avLst/>
          </a:prstGeom>
          <a:noFill/>
          <a:ln/>
        </p:spPr>
        <p:txBody>
          <a:bodyPr wrap="square" lIns="0" tIns="0" rIns="0" bIns="0" rtlCol="0" anchor="ctr"/>
          <a:lstStyle/>
          <a:p>
            <a:pPr indent="0" marL="0">
              <a:buNone/>
            </a:pPr>
            <a:r>
              <a:rPr lang="en-US" sz="1600" dirty="0">
                <a:solidFill>
                  <a:srgbClr val="193541"/>
                </a:solidFill>
                <a:latin typeface="Arial" pitchFamily="34" charset="0"/>
                <a:ea typeface="Arial" pitchFamily="34" charset="-122"/>
                <a:cs typeface="Arial" pitchFamily="34" charset="-120"/>
              </a:rPr>
              <a:t>Ký theo đợt, người ký vắng</a:t>
            </a:r>
            <a:endParaRPr lang="en-US" sz="1600" dirty="0"/>
          </a:p>
          <a:p>
            <a:pPr indent="0" marL="0">
              <a:buNone/>
            </a:pPr>
            <a:r>
              <a:rPr lang="en-US" sz="1600" dirty="0">
                <a:solidFill>
                  <a:srgbClr val="193541"/>
                </a:solidFill>
                <a:latin typeface="Arial" pitchFamily="34" charset="0"/>
                <a:ea typeface="Arial" pitchFamily="34" charset="-122"/>
                <a:cs typeface="Arial" pitchFamily="34" charset="-120"/>
              </a:rPr>
              <a:t>Kéo dài thời gian phía trường</a:t>
            </a:r>
            <a:endParaRPr lang="en-US" sz="1600" dirty="0"/>
          </a:p>
        </p:txBody>
      </p:sp>
      <p:sp>
        <p:nvSpPr>
          <p:cNvPr id="13" name="Shape 11"/>
          <p:cNvSpPr/>
          <p:nvPr/>
        </p:nvSpPr>
        <p:spPr>
          <a:xfrm>
            <a:off x="6172200" y="2377440"/>
            <a:ext cx="5532120" cy="1088136"/>
          </a:xfrm>
          <a:prstGeom prst="rect">
            <a:avLst/>
          </a:prstGeom>
          <a:solidFill>
            <a:srgbClr val="FFFFFF"/>
          </a:solidFill>
          <a:ln w="8890">
            <a:solidFill>
              <a:srgbClr val="FFFFFF"/>
            </a:solidFill>
            <a:prstDash val="solid"/>
          </a:ln>
        </p:spPr>
      </p:sp>
      <p:sp>
        <p:nvSpPr>
          <p:cNvPr id="14" name="Shape 12"/>
          <p:cNvSpPr/>
          <p:nvPr/>
        </p:nvSpPr>
        <p:spPr>
          <a:xfrm>
            <a:off x="6172200" y="2377440"/>
            <a:ext cx="54864" cy="1088136"/>
          </a:xfrm>
          <a:prstGeom prst="rect">
            <a:avLst/>
          </a:prstGeom>
          <a:solidFill>
            <a:srgbClr val="007F79"/>
          </a:solidFill>
          <a:ln w="8890">
            <a:solidFill>
              <a:srgbClr val="007F79"/>
            </a:solidFill>
            <a:prstDash val="solid"/>
          </a:ln>
        </p:spPr>
      </p:sp>
      <p:sp>
        <p:nvSpPr>
          <p:cNvPr id="15" name="Text 13"/>
          <p:cNvSpPr/>
          <p:nvPr/>
        </p:nvSpPr>
        <p:spPr>
          <a:xfrm>
            <a:off x="6373368" y="2468880"/>
            <a:ext cx="5129784" cy="310896"/>
          </a:xfrm>
          <a:prstGeom prst="rect">
            <a:avLst/>
          </a:prstGeom>
          <a:noFill/>
          <a:ln/>
        </p:spPr>
        <p:txBody>
          <a:bodyPr wrap="square" lIns="0" tIns="0" rIns="0" bIns="0" rtlCol="0" anchor="ctr"/>
          <a:lstStyle/>
          <a:p>
            <a:pPr indent="0" marL="0">
              <a:buNone/>
            </a:pPr>
            <a:r>
              <a:rPr lang="en-US" sz="2000" b="1" dirty="0">
                <a:solidFill>
                  <a:srgbClr val="007F79"/>
                </a:solidFill>
                <a:latin typeface="Arial" pitchFamily="34" charset="0"/>
                <a:ea typeface="Arial" pitchFamily="34" charset="-122"/>
                <a:cs typeface="Arial" pitchFamily="34" charset="-120"/>
              </a:rPr>
              <a:t>Vòng bổ sung</a:t>
            </a:r>
            <a:endParaRPr lang="en-US" sz="2000" dirty="0"/>
          </a:p>
        </p:txBody>
      </p:sp>
      <p:sp>
        <p:nvSpPr>
          <p:cNvPr id="16" name="Text 14"/>
          <p:cNvSpPr/>
          <p:nvPr/>
        </p:nvSpPr>
        <p:spPr>
          <a:xfrm>
            <a:off x="6373368" y="2843784"/>
            <a:ext cx="5129784" cy="539496"/>
          </a:xfrm>
          <a:prstGeom prst="rect">
            <a:avLst/>
          </a:prstGeom>
          <a:noFill/>
          <a:ln/>
        </p:spPr>
        <p:txBody>
          <a:bodyPr wrap="square" lIns="0" tIns="0" rIns="0" bIns="0" rtlCol="0" anchor="ctr"/>
          <a:lstStyle/>
          <a:p>
            <a:pPr indent="0" marL="0">
              <a:buNone/>
            </a:pPr>
            <a:r>
              <a:rPr lang="en-US" sz="1600" dirty="0">
                <a:solidFill>
                  <a:srgbClr val="193541"/>
                </a:solidFill>
                <a:latin typeface="Arial" pitchFamily="34" charset="0"/>
                <a:ea typeface="Arial" pitchFamily="34" charset="-122"/>
                <a:cs typeface="Arial" pitchFamily="34" charset="-120"/>
              </a:rPr>
              <a:t>Biểu mẫu và yêu cầu chưa rõ</a:t>
            </a:r>
            <a:endParaRPr lang="en-US" sz="1600" dirty="0"/>
          </a:p>
          <a:p>
            <a:pPr indent="0" marL="0">
              <a:buNone/>
            </a:pPr>
            <a:r>
              <a:rPr lang="en-US" sz="1600" dirty="0">
                <a:solidFill>
                  <a:srgbClr val="193541"/>
                </a:solidFill>
                <a:latin typeface="Arial" pitchFamily="34" charset="0"/>
                <a:ea typeface="Arial" pitchFamily="34" charset="-122"/>
                <a:cs typeface="Arial" pitchFamily="34" charset="-120"/>
              </a:rPr>
              <a:t>Làm lại; nguy cơ hồ sơ bị đóng</a:t>
            </a:r>
            <a:endParaRPr lang="en-US" sz="1600" dirty="0"/>
          </a:p>
        </p:txBody>
      </p:sp>
      <p:sp>
        <p:nvSpPr>
          <p:cNvPr id="17" name="Shape 15"/>
          <p:cNvSpPr/>
          <p:nvPr/>
        </p:nvSpPr>
        <p:spPr>
          <a:xfrm>
            <a:off x="457200" y="3611880"/>
            <a:ext cx="5532120" cy="1088136"/>
          </a:xfrm>
          <a:prstGeom prst="rect">
            <a:avLst/>
          </a:prstGeom>
          <a:solidFill>
            <a:srgbClr val="FFFFFF"/>
          </a:solidFill>
          <a:ln w="8890">
            <a:solidFill>
              <a:srgbClr val="FFFFFF"/>
            </a:solidFill>
            <a:prstDash val="solid"/>
          </a:ln>
        </p:spPr>
      </p:sp>
      <p:sp>
        <p:nvSpPr>
          <p:cNvPr id="18" name="Shape 16"/>
          <p:cNvSpPr/>
          <p:nvPr/>
        </p:nvSpPr>
        <p:spPr>
          <a:xfrm>
            <a:off x="457200" y="3611880"/>
            <a:ext cx="54864" cy="1088136"/>
          </a:xfrm>
          <a:prstGeom prst="rect">
            <a:avLst/>
          </a:prstGeom>
          <a:solidFill>
            <a:srgbClr val="007F79"/>
          </a:solidFill>
          <a:ln w="8890">
            <a:solidFill>
              <a:srgbClr val="007F79"/>
            </a:solidFill>
            <a:prstDash val="solid"/>
          </a:ln>
        </p:spPr>
      </p:sp>
      <p:sp>
        <p:nvSpPr>
          <p:cNvPr id="19" name="Text 17"/>
          <p:cNvSpPr/>
          <p:nvPr/>
        </p:nvSpPr>
        <p:spPr>
          <a:xfrm>
            <a:off x="658368" y="3703320"/>
            <a:ext cx="5129784" cy="310896"/>
          </a:xfrm>
          <a:prstGeom prst="rect">
            <a:avLst/>
          </a:prstGeom>
          <a:noFill/>
          <a:ln/>
        </p:spPr>
        <p:txBody>
          <a:bodyPr wrap="square" lIns="0" tIns="0" rIns="0" bIns="0" rtlCol="0" anchor="ctr"/>
          <a:lstStyle/>
          <a:p>
            <a:pPr indent="0" marL="0">
              <a:buNone/>
            </a:pPr>
            <a:r>
              <a:rPr lang="en-US" sz="2000" b="1" dirty="0">
                <a:solidFill>
                  <a:srgbClr val="007F79"/>
                </a:solidFill>
                <a:latin typeface="Arial" pitchFamily="34" charset="0"/>
                <a:ea typeface="Arial" pitchFamily="34" charset="-122"/>
                <a:cs typeface="Arial" pitchFamily="34" charset="-120"/>
              </a:rPr>
              <a:t>Chờ kiểm tra đầu vào</a:t>
            </a:r>
            <a:endParaRPr lang="en-US" sz="2000" dirty="0"/>
          </a:p>
        </p:txBody>
      </p:sp>
      <p:sp>
        <p:nvSpPr>
          <p:cNvPr id="20" name="Text 18"/>
          <p:cNvSpPr/>
          <p:nvPr/>
        </p:nvSpPr>
        <p:spPr>
          <a:xfrm>
            <a:off x="658368" y="4078224"/>
            <a:ext cx="5129784" cy="539496"/>
          </a:xfrm>
          <a:prstGeom prst="rect">
            <a:avLst/>
          </a:prstGeom>
          <a:noFill/>
          <a:ln/>
        </p:spPr>
        <p:txBody>
          <a:bodyPr wrap="square" lIns="0" tIns="0" rIns="0" bIns="0" rtlCol="0" anchor="ctr"/>
          <a:lstStyle/>
          <a:p>
            <a:pPr indent="0" marL="0">
              <a:buNone/>
            </a:pPr>
            <a:r>
              <a:rPr lang="en-US" sz="1600" dirty="0">
                <a:solidFill>
                  <a:srgbClr val="193541"/>
                </a:solidFill>
                <a:latin typeface="Arial" pitchFamily="34" charset="0"/>
                <a:ea typeface="Arial" pitchFamily="34" charset="-122"/>
                <a:cs typeface="Arial" pitchFamily="34" charset="-120"/>
              </a:rPr>
              <a:t>Cán bộ kiêm nhiệm, tra cứu thủ công</a:t>
            </a:r>
            <a:endParaRPr lang="en-US" sz="1600" dirty="0"/>
          </a:p>
          <a:p>
            <a:pPr indent="0" marL="0">
              <a:buNone/>
            </a:pPr>
            <a:r>
              <a:rPr lang="en-US" sz="1600" dirty="0">
                <a:solidFill>
                  <a:srgbClr val="193541"/>
                </a:solidFill>
                <a:latin typeface="Arial" pitchFamily="34" charset="0"/>
                <a:ea typeface="Arial" pitchFamily="34" charset="-122"/>
                <a:cs typeface="Arial" pitchFamily="34" charset="-120"/>
              </a:rPr>
              <a:t>Tồn hồ sơ trước bước kiểm tra</a:t>
            </a:r>
            <a:endParaRPr lang="en-US" sz="1600" dirty="0"/>
          </a:p>
        </p:txBody>
      </p:sp>
      <p:sp>
        <p:nvSpPr>
          <p:cNvPr id="21" name="Shape 19"/>
          <p:cNvSpPr/>
          <p:nvPr/>
        </p:nvSpPr>
        <p:spPr>
          <a:xfrm>
            <a:off x="6172200" y="3611880"/>
            <a:ext cx="5532120" cy="1088136"/>
          </a:xfrm>
          <a:prstGeom prst="rect">
            <a:avLst/>
          </a:prstGeom>
          <a:solidFill>
            <a:srgbClr val="FFFFFF"/>
          </a:solidFill>
          <a:ln w="8890">
            <a:solidFill>
              <a:srgbClr val="FFFFFF"/>
            </a:solidFill>
            <a:prstDash val="solid"/>
          </a:ln>
        </p:spPr>
      </p:sp>
      <p:sp>
        <p:nvSpPr>
          <p:cNvPr id="22" name="Shape 20"/>
          <p:cNvSpPr/>
          <p:nvPr/>
        </p:nvSpPr>
        <p:spPr>
          <a:xfrm>
            <a:off x="6172200" y="3611880"/>
            <a:ext cx="54864" cy="1088136"/>
          </a:xfrm>
          <a:prstGeom prst="rect">
            <a:avLst/>
          </a:prstGeom>
          <a:solidFill>
            <a:srgbClr val="007F79"/>
          </a:solidFill>
          <a:ln w="8890">
            <a:solidFill>
              <a:srgbClr val="007F79"/>
            </a:solidFill>
            <a:prstDash val="solid"/>
          </a:ln>
        </p:spPr>
      </p:sp>
      <p:sp>
        <p:nvSpPr>
          <p:cNvPr id="23" name="Text 21"/>
          <p:cNvSpPr/>
          <p:nvPr/>
        </p:nvSpPr>
        <p:spPr>
          <a:xfrm>
            <a:off x="6373368" y="3703320"/>
            <a:ext cx="5129784" cy="310896"/>
          </a:xfrm>
          <a:prstGeom prst="rect">
            <a:avLst/>
          </a:prstGeom>
          <a:noFill/>
          <a:ln/>
        </p:spPr>
        <p:txBody>
          <a:bodyPr wrap="square" lIns="0" tIns="0" rIns="0" bIns="0" rtlCol="0" anchor="ctr"/>
          <a:lstStyle/>
          <a:p>
            <a:pPr indent="0" marL="0">
              <a:buNone/>
            </a:pPr>
            <a:r>
              <a:rPr lang="en-US" sz="2000" b="1" dirty="0">
                <a:solidFill>
                  <a:srgbClr val="007F79"/>
                </a:solidFill>
                <a:latin typeface="Arial" pitchFamily="34" charset="0"/>
                <a:ea typeface="Arial" pitchFamily="34" charset="-122"/>
                <a:cs typeface="Arial" pitchFamily="34" charset="-120"/>
              </a:rPr>
              <a:t>Chờ chuyển sang đóng dấu</a:t>
            </a:r>
            <a:endParaRPr lang="en-US" sz="2000" dirty="0"/>
          </a:p>
        </p:txBody>
      </p:sp>
      <p:sp>
        <p:nvSpPr>
          <p:cNvPr id="24" name="Text 22"/>
          <p:cNvSpPr/>
          <p:nvPr/>
        </p:nvSpPr>
        <p:spPr>
          <a:xfrm>
            <a:off x="6373368" y="4078224"/>
            <a:ext cx="5129784" cy="539496"/>
          </a:xfrm>
          <a:prstGeom prst="rect">
            <a:avLst/>
          </a:prstGeom>
          <a:noFill/>
          <a:ln/>
        </p:spPr>
        <p:txBody>
          <a:bodyPr wrap="square" lIns="0" tIns="0" rIns="0" bIns="0" rtlCol="0" anchor="ctr"/>
          <a:lstStyle/>
          <a:p>
            <a:pPr indent="0" marL="0">
              <a:buNone/>
            </a:pPr>
            <a:r>
              <a:rPr lang="en-US" sz="1600" dirty="0">
                <a:solidFill>
                  <a:srgbClr val="193541"/>
                </a:solidFill>
                <a:latin typeface="Arial" pitchFamily="34" charset="0"/>
                <a:ea typeface="Arial" pitchFamily="34" charset="-122"/>
                <a:cs typeface="Arial" pitchFamily="34" charset="-120"/>
              </a:rPr>
              <a:t>Chuyển giấy theo lô, thiếu đầu mối</a:t>
            </a:r>
            <a:endParaRPr lang="en-US" sz="1600" dirty="0"/>
          </a:p>
          <a:p>
            <a:pPr indent="0" marL="0">
              <a:buNone/>
            </a:pPr>
            <a:r>
              <a:rPr lang="en-US" sz="1600" dirty="0">
                <a:solidFill>
                  <a:srgbClr val="193541"/>
                </a:solidFill>
                <a:latin typeface="Arial" pitchFamily="34" charset="0"/>
                <a:ea typeface="Arial" pitchFamily="34" charset="-122"/>
                <a:cs typeface="Arial" pitchFamily="34" charset="-120"/>
              </a:rPr>
              <a:t>Giấy đã ký vẫn chưa đến sinh viên</a:t>
            </a:r>
            <a:endParaRPr lang="en-US" sz="1600" dirty="0"/>
          </a:p>
        </p:txBody>
      </p:sp>
      <p:sp>
        <p:nvSpPr>
          <p:cNvPr id="25" name="Shape 23"/>
          <p:cNvSpPr/>
          <p:nvPr/>
        </p:nvSpPr>
        <p:spPr>
          <a:xfrm>
            <a:off x="457200" y="5120640"/>
            <a:ext cx="11247120" cy="1033272"/>
          </a:xfrm>
          <a:prstGeom prst="rect">
            <a:avLst/>
          </a:prstGeom>
          <a:solidFill>
            <a:srgbClr val="122D3A"/>
          </a:solidFill>
          <a:ln w="8890">
            <a:solidFill>
              <a:srgbClr val="122D3A"/>
            </a:solidFill>
            <a:prstDash val="solid"/>
          </a:ln>
        </p:spPr>
      </p:sp>
      <p:sp>
        <p:nvSpPr>
          <p:cNvPr id="26" name="Text 24"/>
          <p:cNvSpPr/>
          <p:nvPr/>
        </p:nvSpPr>
        <p:spPr>
          <a:xfrm>
            <a:off x="676656" y="5248656"/>
            <a:ext cx="2834640" cy="365760"/>
          </a:xfrm>
          <a:prstGeom prst="rect">
            <a:avLst/>
          </a:prstGeom>
          <a:noFill/>
          <a:ln/>
        </p:spPr>
        <p:txBody>
          <a:bodyPr wrap="square" lIns="0" tIns="0" rIns="0" bIns="0" rtlCol="0" anchor="ctr"/>
          <a:lstStyle/>
          <a:p>
            <a:pPr indent="0" marL="0">
              <a:buNone/>
            </a:pPr>
            <a:r>
              <a:rPr lang="en-US" sz="1900" b="1" dirty="0">
                <a:solidFill>
                  <a:srgbClr val="8DD3C7"/>
                </a:solidFill>
                <a:latin typeface="Arial" pitchFamily="34" charset="0"/>
                <a:ea typeface="Arial" pitchFamily="34" charset="-122"/>
                <a:cs typeface="Arial" pitchFamily="34" charset="-120"/>
              </a:rPr>
              <a:t>Tiêu chí công bố trước</a:t>
            </a:r>
            <a:endParaRPr lang="en-US" sz="1900" dirty="0"/>
          </a:p>
        </p:txBody>
      </p:sp>
      <p:sp>
        <p:nvSpPr>
          <p:cNvPr id="27" name="Text 25"/>
          <p:cNvSpPr/>
          <p:nvPr/>
        </p:nvSpPr>
        <p:spPr>
          <a:xfrm>
            <a:off x="3749040" y="5239512"/>
            <a:ext cx="7589520" cy="722376"/>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Top 3 thời gian chờ • Ít nhất một nửa số ca vượt ngưỡng</a:t>
            </a: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Có bằng chứng nguyên nhân • Tính theo giờ làm việc</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THIẾT KẾ PHÉP SO SÁNH</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Ghép cặp hồ sơ để giảm nhiễu giữa các kịch bản</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Giữ cùng cơ sở ngẫu nhiên; chỉ thay những giả định cần đánh giá.</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06</a:t>
            </a:r>
            <a:endParaRPr lang="en-US" sz="1200" dirty="0"/>
          </a:p>
        </p:txBody>
      </p:sp>
      <p:sp>
        <p:nvSpPr>
          <p:cNvPr id="9" name="Shape 7"/>
          <p:cNvSpPr/>
          <p:nvPr/>
        </p:nvSpPr>
        <p:spPr>
          <a:xfrm>
            <a:off x="9326880" y="228600"/>
            <a:ext cx="2377440" cy="310896"/>
          </a:xfrm>
          <a:prstGeom prst="rect">
            <a:avLst/>
          </a:prstGeom>
          <a:solidFill>
            <a:srgbClr val="F3E4D8"/>
          </a:solidFill>
          <a:ln w="8890">
            <a:solidFill>
              <a:srgbClr val="F3E4D8"/>
            </a:solidFill>
            <a:prstDash val="solid"/>
          </a:ln>
        </p:spPr>
      </p:sp>
      <p:sp>
        <p:nvSpPr>
          <p:cNvPr id="10" name="Text 8"/>
          <p:cNvSpPr/>
          <p:nvPr/>
        </p:nvSpPr>
        <p:spPr>
          <a:xfrm>
            <a:off x="9409176" y="228600"/>
            <a:ext cx="2212848" cy="310896"/>
          </a:xfrm>
          <a:prstGeom prst="rect">
            <a:avLst/>
          </a:prstGeom>
          <a:noFill/>
          <a:ln/>
        </p:spPr>
        <p:txBody>
          <a:bodyPr wrap="square" lIns="0" tIns="0" rIns="0" bIns="0" rtlCol="0" anchor="ctr"/>
          <a:lstStyle/>
          <a:p>
            <a:pPr indent="0" marL="0">
              <a:buNone/>
            </a:pPr>
            <a:r>
              <a:rPr lang="en-US" sz="1400" b="1" dirty="0">
                <a:solidFill>
                  <a:srgbClr val="B34735"/>
                </a:solidFill>
                <a:latin typeface="Arial" pitchFamily="34" charset="0"/>
                <a:ea typeface="Arial" pitchFamily="34" charset="-122"/>
                <a:cs typeface="Arial" pitchFamily="34" charset="-120"/>
              </a:rPr>
              <a:t>Dữ liệu mô phỏng</a:t>
            </a:r>
            <a:endParaRPr lang="en-US" sz="1400" dirty="0"/>
          </a:p>
        </p:txBody>
      </p:sp>
      <p:sp>
        <p:nvSpPr>
          <p:cNvPr id="11" name="Text 9"/>
          <p:cNvSpPr/>
          <p:nvPr/>
        </p:nvSpPr>
        <p:spPr>
          <a:xfrm>
            <a:off x="548640" y="2395728"/>
            <a:ext cx="3383280" cy="621792"/>
          </a:xfrm>
          <a:prstGeom prst="rect">
            <a:avLst/>
          </a:prstGeom>
          <a:noFill/>
          <a:ln/>
        </p:spPr>
        <p:txBody>
          <a:bodyPr wrap="square" lIns="0" tIns="0" rIns="0" bIns="0" rtlCol="0" anchor="ctr"/>
          <a:lstStyle/>
          <a:p>
            <a:pPr indent="0" marL="0">
              <a:buNone/>
            </a:pPr>
            <a:r>
              <a:rPr lang="en-US" sz="3500" b="1" dirty="0">
                <a:solidFill>
                  <a:srgbClr val="007F79"/>
                </a:solidFill>
                <a:latin typeface="Arial" pitchFamily="34" charset="0"/>
                <a:ea typeface="Arial" pitchFamily="34" charset="-122"/>
                <a:cs typeface="Arial" pitchFamily="34" charset="-120"/>
              </a:rPr>
              <a:t>400</a:t>
            </a:r>
            <a:endParaRPr lang="en-US" sz="3500" dirty="0"/>
          </a:p>
        </p:txBody>
      </p:sp>
      <p:sp>
        <p:nvSpPr>
          <p:cNvPr id="12" name="Text 10"/>
          <p:cNvSpPr/>
          <p:nvPr/>
        </p:nvSpPr>
        <p:spPr>
          <a:xfrm>
            <a:off x="548640" y="3090672"/>
            <a:ext cx="3383280" cy="594360"/>
          </a:xfrm>
          <a:prstGeom prst="rect">
            <a:avLst/>
          </a:prstGeom>
          <a:noFill/>
          <a:ln/>
        </p:spPr>
        <p:txBody>
          <a:bodyPr wrap="square" lIns="0" tIns="0" rIns="0" bIns="0" rtlCol="0" anchor="ctr"/>
          <a:lstStyle/>
          <a:p>
            <a:pPr indent="0" marL="0">
              <a:buNone/>
            </a:pPr>
            <a:r>
              <a:rPr lang="en-US" sz="1600" dirty="0">
                <a:solidFill>
                  <a:srgbClr val="526771"/>
                </a:solidFill>
                <a:latin typeface="Arial" pitchFamily="34" charset="0"/>
                <a:ea typeface="Arial" pitchFamily="34" charset="-122"/>
                <a:cs typeface="Arial" pitchFamily="34" charset="-120"/>
              </a:rPr>
              <a:t>hồ sơ mỗi lần mô phỏng</a:t>
            </a:r>
            <a:endParaRPr lang="en-US" sz="1600" dirty="0"/>
          </a:p>
        </p:txBody>
      </p:sp>
      <p:sp>
        <p:nvSpPr>
          <p:cNvPr id="13" name="Text 11"/>
          <p:cNvSpPr/>
          <p:nvPr/>
        </p:nvSpPr>
        <p:spPr>
          <a:xfrm>
            <a:off x="4434840" y="2395728"/>
            <a:ext cx="3291840" cy="621792"/>
          </a:xfrm>
          <a:prstGeom prst="rect">
            <a:avLst/>
          </a:prstGeom>
          <a:noFill/>
          <a:ln/>
        </p:spPr>
        <p:txBody>
          <a:bodyPr wrap="square" lIns="0" tIns="0" rIns="0" bIns="0" rtlCol="0" anchor="ctr"/>
          <a:lstStyle/>
          <a:p>
            <a:pPr indent="0" marL="0">
              <a:buNone/>
            </a:pPr>
            <a:r>
              <a:rPr lang="en-US" sz="3500" b="1" dirty="0">
                <a:solidFill>
                  <a:srgbClr val="007F79"/>
                </a:solidFill>
                <a:latin typeface="Arial" pitchFamily="34" charset="0"/>
                <a:ea typeface="Arial" pitchFamily="34" charset="-122"/>
                <a:cs typeface="Arial" pitchFamily="34" charset="-120"/>
              </a:rPr>
              <a:t>12 + 8</a:t>
            </a:r>
            <a:endParaRPr lang="en-US" sz="3500" dirty="0"/>
          </a:p>
        </p:txBody>
      </p:sp>
      <p:sp>
        <p:nvSpPr>
          <p:cNvPr id="14" name="Text 12"/>
          <p:cNvSpPr/>
          <p:nvPr/>
        </p:nvSpPr>
        <p:spPr>
          <a:xfrm>
            <a:off x="4434840" y="3090672"/>
            <a:ext cx="3291840" cy="594360"/>
          </a:xfrm>
          <a:prstGeom prst="rect">
            <a:avLst/>
          </a:prstGeom>
          <a:noFill/>
          <a:ln/>
        </p:spPr>
        <p:txBody>
          <a:bodyPr wrap="square" lIns="0" tIns="0" rIns="0" bIns="0" rtlCol="0" anchor="ctr"/>
          <a:lstStyle/>
          <a:p>
            <a:pPr indent="0" marL="0">
              <a:buNone/>
            </a:pPr>
            <a:r>
              <a:rPr lang="en-US" sz="1600" dirty="0">
                <a:solidFill>
                  <a:srgbClr val="526771"/>
                </a:solidFill>
                <a:latin typeface="Arial" pitchFamily="34" charset="0"/>
                <a:ea typeface="Arial" pitchFamily="34" charset="-122"/>
                <a:cs typeface="Arial" pitchFamily="34" charset="-120"/>
              </a:rPr>
              <a:t>tuần đến + tuần xả hàng</a:t>
            </a:r>
            <a:endParaRPr lang="en-US" sz="1600" dirty="0"/>
          </a:p>
        </p:txBody>
      </p:sp>
      <p:sp>
        <p:nvSpPr>
          <p:cNvPr id="15" name="Text 13"/>
          <p:cNvSpPr/>
          <p:nvPr/>
        </p:nvSpPr>
        <p:spPr>
          <a:xfrm>
            <a:off x="8366760" y="2395728"/>
            <a:ext cx="3291840" cy="621792"/>
          </a:xfrm>
          <a:prstGeom prst="rect">
            <a:avLst/>
          </a:prstGeom>
          <a:noFill/>
          <a:ln/>
        </p:spPr>
        <p:txBody>
          <a:bodyPr wrap="square" lIns="0" tIns="0" rIns="0" bIns="0" rtlCol="0" anchor="ctr"/>
          <a:lstStyle/>
          <a:p>
            <a:pPr indent="0" marL="0">
              <a:buNone/>
            </a:pPr>
            <a:r>
              <a:rPr lang="en-US" sz="3500" b="1" dirty="0">
                <a:solidFill>
                  <a:srgbClr val="007F79"/>
                </a:solidFill>
                <a:latin typeface="Arial" pitchFamily="34" charset="0"/>
                <a:ea typeface="Arial" pitchFamily="34" charset="-122"/>
                <a:cs typeface="Arial" pitchFamily="34" charset="-120"/>
              </a:rPr>
              <a:t>20</a:t>
            </a:r>
            <a:endParaRPr lang="en-US" sz="3500" dirty="0"/>
          </a:p>
        </p:txBody>
      </p:sp>
      <p:sp>
        <p:nvSpPr>
          <p:cNvPr id="16" name="Text 14"/>
          <p:cNvSpPr/>
          <p:nvPr/>
        </p:nvSpPr>
        <p:spPr>
          <a:xfrm>
            <a:off x="8366760" y="3090672"/>
            <a:ext cx="3291840" cy="594360"/>
          </a:xfrm>
          <a:prstGeom prst="rect">
            <a:avLst/>
          </a:prstGeom>
          <a:noFill/>
          <a:ln/>
        </p:spPr>
        <p:txBody>
          <a:bodyPr wrap="square" lIns="0" tIns="0" rIns="0" bIns="0" rtlCol="0" anchor="ctr"/>
          <a:lstStyle/>
          <a:p>
            <a:pPr indent="0" marL="0">
              <a:buNone/>
            </a:pPr>
            <a:r>
              <a:rPr lang="en-US" sz="1600" dirty="0">
                <a:solidFill>
                  <a:srgbClr val="526771"/>
                </a:solidFill>
                <a:latin typeface="Arial" pitchFamily="34" charset="0"/>
                <a:ea typeface="Arial" pitchFamily="34" charset="-122"/>
                <a:cs typeface="Arial" pitchFamily="34" charset="-120"/>
              </a:rPr>
              <a:t>hạt giống ngẫu nhiên độc lập</a:t>
            </a:r>
            <a:endParaRPr lang="en-US" sz="1600" dirty="0"/>
          </a:p>
        </p:txBody>
      </p:sp>
      <p:sp>
        <p:nvSpPr>
          <p:cNvPr id="17" name="Shape 15"/>
          <p:cNvSpPr/>
          <p:nvPr/>
        </p:nvSpPr>
        <p:spPr>
          <a:xfrm>
            <a:off x="457200" y="3931920"/>
            <a:ext cx="5440680" cy="1481328"/>
          </a:xfrm>
          <a:prstGeom prst="rect">
            <a:avLst/>
          </a:prstGeom>
          <a:solidFill>
            <a:srgbClr val="FFFFFF"/>
          </a:solidFill>
          <a:ln w="8890">
            <a:solidFill>
              <a:srgbClr val="FFFFFF"/>
            </a:solidFill>
            <a:prstDash val="solid"/>
          </a:ln>
        </p:spPr>
      </p:sp>
      <p:sp>
        <p:nvSpPr>
          <p:cNvPr id="18" name="Shape 16"/>
          <p:cNvSpPr/>
          <p:nvPr/>
        </p:nvSpPr>
        <p:spPr>
          <a:xfrm>
            <a:off x="457200" y="3931920"/>
            <a:ext cx="54864" cy="1481328"/>
          </a:xfrm>
          <a:prstGeom prst="rect">
            <a:avLst/>
          </a:prstGeom>
          <a:solidFill>
            <a:srgbClr val="007F79"/>
          </a:solidFill>
          <a:ln w="8890">
            <a:solidFill>
              <a:srgbClr val="007F79"/>
            </a:solidFill>
            <a:prstDash val="solid"/>
          </a:ln>
        </p:spPr>
      </p:sp>
      <p:sp>
        <p:nvSpPr>
          <p:cNvPr id="19" name="Text 17"/>
          <p:cNvSpPr/>
          <p:nvPr/>
        </p:nvSpPr>
        <p:spPr>
          <a:xfrm>
            <a:off x="658368" y="4069080"/>
            <a:ext cx="5056632" cy="384048"/>
          </a:xfrm>
          <a:prstGeom prst="rect">
            <a:avLst/>
          </a:prstGeom>
          <a:noFill/>
          <a:ln/>
        </p:spPr>
        <p:txBody>
          <a:bodyPr wrap="square" lIns="0" tIns="0" rIns="0" bIns="0" rtlCol="0" anchor="ctr"/>
          <a:lstStyle/>
          <a:p>
            <a:pPr indent="0" marL="0">
              <a:buNone/>
            </a:pPr>
            <a:r>
              <a:rPr lang="en-US" sz="2000" b="1" dirty="0">
                <a:solidFill>
                  <a:srgbClr val="007F79"/>
                </a:solidFill>
                <a:latin typeface="Arial" pitchFamily="34" charset="0"/>
                <a:ea typeface="Arial" pitchFamily="34" charset="-122"/>
                <a:cs typeface="Arial" pitchFamily="34" charset="-120"/>
              </a:rPr>
              <a:t>Giữ cố định</a:t>
            </a:r>
            <a:endParaRPr lang="en-US" sz="2000" dirty="0"/>
          </a:p>
        </p:txBody>
      </p:sp>
      <p:sp>
        <p:nvSpPr>
          <p:cNvPr id="20" name="Text 18"/>
          <p:cNvSpPr/>
          <p:nvPr/>
        </p:nvSpPr>
        <p:spPr>
          <a:xfrm>
            <a:off x="658368" y="4636008"/>
            <a:ext cx="5056632" cy="630936"/>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Loại giấy; hành vi sinh viên</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Cùng luồng ngẫu nhiên cho từng cặp hồ sơ</a:t>
            </a:r>
            <a:endParaRPr lang="en-US" sz="1700" dirty="0"/>
          </a:p>
        </p:txBody>
      </p:sp>
      <p:sp>
        <p:nvSpPr>
          <p:cNvPr id="21" name="Shape 19"/>
          <p:cNvSpPr/>
          <p:nvPr/>
        </p:nvSpPr>
        <p:spPr>
          <a:xfrm>
            <a:off x="6080760" y="3931920"/>
            <a:ext cx="5623560" cy="1481328"/>
          </a:xfrm>
          <a:prstGeom prst="rect">
            <a:avLst/>
          </a:prstGeom>
          <a:solidFill>
            <a:srgbClr val="FFFFFF"/>
          </a:solidFill>
          <a:ln w="8890">
            <a:solidFill>
              <a:srgbClr val="FFFFFF"/>
            </a:solidFill>
            <a:prstDash val="solid"/>
          </a:ln>
        </p:spPr>
      </p:sp>
      <p:sp>
        <p:nvSpPr>
          <p:cNvPr id="22" name="Shape 20"/>
          <p:cNvSpPr/>
          <p:nvPr/>
        </p:nvSpPr>
        <p:spPr>
          <a:xfrm>
            <a:off x="6080760" y="3931920"/>
            <a:ext cx="54864" cy="1481328"/>
          </a:xfrm>
          <a:prstGeom prst="rect">
            <a:avLst/>
          </a:prstGeom>
          <a:solidFill>
            <a:srgbClr val="CB6338"/>
          </a:solidFill>
          <a:ln w="8890">
            <a:solidFill>
              <a:srgbClr val="CB6338"/>
            </a:solidFill>
            <a:prstDash val="solid"/>
          </a:ln>
        </p:spPr>
      </p:sp>
      <p:sp>
        <p:nvSpPr>
          <p:cNvPr id="23" name="Text 21"/>
          <p:cNvSpPr/>
          <p:nvPr/>
        </p:nvSpPr>
        <p:spPr>
          <a:xfrm>
            <a:off x="6281928" y="4069080"/>
            <a:ext cx="5239512" cy="384048"/>
          </a:xfrm>
          <a:prstGeom prst="rect">
            <a:avLst/>
          </a:prstGeom>
          <a:noFill/>
          <a:ln/>
        </p:spPr>
        <p:txBody>
          <a:bodyPr wrap="square" lIns="0" tIns="0" rIns="0" bIns="0" rtlCol="0" anchor="ctr"/>
          <a:lstStyle/>
          <a:p>
            <a:pPr indent="0" marL="0">
              <a:buNone/>
            </a:pPr>
            <a:r>
              <a:rPr lang="en-US" sz="2000" b="1" dirty="0">
                <a:solidFill>
                  <a:srgbClr val="CB6338"/>
                </a:solidFill>
                <a:latin typeface="Arial" pitchFamily="34" charset="0"/>
                <a:ea typeface="Arial" pitchFamily="34" charset="-122"/>
                <a:cs typeface="Arial" pitchFamily="34" charset="-120"/>
              </a:rPr>
              <a:t>Thay đổi có kiểm soát</a:t>
            </a:r>
            <a:endParaRPr lang="en-US" sz="2000" dirty="0"/>
          </a:p>
        </p:txBody>
      </p:sp>
      <p:sp>
        <p:nvSpPr>
          <p:cNvPr id="24" name="Text 22"/>
          <p:cNvSpPr/>
          <p:nvPr/>
        </p:nvSpPr>
        <p:spPr>
          <a:xfrm>
            <a:off x="6281928" y="4636008"/>
            <a:ext cx="5239512" cy="630936"/>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Tự động hóa; lịch ký; kiểm tra đầu vào</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Thử thêm kịch bản tỷ lệ bổ sung giữ nguyên</a:t>
            </a:r>
            <a:endParaRPr lang="en-US" sz="1700" dirty="0"/>
          </a:p>
        </p:txBody>
      </p:sp>
      <p:sp>
        <p:nvSpPr>
          <p:cNvPr id="25" name="Shape 23"/>
          <p:cNvSpPr/>
          <p:nvPr/>
        </p:nvSpPr>
        <p:spPr>
          <a:xfrm>
            <a:off x="457200" y="5715000"/>
            <a:ext cx="11247120" cy="457200"/>
          </a:xfrm>
          <a:prstGeom prst="rect">
            <a:avLst/>
          </a:prstGeom>
          <a:solidFill>
            <a:srgbClr val="007F79"/>
          </a:solidFill>
          <a:ln w="8890">
            <a:solidFill>
              <a:srgbClr val="007F79"/>
            </a:solidFill>
            <a:prstDash val="solid"/>
          </a:ln>
        </p:spPr>
      </p:sp>
      <p:sp>
        <p:nvSpPr>
          <p:cNvPr id="26" name="Text 24"/>
          <p:cNvSpPr/>
          <p:nvPr/>
        </p:nvSpPr>
        <p:spPr>
          <a:xfrm>
            <a:off x="640080" y="5733288"/>
            <a:ext cx="1088136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Đơn vị: phút làm việc • Một ngày làm việc = 450 phút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KHAI PHÁ QUY TRÌNH</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Chờ trình ký nổi bật trong bản đồ AS-IS</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Sơ đồ luồng rút gọn từ DFG; tách thời gian của sinh viên khỏi phần phía trường.</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07</a:t>
            </a:r>
            <a:endParaRPr lang="en-US" sz="1200" dirty="0"/>
          </a:p>
        </p:txBody>
      </p:sp>
      <p:sp>
        <p:nvSpPr>
          <p:cNvPr id="9" name="Shape 7"/>
          <p:cNvSpPr/>
          <p:nvPr/>
        </p:nvSpPr>
        <p:spPr>
          <a:xfrm>
            <a:off x="9326880" y="228600"/>
            <a:ext cx="2377440" cy="310896"/>
          </a:xfrm>
          <a:prstGeom prst="rect">
            <a:avLst/>
          </a:prstGeom>
          <a:solidFill>
            <a:srgbClr val="F3E4D8"/>
          </a:solidFill>
          <a:ln w="8890">
            <a:solidFill>
              <a:srgbClr val="F3E4D8"/>
            </a:solidFill>
            <a:prstDash val="solid"/>
          </a:ln>
        </p:spPr>
      </p:sp>
      <p:sp>
        <p:nvSpPr>
          <p:cNvPr id="10" name="Text 8"/>
          <p:cNvSpPr/>
          <p:nvPr/>
        </p:nvSpPr>
        <p:spPr>
          <a:xfrm>
            <a:off x="9409176" y="228600"/>
            <a:ext cx="2212848" cy="310896"/>
          </a:xfrm>
          <a:prstGeom prst="rect">
            <a:avLst/>
          </a:prstGeom>
          <a:noFill/>
          <a:ln/>
        </p:spPr>
        <p:txBody>
          <a:bodyPr wrap="square" lIns="0" tIns="0" rIns="0" bIns="0" rtlCol="0" anchor="ctr"/>
          <a:lstStyle/>
          <a:p>
            <a:pPr indent="0" marL="0">
              <a:buNone/>
            </a:pPr>
            <a:r>
              <a:rPr lang="en-US" sz="1400" b="1" dirty="0">
                <a:solidFill>
                  <a:srgbClr val="B34735"/>
                </a:solidFill>
                <a:latin typeface="Arial" pitchFamily="34" charset="0"/>
                <a:ea typeface="Arial" pitchFamily="34" charset="-122"/>
                <a:cs typeface="Arial" pitchFamily="34" charset="-120"/>
              </a:rPr>
              <a:t>Dữ liệu mô phỏng</a:t>
            </a:r>
            <a:endParaRPr lang="en-US" sz="1400" dirty="0"/>
          </a:p>
        </p:txBody>
      </p:sp>
      <p:sp>
        <p:nvSpPr>
          <p:cNvPr id="11" name="Shape 9"/>
          <p:cNvSpPr/>
          <p:nvPr/>
        </p:nvSpPr>
        <p:spPr>
          <a:xfrm>
            <a:off x="457200" y="2331720"/>
            <a:ext cx="1188720" cy="310896"/>
          </a:xfrm>
          <a:prstGeom prst="rect">
            <a:avLst/>
          </a:prstGeom>
          <a:solidFill>
            <a:srgbClr val="DFEFEB"/>
          </a:solidFill>
          <a:ln w="8890">
            <a:solidFill>
              <a:srgbClr val="DFEFEB"/>
            </a:solidFill>
            <a:prstDash val="solid"/>
          </a:ln>
        </p:spPr>
      </p:sp>
      <p:sp>
        <p:nvSpPr>
          <p:cNvPr id="12" name="Text 10"/>
          <p:cNvSpPr/>
          <p:nvPr/>
        </p:nvSpPr>
        <p:spPr>
          <a:xfrm>
            <a:off x="539496" y="2331720"/>
            <a:ext cx="1024128" cy="310896"/>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AS-IS</a:t>
            </a:r>
            <a:endParaRPr lang="en-US" sz="1400" dirty="0"/>
          </a:p>
        </p:txBody>
      </p:sp>
      <p:sp>
        <p:nvSpPr>
          <p:cNvPr id="13" name="Shape 11"/>
          <p:cNvSpPr/>
          <p:nvPr/>
        </p:nvSpPr>
        <p:spPr>
          <a:xfrm>
            <a:off x="6181344" y="2331720"/>
            <a:ext cx="1554480" cy="310896"/>
          </a:xfrm>
          <a:prstGeom prst="rect">
            <a:avLst/>
          </a:prstGeom>
          <a:solidFill>
            <a:srgbClr val="DFEFEB"/>
          </a:solidFill>
          <a:ln w="8890">
            <a:solidFill>
              <a:srgbClr val="DFEFEB"/>
            </a:solidFill>
            <a:prstDash val="solid"/>
          </a:ln>
        </p:spPr>
      </p:sp>
      <p:sp>
        <p:nvSpPr>
          <p:cNvPr id="14" name="Text 12"/>
          <p:cNvSpPr/>
          <p:nvPr/>
        </p:nvSpPr>
        <p:spPr>
          <a:xfrm>
            <a:off x="6263640" y="2331720"/>
            <a:ext cx="1389888" cy="310896"/>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TO-BE S1</a:t>
            </a:r>
            <a:endParaRPr lang="en-US" sz="1400" dirty="0"/>
          </a:p>
        </p:txBody>
      </p:sp>
      <p:sp>
        <p:nvSpPr>
          <p:cNvPr id="15" name="Shape 13"/>
          <p:cNvSpPr/>
          <p:nvPr/>
        </p:nvSpPr>
        <p:spPr>
          <a:xfrm>
            <a:off x="457200" y="2761488"/>
            <a:ext cx="5513832" cy="2286000"/>
          </a:xfrm>
          <a:prstGeom prst="rect">
            <a:avLst/>
          </a:prstGeom>
          <a:solidFill>
            <a:srgbClr val="FFFFFF"/>
          </a:solidFill>
          <a:ln w="8890">
            <a:solidFill>
              <a:srgbClr val="FFFFFF"/>
            </a:solidFill>
            <a:prstDash val="solid"/>
          </a:ln>
        </p:spPr>
      </p:sp>
      <p:sp>
        <p:nvSpPr>
          <p:cNvPr id="16" name="Shape 14"/>
          <p:cNvSpPr/>
          <p:nvPr/>
        </p:nvSpPr>
        <p:spPr>
          <a:xfrm>
            <a:off x="621792" y="3191256"/>
            <a:ext cx="1234440" cy="530352"/>
          </a:xfrm>
          <a:prstGeom prst="rect">
            <a:avLst/>
          </a:prstGeom>
          <a:solidFill>
            <a:srgbClr val="DFEFEB"/>
          </a:solidFill>
          <a:ln w="8890">
            <a:solidFill>
              <a:srgbClr val="DFEFEB"/>
            </a:solidFill>
            <a:prstDash val="solid"/>
          </a:ln>
        </p:spPr>
      </p:sp>
      <p:sp>
        <p:nvSpPr>
          <p:cNvPr id="17" name="Text 15"/>
          <p:cNvSpPr/>
          <p:nvPr/>
        </p:nvSpPr>
        <p:spPr>
          <a:xfrm>
            <a:off x="667512" y="3227832"/>
            <a:ext cx="1143000" cy="45720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Kiểm tra</a:t>
            </a:r>
            <a:endParaRPr lang="en-US" sz="1400" dirty="0"/>
          </a:p>
        </p:txBody>
      </p:sp>
      <p:sp>
        <p:nvSpPr>
          <p:cNvPr id="18" name="Shape 16"/>
          <p:cNvSpPr/>
          <p:nvPr/>
        </p:nvSpPr>
        <p:spPr>
          <a:xfrm>
            <a:off x="2313432" y="3191256"/>
            <a:ext cx="1234440" cy="530352"/>
          </a:xfrm>
          <a:prstGeom prst="rect">
            <a:avLst/>
          </a:prstGeom>
          <a:solidFill>
            <a:srgbClr val="DFEFEB"/>
          </a:solidFill>
          <a:ln w="8890">
            <a:solidFill>
              <a:srgbClr val="DFEFEB"/>
            </a:solidFill>
            <a:prstDash val="solid"/>
          </a:ln>
        </p:spPr>
      </p:sp>
      <p:sp>
        <p:nvSpPr>
          <p:cNvPr id="19" name="Text 17"/>
          <p:cNvSpPr/>
          <p:nvPr/>
        </p:nvSpPr>
        <p:spPr>
          <a:xfrm>
            <a:off x="2359152" y="3227832"/>
            <a:ext cx="1143000" cy="45720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Trình ký</a:t>
            </a:r>
            <a:endParaRPr lang="en-US" sz="1400" dirty="0"/>
          </a:p>
        </p:txBody>
      </p:sp>
      <p:sp>
        <p:nvSpPr>
          <p:cNvPr id="20" name="Shape 18"/>
          <p:cNvSpPr/>
          <p:nvPr/>
        </p:nvSpPr>
        <p:spPr>
          <a:xfrm>
            <a:off x="4142232" y="3191256"/>
            <a:ext cx="1572768" cy="530352"/>
          </a:xfrm>
          <a:prstGeom prst="rect">
            <a:avLst/>
          </a:prstGeom>
          <a:solidFill>
            <a:srgbClr val="DFEFEB"/>
          </a:solidFill>
          <a:ln w="8890">
            <a:solidFill>
              <a:srgbClr val="DFEFEB"/>
            </a:solidFill>
            <a:prstDash val="solid"/>
          </a:ln>
        </p:spPr>
      </p:sp>
      <p:sp>
        <p:nvSpPr>
          <p:cNvPr id="21" name="Text 19"/>
          <p:cNvSpPr/>
          <p:nvPr/>
        </p:nvSpPr>
        <p:spPr>
          <a:xfrm>
            <a:off x="4187952" y="3227832"/>
            <a:ext cx="1481328" cy="45720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Duyệt ký</a:t>
            </a:r>
            <a:endParaRPr lang="en-US" sz="1400" dirty="0"/>
          </a:p>
        </p:txBody>
      </p:sp>
      <p:sp>
        <p:nvSpPr>
          <p:cNvPr id="22" name="Shape 20"/>
          <p:cNvSpPr/>
          <p:nvPr/>
        </p:nvSpPr>
        <p:spPr>
          <a:xfrm>
            <a:off x="1883664" y="3456432"/>
            <a:ext cx="393192" cy="0"/>
          </a:xfrm>
          <a:prstGeom prst="line">
            <a:avLst/>
          </a:prstGeom>
          <a:noFill/>
          <a:ln w="25400">
            <a:solidFill>
              <a:srgbClr val="007F79"/>
            </a:solidFill>
            <a:prstDash val="solid"/>
            <a:headEnd type="none"/>
            <a:tailEnd type="triangle"/>
          </a:ln>
        </p:spPr>
      </p:sp>
      <p:sp>
        <p:nvSpPr>
          <p:cNvPr id="23" name="Shape 21"/>
          <p:cNvSpPr/>
          <p:nvPr/>
        </p:nvSpPr>
        <p:spPr>
          <a:xfrm>
            <a:off x="3584448" y="3456432"/>
            <a:ext cx="521208" cy="0"/>
          </a:xfrm>
          <a:prstGeom prst="line">
            <a:avLst/>
          </a:prstGeom>
          <a:noFill/>
          <a:ln w="38100">
            <a:solidFill>
              <a:srgbClr val="B34735"/>
            </a:solidFill>
            <a:prstDash val="solid"/>
            <a:headEnd type="none"/>
            <a:tailEnd type="triangle"/>
          </a:ln>
        </p:spPr>
      </p:sp>
      <p:sp>
        <p:nvSpPr>
          <p:cNvPr id="24" name="Text 22"/>
          <p:cNvSpPr/>
          <p:nvPr/>
        </p:nvSpPr>
        <p:spPr>
          <a:xfrm>
            <a:off x="3291840" y="3849624"/>
            <a:ext cx="2286000" cy="384048"/>
          </a:xfrm>
          <a:prstGeom prst="rect">
            <a:avLst/>
          </a:prstGeom>
          <a:noFill/>
          <a:ln/>
        </p:spPr>
        <p:txBody>
          <a:bodyPr wrap="square" lIns="0" tIns="0" rIns="0" bIns="0" rtlCol="0" anchor="ctr"/>
          <a:lstStyle/>
          <a:p>
            <a:pPr algn="ctr" indent="0" marL="0">
              <a:buNone/>
            </a:pPr>
            <a:r>
              <a:rPr lang="en-US" sz="2000" b="1" dirty="0">
                <a:solidFill>
                  <a:srgbClr val="B34735"/>
                </a:solidFill>
                <a:latin typeface="Arial" pitchFamily="34" charset="0"/>
                <a:ea typeface="Arial" pitchFamily="34" charset="-122"/>
                <a:cs typeface="Arial" pitchFamily="34" charset="-120"/>
              </a:rPr>
              <a:t>621 phút</a:t>
            </a:r>
            <a:endParaRPr lang="en-US" sz="2000" dirty="0"/>
          </a:p>
        </p:txBody>
      </p:sp>
      <p:sp>
        <p:nvSpPr>
          <p:cNvPr id="25" name="Shape 23"/>
          <p:cNvSpPr/>
          <p:nvPr/>
        </p:nvSpPr>
        <p:spPr>
          <a:xfrm>
            <a:off x="694944" y="4178808"/>
            <a:ext cx="1801368" cy="448056"/>
          </a:xfrm>
          <a:prstGeom prst="rect">
            <a:avLst/>
          </a:prstGeom>
          <a:solidFill>
            <a:srgbClr val="F3E4D8"/>
          </a:solidFill>
          <a:ln w="8890">
            <a:solidFill>
              <a:srgbClr val="F3E4D8"/>
            </a:solidFill>
            <a:prstDash val="solid"/>
          </a:ln>
        </p:spPr>
      </p:sp>
      <p:sp>
        <p:nvSpPr>
          <p:cNvPr id="26" name="Text 24"/>
          <p:cNvSpPr/>
          <p:nvPr/>
        </p:nvSpPr>
        <p:spPr>
          <a:xfrm>
            <a:off x="749808" y="4224528"/>
            <a:ext cx="1691640" cy="347472"/>
          </a:xfrm>
          <a:prstGeom prst="rect">
            <a:avLst/>
          </a:prstGeom>
          <a:noFill/>
          <a:ln/>
        </p:spPr>
        <p:txBody>
          <a:bodyPr wrap="square" lIns="0" tIns="0" rIns="0" bIns="0" rtlCol="0" anchor="ctr"/>
          <a:lstStyle/>
          <a:p>
            <a:pPr algn="ctr" indent="0" marL="0">
              <a:buNone/>
            </a:pPr>
            <a:r>
              <a:rPr lang="en-US" sz="1400" b="1" dirty="0">
                <a:solidFill>
                  <a:srgbClr val="B34735"/>
                </a:solidFill>
                <a:latin typeface="Arial" pitchFamily="34" charset="0"/>
                <a:ea typeface="Arial" pitchFamily="34" charset="-122"/>
                <a:cs typeface="Arial" pitchFamily="34" charset="-120"/>
              </a:rPr>
              <a:t>Yêu cầu bổ sung</a:t>
            </a:r>
            <a:endParaRPr lang="en-US" sz="1400" dirty="0"/>
          </a:p>
        </p:txBody>
      </p:sp>
      <p:sp>
        <p:nvSpPr>
          <p:cNvPr id="27" name="Shape 25"/>
          <p:cNvSpPr/>
          <p:nvPr/>
        </p:nvSpPr>
        <p:spPr>
          <a:xfrm>
            <a:off x="1307592" y="3749040"/>
            <a:ext cx="0" cy="393192"/>
          </a:xfrm>
          <a:prstGeom prst="line">
            <a:avLst/>
          </a:prstGeom>
          <a:noFill/>
          <a:ln w="19050">
            <a:solidFill>
              <a:srgbClr val="CB6338"/>
            </a:solidFill>
            <a:prstDash val="solid"/>
            <a:headEnd type="none"/>
            <a:tailEnd type="triangle"/>
          </a:ln>
        </p:spPr>
      </p:sp>
      <p:sp>
        <p:nvSpPr>
          <p:cNvPr id="28" name="Shape 26"/>
          <p:cNvSpPr/>
          <p:nvPr/>
        </p:nvSpPr>
        <p:spPr>
          <a:xfrm>
            <a:off x="2514600" y="4407408"/>
            <a:ext cx="329184" cy="0"/>
          </a:xfrm>
          <a:prstGeom prst="line">
            <a:avLst/>
          </a:prstGeom>
          <a:noFill/>
          <a:ln w="19050">
            <a:solidFill>
              <a:srgbClr val="CB6338"/>
            </a:solidFill>
            <a:prstDash val="solid"/>
            <a:headEnd type="none"/>
            <a:tailEnd type="none"/>
          </a:ln>
        </p:spPr>
      </p:sp>
      <p:sp>
        <p:nvSpPr>
          <p:cNvPr id="29" name="Shape 27"/>
          <p:cNvSpPr/>
          <p:nvPr/>
        </p:nvSpPr>
        <p:spPr>
          <a:xfrm flipV="1">
            <a:off x="2843784" y="3895344"/>
            <a:ext cx="0" cy="512064"/>
          </a:xfrm>
          <a:prstGeom prst="line">
            <a:avLst/>
          </a:prstGeom>
          <a:noFill/>
          <a:ln w="19050">
            <a:solidFill>
              <a:srgbClr val="CB6338"/>
            </a:solidFill>
            <a:prstDash val="solid"/>
            <a:headEnd type="none"/>
            <a:tailEnd type="none"/>
          </a:ln>
        </p:spPr>
      </p:sp>
      <p:sp>
        <p:nvSpPr>
          <p:cNvPr id="30" name="Shape 28"/>
          <p:cNvSpPr/>
          <p:nvPr/>
        </p:nvSpPr>
        <p:spPr>
          <a:xfrm flipH="1">
            <a:off x="1417320" y="3895344"/>
            <a:ext cx="1426464" cy="0"/>
          </a:xfrm>
          <a:prstGeom prst="line">
            <a:avLst/>
          </a:prstGeom>
          <a:noFill/>
          <a:ln w="19050">
            <a:solidFill>
              <a:srgbClr val="CB6338"/>
            </a:solidFill>
            <a:prstDash val="solid"/>
            <a:headEnd type="none"/>
            <a:tailEnd type="triangle"/>
          </a:ln>
        </p:spPr>
      </p:sp>
      <p:sp>
        <p:nvSpPr>
          <p:cNvPr id="31" name="Shape 29"/>
          <p:cNvSpPr/>
          <p:nvPr/>
        </p:nvSpPr>
        <p:spPr>
          <a:xfrm>
            <a:off x="6181344" y="2761488"/>
            <a:ext cx="5513832" cy="2286000"/>
          </a:xfrm>
          <a:prstGeom prst="rect">
            <a:avLst/>
          </a:prstGeom>
          <a:solidFill>
            <a:srgbClr val="FFFFFF"/>
          </a:solidFill>
          <a:ln w="8890">
            <a:solidFill>
              <a:srgbClr val="FFFFFF"/>
            </a:solidFill>
            <a:prstDash val="solid"/>
          </a:ln>
        </p:spPr>
      </p:sp>
      <p:sp>
        <p:nvSpPr>
          <p:cNvPr id="32" name="Shape 30"/>
          <p:cNvSpPr/>
          <p:nvPr/>
        </p:nvSpPr>
        <p:spPr>
          <a:xfrm>
            <a:off x="6345936" y="3191256"/>
            <a:ext cx="1234440" cy="530352"/>
          </a:xfrm>
          <a:prstGeom prst="rect">
            <a:avLst/>
          </a:prstGeom>
          <a:solidFill>
            <a:srgbClr val="DFEFEB"/>
          </a:solidFill>
          <a:ln w="8890">
            <a:solidFill>
              <a:srgbClr val="DFEFEB"/>
            </a:solidFill>
            <a:prstDash val="solid"/>
          </a:ln>
        </p:spPr>
      </p:sp>
      <p:sp>
        <p:nvSpPr>
          <p:cNvPr id="33" name="Text 31"/>
          <p:cNvSpPr/>
          <p:nvPr/>
        </p:nvSpPr>
        <p:spPr>
          <a:xfrm>
            <a:off x="6391656" y="3227832"/>
            <a:ext cx="1143000" cy="45720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Kiểm tra</a:t>
            </a:r>
            <a:endParaRPr lang="en-US" sz="1400" dirty="0"/>
          </a:p>
        </p:txBody>
      </p:sp>
      <p:sp>
        <p:nvSpPr>
          <p:cNvPr id="34" name="Shape 32"/>
          <p:cNvSpPr/>
          <p:nvPr/>
        </p:nvSpPr>
        <p:spPr>
          <a:xfrm>
            <a:off x="8037576" y="3191256"/>
            <a:ext cx="1234440" cy="530352"/>
          </a:xfrm>
          <a:prstGeom prst="rect">
            <a:avLst/>
          </a:prstGeom>
          <a:solidFill>
            <a:srgbClr val="DFEFEB"/>
          </a:solidFill>
          <a:ln w="8890">
            <a:solidFill>
              <a:srgbClr val="DFEFEB"/>
            </a:solidFill>
            <a:prstDash val="solid"/>
          </a:ln>
        </p:spPr>
      </p:sp>
      <p:sp>
        <p:nvSpPr>
          <p:cNvPr id="35" name="Text 33"/>
          <p:cNvSpPr/>
          <p:nvPr/>
        </p:nvSpPr>
        <p:spPr>
          <a:xfrm>
            <a:off x="8083296" y="3227832"/>
            <a:ext cx="1143000" cy="45720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Trình ký</a:t>
            </a:r>
            <a:endParaRPr lang="en-US" sz="1400" dirty="0"/>
          </a:p>
        </p:txBody>
      </p:sp>
      <p:sp>
        <p:nvSpPr>
          <p:cNvPr id="36" name="Shape 34"/>
          <p:cNvSpPr/>
          <p:nvPr/>
        </p:nvSpPr>
        <p:spPr>
          <a:xfrm>
            <a:off x="9866376" y="3191256"/>
            <a:ext cx="1572768" cy="530352"/>
          </a:xfrm>
          <a:prstGeom prst="rect">
            <a:avLst/>
          </a:prstGeom>
          <a:solidFill>
            <a:srgbClr val="DFEFEB"/>
          </a:solidFill>
          <a:ln w="8890">
            <a:solidFill>
              <a:srgbClr val="DFEFEB"/>
            </a:solidFill>
            <a:prstDash val="solid"/>
          </a:ln>
        </p:spPr>
      </p:sp>
      <p:sp>
        <p:nvSpPr>
          <p:cNvPr id="37" name="Text 35"/>
          <p:cNvSpPr/>
          <p:nvPr/>
        </p:nvSpPr>
        <p:spPr>
          <a:xfrm>
            <a:off x="9912096" y="3227832"/>
            <a:ext cx="1481328" cy="45720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Duyệt ký</a:t>
            </a:r>
            <a:endParaRPr lang="en-US" sz="1400" dirty="0"/>
          </a:p>
        </p:txBody>
      </p:sp>
      <p:sp>
        <p:nvSpPr>
          <p:cNvPr id="38" name="Shape 36"/>
          <p:cNvSpPr/>
          <p:nvPr/>
        </p:nvSpPr>
        <p:spPr>
          <a:xfrm>
            <a:off x="7607808" y="3456432"/>
            <a:ext cx="393192" cy="0"/>
          </a:xfrm>
          <a:prstGeom prst="line">
            <a:avLst/>
          </a:prstGeom>
          <a:noFill/>
          <a:ln w="25400">
            <a:solidFill>
              <a:srgbClr val="007F79"/>
            </a:solidFill>
            <a:prstDash val="solid"/>
            <a:headEnd type="none"/>
            <a:tailEnd type="triangle"/>
          </a:ln>
        </p:spPr>
      </p:sp>
      <p:sp>
        <p:nvSpPr>
          <p:cNvPr id="39" name="Shape 37"/>
          <p:cNvSpPr/>
          <p:nvPr/>
        </p:nvSpPr>
        <p:spPr>
          <a:xfrm>
            <a:off x="9308592" y="3456432"/>
            <a:ext cx="521208" cy="0"/>
          </a:xfrm>
          <a:prstGeom prst="line">
            <a:avLst/>
          </a:prstGeom>
          <a:noFill/>
          <a:ln w="38100">
            <a:solidFill>
              <a:srgbClr val="007F79"/>
            </a:solidFill>
            <a:prstDash val="solid"/>
            <a:headEnd type="none"/>
            <a:tailEnd type="triangle"/>
          </a:ln>
        </p:spPr>
      </p:sp>
      <p:sp>
        <p:nvSpPr>
          <p:cNvPr id="40" name="Text 38"/>
          <p:cNvSpPr/>
          <p:nvPr/>
        </p:nvSpPr>
        <p:spPr>
          <a:xfrm>
            <a:off x="9015984" y="3849624"/>
            <a:ext cx="2286000" cy="384048"/>
          </a:xfrm>
          <a:prstGeom prst="rect">
            <a:avLst/>
          </a:prstGeom>
          <a:noFill/>
          <a:ln/>
        </p:spPr>
        <p:txBody>
          <a:bodyPr wrap="square" lIns="0" tIns="0" rIns="0" bIns="0" rtlCol="0" anchor="ctr"/>
          <a:lstStyle/>
          <a:p>
            <a:pPr algn="ctr" indent="0" marL="0">
              <a:buNone/>
            </a:pPr>
            <a:r>
              <a:rPr lang="en-US" sz="2000" b="1" dirty="0">
                <a:solidFill>
                  <a:srgbClr val="007F79"/>
                </a:solidFill>
                <a:latin typeface="Arial" pitchFamily="34" charset="0"/>
                <a:ea typeface="Arial" pitchFamily="34" charset="-122"/>
                <a:cs typeface="Arial" pitchFamily="34" charset="-120"/>
              </a:rPr>
              <a:t>123 phút</a:t>
            </a:r>
            <a:endParaRPr lang="en-US" sz="2000" dirty="0"/>
          </a:p>
        </p:txBody>
      </p:sp>
      <p:sp>
        <p:nvSpPr>
          <p:cNvPr id="41" name="Shape 39"/>
          <p:cNvSpPr/>
          <p:nvPr/>
        </p:nvSpPr>
        <p:spPr>
          <a:xfrm>
            <a:off x="6419088" y="4178808"/>
            <a:ext cx="1801368" cy="448056"/>
          </a:xfrm>
          <a:prstGeom prst="rect">
            <a:avLst/>
          </a:prstGeom>
          <a:solidFill>
            <a:srgbClr val="F3E4D8"/>
          </a:solidFill>
          <a:ln w="8890">
            <a:solidFill>
              <a:srgbClr val="F3E4D8"/>
            </a:solidFill>
            <a:prstDash val="solid"/>
          </a:ln>
        </p:spPr>
      </p:sp>
      <p:sp>
        <p:nvSpPr>
          <p:cNvPr id="42" name="Text 40"/>
          <p:cNvSpPr/>
          <p:nvPr/>
        </p:nvSpPr>
        <p:spPr>
          <a:xfrm>
            <a:off x="6473952" y="4224528"/>
            <a:ext cx="1691640" cy="347472"/>
          </a:xfrm>
          <a:prstGeom prst="rect">
            <a:avLst/>
          </a:prstGeom>
          <a:noFill/>
          <a:ln/>
        </p:spPr>
        <p:txBody>
          <a:bodyPr wrap="square" lIns="0" tIns="0" rIns="0" bIns="0" rtlCol="0" anchor="ctr"/>
          <a:lstStyle/>
          <a:p>
            <a:pPr algn="ctr" indent="0" marL="0">
              <a:buNone/>
            </a:pPr>
            <a:r>
              <a:rPr lang="en-US" sz="1400" b="1" dirty="0">
                <a:solidFill>
                  <a:srgbClr val="B34735"/>
                </a:solidFill>
                <a:latin typeface="Arial" pitchFamily="34" charset="0"/>
                <a:ea typeface="Arial" pitchFamily="34" charset="-122"/>
                <a:cs typeface="Arial" pitchFamily="34" charset="-120"/>
              </a:rPr>
              <a:t>Yêu cầu bổ sung</a:t>
            </a:r>
            <a:endParaRPr lang="en-US" sz="1400" dirty="0"/>
          </a:p>
        </p:txBody>
      </p:sp>
      <p:sp>
        <p:nvSpPr>
          <p:cNvPr id="43" name="Shape 41"/>
          <p:cNvSpPr/>
          <p:nvPr/>
        </p:nvSpPr>
        <p:spPr>
          <a:xfrm>
            <a:off x="7031736" y="3749040"/>
            <a:ext cx="0" cy="393192"/>
          </a:xfrm>
          <a:prstGeom prst="line">
            <a:avLst/>
          </a:prstGeom>
          <a:noFill/>
          <a:ln w="19050">
            <a:solidFill>
              <a:srgbClr val="CB6338"/>
            </a:solidFill>
            <a:prstDash val="solid"/>
            <a:headEnd type="none"/>
            <a:tailEnd type="triangle"/>
          </a:ln>
        </p:spPr>
      </p:sp>
      <p:sp>
        <p:nvSpPr>
          <p:cNvPr id="44" name="Shape 42"/>
          <p:cNvSpPr/>
          <p:nvPr/>
        </p:nvSpPr>
        <p:spPr>
          <a:xfrm>
            <a:off x="8238744" y="4407408"/>
            <a:ext cx="329184" cy="0"/>
          </a:xfrm>
          <a:prstGeom prst="line">
            <a:avLst/>
          </a:prstGeom>
          <a:noFill/>
          <a:ln w="19050">
            <a:solidFill>
              <a:srgbClr val="CB6338"/>
            </a:solidFill>
            <a:prstDash val="solid"/>
            <a:headEnd type="none"/>
            <a:tailEnd type="none"/>
          </a:ln>
        </p:spPr>
      </p:sp>
      <p:sp>
        <p:nvSpPr>
          <p:cNvPr id="45" name="Shape 43"/>
          <p:cNvSpPr/>
          <p:nvPr/>
        </p:nvSpPr>
        <p:spPr>
          <a:xfrm flipV="1">
            <a:off x="8567928" y="3895344"/>
            <a:ext cx="0" cy="512064"/>
          </a:xfrm>
          <a:prstGeom prst="line">
            <a:avLst/>
          </a:prstGeom>
          <a:noFill/>
          <a:ln w="19050">
            <a:solidFill>
              <a:srgbClr val="CB6338"/>
            </a:solidFill>
            <a:prstDash val="solid"/>
            <a:headEnd type="none"/>
            <a:tailEnd type="none"/>
          </a:ln>
        </p:spPr>
      </p:sp>
      <p:sp>
        <p:nvSpPr>
          <p:cNvPr id="46" name="Shape 44"/>
          <p:cNvSpPr/>
          <p:nvPr/>
        </p:nvSpPr>
        <p:spPr>
          <a:xfrm flipH="1">
            <a:off x="7141464" y="3895344"/>
            <a:ext cx="1426464" cy="0"/>
          </a:xfrm>
          <a:prstGeom prst="line">
            <a:avLst/>
          </a:prstGeom>
          <a:noFill/>
          <a:ln w="19050">
            <a:solidFill>
              <a:srgbClr val="CB6338"/>
            </a:solidFill>
            <a:prstDash val="solid"/>
            <a:headEnd type="none"/>
            <a:tailEnd type="triangle"/>
          </a:ln>
        </p:spPr>
      </p:sp>
      <p:sp>
        <p:nvSpPr>
          <p:cNvPr id="47" name="Text 45"/>
          <p:cNvSpPr/>
          <p:nvPr/>
        </p:nvSpPr>
        <p:spPr>
          <a:xfrm>
            <a:off x="548640" y="4727448"/>
            <a:ext cx="5486400" cy="347472"/>
          </a:xfrm>
          <a:prstGeom prst="rect">
            <a:avLst/>
          </a:prstGeom>
          <a:noFill/>
          <a:ln/>
        </p:spPr>
        <p:txBody>
          <a:bodyPr wrap="square" lIns="0" tIns="0" rIns="0" bIns="0" rtlCol="0" anchor="ctr"/>
          <a:lstStyle/>
          <a:p>
            <a:pPr indent="0" marL="0">
              <a:buNone/>
            </a:pPr>
            <a:r>
              <a:rPr lang="en-US" sz="1500" dirty="0">
                <a:solidFill>
                  <a:srgbClr val="526771"/>
                </a:solidFill>
                <a:latin typeface="Arial" pitchFamily="34" charset="0"/>
                <a:ea typeface="Arial" pitchFamily="34" charset="-122"/>
                <a:cs typeface="Arial" pitchFamily="34" charset="-120"/>
              </a:rPr>
              <a:t>Đỏ: top 3 chờ • ≥50% ca quá 1 ngày • Phủ ≥10% ca</a:t>
            </a:r>
            <a:endParaRPr lang="en-US" sz="1500" dirty="0"/>
          </a:p>
        </p:txBody>
      </p:sp>
      <p:sp>
        <p:nvSpPr>
          <p:cNvPr id="48" name="Text 46"/>
          <p:cNvSpPr/>
          <p:nvPr/>
        </p:nvSpPr>
        <p:spPr>
          <a:xfrm>
            <a:off x="6272784" y="4727448"/>
            <a:ext cx="5303520" cy="347472"/>
          </a:xfrm>
          <a:prstGeom prst="rect">
            <a:avLst/>
          </a:prstGeom>
          <a:noFill/>
          <a:ln/>
        </p:spPr>
        <p:txBody>
          <a:bodyPr wrap="square" lIns="0" tIns="0" rIns="0" bIns="0" rtlCol="0" anchor="ctr"/>
          <a:lstStyle/>
          <a:p>
            <a:pPr indent="0" marL="0">
              <a:buNone/>
            </a:pPr>
            <a:r>
              <a:rPr lang="en-US" sz="1500" dirty="0">
                <a:solidFill>
                  <a:srgbClr val="526771"/>
                </a:solidFill>
                <a:latin typeface="Arial" pitchFamily="34" charset="0"/>
                <a:ea typeface="Arial" pitchFamily="34" charset="-122"/>
                <a:cs typeface="Arial" pitchFamily="34" charset="-120"/>
              </a:rPr>
              <a:t>AS-IS: 369/400 ca • P90 chờ ký: 1.201 phút</a:t>
            </a:r>
            <a:endParaRPr lang="en-US" sz="1500" dirty="0"/>
          </a:p>
        </p:txBody>
      </p:sp>
      <p:sp>
        <p:nvSpPr>
          <p:cNvPr id="49" name="Shape 47"/>
          <p:cNvSpPr/>
          <p:nvPr/>
        </p:nvSpPr>
        <p:spPr>
          <a:xfrm>
            <a:off x="457200" y="5257800"/>
            <a:ext cx="5513832" cy="832104"/>
          </a:xfrm>
          <a:prstGeom prst="rect">
            <a:avLst/>
          </a:prstGeom>
          <a:solidFill>
            <a:srgbClr val="F3E4D8"/>
          </a:solidFill>
          <a:ln w="8890">
            <a:solidFill>
              <a:srgbClr val="F3E4D8"/>
            </a:solidFill>
            <a:prstDash val="solid"/>
          </a:ln>
        </p:spPr>
      </p:sp>
      <p:sp>
        <p:nvSpPr>
          <p:cNvPr id="50" name="Text 48"/>
          <p:cNvSpPr/>
          <p:nvPr/>
        </p:nvSpPr>
        <p:spPr>
          <a:xfrm>
            <a:off x="640080" y="5340096"/>
            <a:ext cx="5166360" cy="365760"/>
          </a:xfrm>
          <a:prstGeom prst="rect">
            <a:avLst/>
          </a:prstGeom>
          <a:noFill/>
          <a:ln/>
        </p:spPr>
        <p:txBody>
          <a:bodyPr wrap="square" lIns="0" tIns="0" rIns="0" bIns="0" rtlCol="0" anchor="ctr"/>
          <a:lstStyle/>
          <a:p>
            <a:pPr indent="0" marL="0">
              <a:buNone/>
            </a:pPr>
            <a:r>
              <a:rPr lang="en-US" sz="2500" b="1" dirty="0">
                <a:solidFill>
                  <a:srgbClr val="B34735"/>
                </a:solidFill>
                <a:latin typeface="Arial" pitchFamily="34" charset="0"/>
                <a:ea typeface="Arial" pitchFamily="34" charset="-122"/>
                <a:cs typeface="Arial" pitchFamily="34" charset="-120"/>
              </a:rPr>
              <a:t>621 → 123 phút chờ ký</a:t>
            </a:r>
            <a:endParaRPr lang="en-US" sz="2500" dirty="0"/>
          </a:p>
        </p:txBody>
      </p:sp>
      <p:sp>
        <p:nvSpPr>
          <p:cNvPr id="51" name="Text 49"/>
          <p:cNvSpPr/>
          <p:nvPr/>
        </p:nvSpPr>
        <p:spPr>
          <a:xfrm>
            <a:off x="640080" y="5751576"/>
            <a:ext cx="5166360" cy="237744"/>
          </a:xfrm>
          <a:prstGeom prst="rect">
            <a:avLst/>
          </a:prstGeom>
          <a:noFill/>
          <a:ln/>
        </p:spPr>
        <p:txBody>
          <a:bodyPr wrap="square" lIns="0" tIns="0" rIns="0" bIns="0" rtlCol="0" anchor="ctr"/>
          <a:lstStyle/>
          <a:p>
            <a:pPr indent="0" marL="0">
              <a:buNone/>
            </a:pPr>
            <a:r>
              <a:rPr lang="en-US" sz="1400" dirty="0">
                <a:solidFill>
                  <a:srgbClr val="193541"/>
                </a:solidFill>
                <a:latin typeface="Arial" pitchFamily="34" charset="0"/>
                <a:ea typeface="Arial" pitchFamily="34" charset="-122"/>
                <a:cs typeface="Arial" pitchFamily="34" charset="-120"/>
              </a:rPr>
              <a:t>AS-IS: 63% ca chờ hơn một ngày làm việc</a:t>
            </a:r>
            <a:endParaRPr lang="en-US" sz="1400" dirty="0"/>
          </a:p>
        </p:txBody>
      </p:sp>
      <p:sp>
        <p:nvSpPr>
          <p:cNvPr id="52" name="Shape 50"/>
          <p:cNvSpPr/>
          <p:nvPr/>
        </p:nvSpPr>
        <p:spPr>
          <a:xfrm>
            <a:off x="6181344" y="5257800"/>
            <a:ext cx="5513832" cy="832104"/>
          </a:xfrm>
          <a:prstGeom prst="rect">
            <a:avLst/>
          </a:prstGeom>
          <a:solidFill>
            <a:srgbClr val="DFEFEB"/>
          </a:solidFill>
          <a:ln w="8890">
            <a:solidFill>
              <a:srgbClr val="DFEFEB"/>
            </a:solidFill>
            <a:prstDash val="solid"/>
          </a:ln>
        </p:spPr>
      </p:sp>
      <p:sp>
        <p:nvSpPr>
          <p:cNvPr id="53" name="Text 51"/>
          <p:cNvSpPr/>
          <p:nvPr/>
        </p:nvSpPr>
        <p:spPr>
          <a:xfrm>
            <a:off x="6364224" y="5340096"/>
            <a:ext cx="5166360" cy="365760"/>
          </a:xfrm>
          <a:prstGeom prst="rect">
            <a:avLst/>
          </a:prstGeom>
          <a:noFill/>
          <a:ln/>
        </p:spPr>
        <p:txBody>
          <a:bodyPr wrap="square" lIns="0" tIns="0" rIns="0" bIns="0" rtlCol="0" anchor="ctr"/>
          <a:lstStyle/>
          <a:p>
            <a:pPr indent="0" marL="0">
              <a:buNone/>
            </a:pPr>
            <a:r>
              <a:rPr lang="en-US" sz="2500" b="1" dirty="0">
                <a:solidFill>
                  <a:srgbClr val="007F79"/>
                </a:solidFill>
                <a:latin typeface="Arial" pitchFamily="34" charset="0"/>
                <a:ea typeface="Arial" pitchFamily="34" charset="-122"/>
                <a:cs typeface="Arial" pitchFamily="34" charset="-120"/>
              </a:rPr>
              <a:t>62,3% → 75,5% đi thẳng</a:t>
            </a:r>
            <a:endParaRPr lang="en-US" sz="2500" dirty="0"/>
          </a:p>
        </p:txBody>
      </p:sp>
      <p:sp>
        <p:nvSpPr>
          <p:cNvPr id="54" name="Text 52"/>
          <p:cNvSpPr/>
          <p:nvPr/>
        </p:nvSpPr>
        <p:spPr>
          <a:xfrm>
            <a:off x="6364224" y="5751576"/>
            <a:ext cx="5166360" cy="237744"/>
          </a:xfrm>
          <a:prstGeom prst="rect">
            <a:avLst/>
          </a:prstGeom>
          <a:noFill/>
          <a:ln/>
        </p:spPr>
        <p:txBody>
          <a:bodyPr wrap="square" lIns="0" tIns="0" rIns="0" bIns="0" rtlCol="0" anchor="ctr"/>
          <a:lstStyle/>
          <a:p>
            <a:pPr indent="0" marL="0">
              <a:buNone/>
            </a:pPr>
            <a:r>
              <a:rPr lang="en-US" sz="1400" dirty="0">
                <a:solidFill>
                  <a:srgbClr val="193541"/>
                </a:solidFill>
                <a:latin typeface="Arial" pitchFamily="34" charset="0"/>
                <a:ea typeface="Arial" pitchFamily="34" charset="-122"/>
                <a:cs typeface="Arial" pitchFamily="34" charset="-120"/>
              </a:rPr>
              <a:t>Bổ sung: 30,1% → 15,6% là giả định đầu vào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KIỂM CHỨNG PHÉP ĐO</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Đối chiếu tính tay trước khi diễn giải KPI</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Các mốc hồ sơ mẫu đã chốt khớp hàm lịch làm việc trong mã nguồn.</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08</a:t>
            </a:r>
            <a:endParaRPr lang="en-US" sz="1200" dirty="0"/>
          </a:p>
        </p:txBody>
      </p:sp>
      <p:sp>
        <p:nvSpPr>
          <p:cNvPr id="9" name="Shape 7"/>
          <p:cNvSpPr/>
          <p:nvPr/>
        </p:nvSpPr>
        <p:spPr>
          <a:xfrm>
            <a:off x="9326880" y="228600"/>
            <a:ext cx="2377440" cy="310896"/>
          </a:xfrm>
          <a:prstGeom prst="rect">
            <a:avLst/>
          </a:prstGeom>
          <a:solidFill>
            <a:srgbClr val="F3E4D8"/>
          </a:solidFill>
          <a:ln w="8890">
            <a:solidFill>
              <a:srgbClr val="F3E4D8"/>
            </a:solidFill>
            <a:prstDash val="solid"/>
          </a:ln>
        </p:spPr>
      </p:sp>
      <p:sp>
        <p:nvSpPr>
          <p:cNvPr id="10" name="Text 8"/>
          <p:cNvSpPr/>
          <p:nvPr/>
        </p:nvSpPr>
        <p:spPr>
          <a:xfrm>
            <a:off x="9409176" y="228600"/>
            <a:ext cx="2212848" cy="310896"/>
          </a:xfrm>
          <a:prstGeom prst="rect">
            <a:avLst/>
          </a:prstGeom>
          <a:noFill/>
          <a:ln/>
        </p:spPr>
        <p:txBody>
          <a:bodyPr wrap="square" lIns="0" tIns="0" rIns="0" bIns="0" rtlCol="0" anchor="ctr"/>
          <a:lstStyle/>
          <a:p>
            <a:pPr indent="0" marL="0">
              <a:buNone/>
            </a:pPr>
            <a:r>
              <a:rPr lang="en-US" sz="1400" b="1" dirty="0">
                <a:solidFill>
                  <a:srgbClr val="B34735"/>
                </a:solidFill>
                <a:latin typeface="Arial" pitchFamily="34" charset="0"/>
                <a:ea typeface="Arial" pitchFamily="34" charset="-122"/>
                <a:cs typeface="Arial" pitchFamily="34" charset="-120"/>
              </a:rPr>
              <a:t>Dữ liệu mô phỏng</a:t>
            </a:r>
            <a:endParaRPr lang="en-US" sz="1400" dirty="0"/>
          </a:p>
        </p:txBody>
      </p:sp>
      <p:sp>
        <p:nvSpPr>
          <p:cNvPr id="11" name="Shape 9"/>
          <p:cNvSpPr/>
          <p:nvPr/>
        </p:nvSpPr>
        <p:spPr>
          <a:xfrm>
            <a:off x="457200" y="2414016"/>
            <a:ext cx="2057400" cy="566928"/>
          </a:xfrm>
          <a:prstGeom prst="rect">
            <a:avLst/>
          </a:prstGeom>
          <a:solidFill>
            <a:srgbClr val="122D3A"/>
          </a:solidFill>
          <a:ln w="8890">
            <a:solidFill>
              <a:srgbClr val="F5F3ED"/>
            </a:solidFill>
            <a:prstDash val="solid"/>
          </a:ln>
        </p:spPr>
      </p:sp>
      <p:sp>
        <p:nvSpPr>
          <p:cNvPr id="12" name="Text 10"/>
          <p:cNvSpPr/>
          <p:nvPr/>
        </p:nvSpPr>
        <p:spPr>
          <a:xfrm>
            <a:off x="585216" y="2478024"/>
            <a:ext cx="1801368" cy="43891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Hồ sơ AS-IS</a:t>
            </a:r>
            <a:endParaRPr lang="en-US" sz="1500" dirty="0"/>
          </a:p>
        </p:txBody>
      </p:sp>
      <p:sp>
        <p:nvSpPr>
          <p:cNvPr id="13" name="Shape 11"/>
          <p:cNvSpPr/>
          <p:nvPr/>
        </p:nvSpPr>
        <p:spPr>
          <a:xfrm>
            <a:off x="2514600" y="2414016"/>
            <a:ext cx="2487168" cy="566928"/>
          </a:xfrm>
          <a:prstGeom prst="rect">
            <a:avLst/>
          </a:prstGeom>
          <a:solidFill>
            <a:srgbClr val="122D3A"/>
          </a:solidFill>
          <a:ln w="8890">
            <a:solidFill>
              <a:srgbClr val="F5F3ED"/>
            </a:solidFill>
            <a:prstDash val="solid"/>
          </a:ln>
        </p:spPr>
      </p:sp>
      <p:sp>
        <p:nvSpPr>
          <p:cNvPr id="14" name="Text 12"/>
          <p:cNvSpPr/>
          <p:nvPr/>
        </p:nvSpPr>
        <p:spPr>
          <a:xfrm>
            <a:off x="2642616" y="2478024"/>
            <a:ext cx="2231136" cy="43891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Mốc tính tay (phút)</a:t>
            </a:r>
            <a:endParaRPr lang="en-US" sz="1500" dirty="0"/>
          </a:p>
        </p:txBody>
      </p:sp>
      <p:sp>
        <p:nvSpPr>
          <p:cNvPr id="15" name="Shape 13"/>
          <p:cNvSpPr/>
          <p:nvPr/>
        </p:nvSpPr>
        <p:spPr>
          <a:xfrm>
            <a:off x="5001768" y="2414016"/>
            <a:ext cx="2487168" cy="566928"/>
          </a:xfrm>
          <a:prstGeom prst="rect">
            <a:avLst/>
          </a:prstGeom>
          <a:solidFill>
            <a:srgbClr val="122D3A"/>
          </a:solidFill>
          <a:ln w="8890">
            <a:solidFill>
              <a:srgbClr val="F5F3ED"/>
            </a:solidFill>
            <a:prstDash val="solid"/>
          </a:ln>
        </p:spPr>
      </p:sp>
      <p:sp>
        <p:nvSpPr>
          <p:cNvPr id="16" name="Text 14"/>
          <p:cNvSpPr/>
          <p:nvPr/>
        </p:nvSpPr>
        <p:spPr>
          <a:xfrm>
            <a:off x="5129784" y="2478024"/>
            <a:ext cx="2231136" cy="438912"/>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Kết quả từ mã nguồn</a:t>
            </a:r>
            <a:endParaRPr lang="en-US" sz="1500" dirty="0"/>
          </a:p>
        </p:txBody>
      </p:sp>
      <p:sp>
        <p:nvSpPr>
          <p:cNvPr id="17" name="Shape 15"/>
          <p:cNvSpPr/>
          <p:nvPr/>
        </p:nvSpPr>
        <p:spPr>
          <a:xfrm>
            <a:off x="457200" y="2980944"/>
            <a:ext cx="2057400" cy="566928"/>
          </a:xfrm>
          <a:prstGeom prst="rect">
            <a:avLst/>
          </a:prstGeom>
          <a:solidFill>
            <a:srgbClr val="FFFFFF"/>
          </a:solidFill>
          <a:ln w="8890">
            <a:solidFill>
              <a:srgbClr val="F5F3ED"/>
            </a:solidFill>
            <a:prstDash val="solid"/>
          </a:ln>
        </p:spPr>
      </p:sp>
      <p:sp>
        <p:nvSpPr>
          <p:cNvPr id="18" name="Text 16"/>
          <p:cNvSpPr/>
          <p:nvPr/>
        </p:nvSpPr>
        <p:spPr>
          <a:xfrm>
            <a:off x="585216" y="3044952"/>
            <a:ext cx="1801368" cy="438912"/>
          </a:xfrm>
          <a:prstGeom prst="rect">
            <a:avLst/>
          </a:prstGeom>
          <a:noFill/>
          <a:ln/>
        </p:spPr>
        <p:txBody>
          <a:bodyPr wrap="square" lIns="0" tIns="0" rIns="0" bIns="0" rtlCol="0" anchor="ctr"/>
          <a:lstStyle/>
          <a:p>
            <a:pPr indent="0" marL="0">
              <a:buNone/>
            </a:pPr>
            <a:r>
              <a:rPr lang="en-US" sz="2000" b="1" dirty="0">
                <a:solidFill>
                  <a:srgbClr val="193541"/>
                </a:solidFill>
                <a:latin typeface="Arial" pitchFamily="34" charset="0"/>
                <a:ea typeface="Arial" pitchFamily="34" charset="-122"/>
                <a:cs typeface="Arial" pitchFamily="34" charset="-120"/>
              </a:rPr>
              <a:t>C001</a:t>
            </a:r>
            <a:endParaRPr lang="en-US" sz="2000" dirty="0"/>
          </a:p>
        </p:txBody>
      </p:sp>
      <p:sp>
        <p:nvSpPr>
          <p:cNvPr id="19" name="Shape 17"/>
          <p:cNvSpPr/>
          <p:nvPr/>
        </p:nvSpPr>
        <p:spPr>
          <a:xfrm>
            <a:off x="2514600" y="2980944"/>
            <a:ext cx="2487168" cy="566928"/>
          </a:xfrm>
          <a:prstGeom prst="rect">
            <a:avLst/>
          </a:prstGeom>
          <a:solidFill>
            <a:srgbClr val="FFFFFF"/>
          </a:solidFill>
          <a:ln w="8890">
            <a:solidFill>
              <a:srgbClr val="F5F3ED"/>
            </a:solidFill>
            <a:prstDash val="solid"/>
          </a:ln>
        </p:spPr>
      </p:sp>
      <p:sp>
        <p:nvSpPr>
          <p:cNvPr id="20" name="Text 18"/>
          <p:cNvSpPr/>
          <p:nvPr/>
        </p:nvSpPr>
        <p:spPr>
          <a:xfrm>
            <a:off x="2642616" y="3044952"/>
            <a:ext cx="2231136" cy="438912"/>
          </a:xfrm>
          <a:prstGeom prst="rect">
            <a:avLst/>
          </a:prstGeom>
          <a:noFill/>
          <a:ln/>
        </p:spPr>
        <p:txBody>
          <a:bodyPr wrap="square" lIns="0" tIns="0" rIns="0" bIns="0" rtlCol="0" anchor="ctr"/>
          <a:lstStyle/>
          <a:p>
            <a:pPr indent="0" marL="0">
              <a:buNone/>
            </a:pPr>
            <a:r>
              <a:rPr lang="en-US" sz="2000" dirty="0">
                <a:solidFill>
                  <a:srgbClr val="193541"/>
                </a:solidFill>
                <a:latin typeface="Arial" pitchFamily="34" charset="0"/>
                <a:ea typeface="Arial" pitchFamily="34" charset="-122"/>
                <a:cs typeface="Arial" pitchFamily="34" charset="-120"/>
              </a:rPr>
              <a:t>843</a:t>
            </a:r>
            <a:endParaRPr lang="en-US" sz="2000" dirty="0"/>
          </a:p>
        </p:txBody>
      </p:sp>
      <p:sp>
        <p:nvSpPr>
          <p:cNvPr id="21" name="Shape 19"/>
          <p:cNvSpPr/>
          <p:nvPr/>
        </p:nvSpPr>
        <p:spPr>
          <a:xfrm>
            <a:off x="5001768" y="2980944"/>
            <a:ext cx="2487168" cy="566928"/>
          </a:xfrm>
          <a:prstGeom prst="rect">
            <a:avLst/>
          </a:prstGeom>
          <a:solidFill>
            <a:srgbClr val="FFFFFF"/>
          </a:solidFill>
          <a:ln w="8890">
            <a:solidFill>
              <a:srgbClr val="F5F3ED"/>
            </a:solidFill>
            <a:prstDash val="solid"/>
          </a:ln>
        </p:spPr>
      </p:sp>
      <p:sp>
        <p:nvSpPr>
          <p:cNvPr id="22" name="Text 20"/>
          <p:cNvSpPr/>
          <p:nvPr/>
        </p:nvSpPr>
        <p:spPr>
          <a:xfrm>
            <a:off x="5129784" y="3044952"/>
            <a:ext cx="2231136" cy="438912"/>
          </a:xfrm>
          <a:prstGeom prst="rect">
            <a:avLst/>
          </a:prstGeom>
          <a:noFill/>
          <a:ln/>
        </p:spPr>
        <p:txBody>
          <a:bodyPr wrap="square" lIns="0" tIns="0" rIns="0" bIns="0" rtlCol="0" anchor="ctr"/>
          <a:lstStyle/>
          <a:p>
            <a:pPr indent="0" marL="0">
              <a:buNone/>
            </a:pPr>
            <a:r>
              <a:rPr lang="en-US" sz="2000" dirty="0">
                <a:solidFill>
                  <a:srgbClr val="193541"/>
                </a:solidFill>
                <a:latin typeface="Arial" pitchFamily="34" charset="0"/>
                <a:ea typeface="Arial" pitchFamily="34" charset="-122"/>
                <a:cs typeface="Arial" pitchFamily="34" charset="-120"/>
              </a:rPr>
              <a:t>843</a:t>
            </a:r>
            <a:endParaRPr lang="en-US" sz="2000" dirty="0"/>
          </a:p>
        </p:txBody>
      </p:sp>
      <p:sp>
        <p:nvSpPr>
          <p:cNvPr id="23" name="Shape 21"/>
          <p:cNvSpPr/>
          <p:nvPr/>
        </p:nvSpPr>
        <p:spPr>
          <a:xfrm>
            <a:off x="457200" y="3547872"/>
            <a:ext cx="2057400" cy="566928"/>
          </a:xfrm>
          <a:prstGeom prst="rect">
            <a:avLst/>
          </a:prstGeom>
          <a:solidFill>
            <a:srgbClr val="DFEFEB"/>
          </a:solidFill>
          <a:ln w="8890">
            <a:solidFill>
              <a:srgbClr val="F5F3ED"/>
            </a:solidFill>
            <a:prstDash val="solid"/>
          </a:ln>
        </p:spPr>
      </p:sp>
      <p:sp>
        <p:nvSpPr>
          <p:cNvPr id="24" name="Text 22"/>
          <p:cNvSpPr/>
          <p:nvPr/>
        </p:nvSpPr>
        <p:spPr>
          <a:xfrm>
            <a:off x="585216" y="3611880"/>
            <a:ext cx="1801368" cy="438912"/>
          </a:xfrm>
          <a:prstGeom prst="rect">
            <a:avLst/>
          </a:prstGeom>
          <a:noFill/>
          <a:ln/>
        </p:spPr>
        <p:txBody>
          <a:bodyPr wrap="square" lIns="0" tIns="0" rIns="0" bIns="0" rtlCol="0" anchor="ctr"/>
          <a:lstStyle/>
          <a:p>
            <a:pPr indent="0" marL="0">
              <a:buNone/>
            </a:pPr>
            <a:r>
              <a:rPr lang="en-US" sz="2000" b="1" dirty="0">
                <a:solidFill>
                  <a:srgbClr val="193541"/>
                </a:solidFill>
                <a:latin typeface="Arial" pitchFamily="34" charset="0"/>
                <a:ea typeface="Arial" pitchFamily="34" charset="-122"/>
                <a:cs typeface="Arial" pitchFamily="34" charset="-120"/>
              </a:rPr>
              <a:t>C002</a:t>
            </a:r>
            <a:endParaRPr lang="en-US" sz="2000" dirty="0"/>
          </a:p>
        </p:txBody>
      </p:sp>
      <p:sp>
        <p:nvSpPr>
          <p:cNvPr id="25" name="Shape 23"/>
          <p:cNvSpPr/>
          <p:nvPr/>
        </p:nvSpPr>
        <p:spPr>
          <a:xfrm>
            <a:off x="2514600" y="3547872"/>
            <a:ext cx="2487168" cy="566928"/>
          </a:xfrm>
          <a:prstGeom prst="rect">
            <a:avLst/>
          </a:prstGeom>
          <a:solidFill>
            <a:srgbClr val="DFEFEB"/>
          </a:solidFill>
          <a:ln w="8890">
            <a:solidFill>
              <a:srgbClr val="F5F3ED"/>
            </a:solidFill>
            <a:prstDash val="solid"/>
          </a:ln>
        </p:spPr>
      </p:sp>
      <p:sp>
        <p:nvSpPr>
          <p:cNvPr id="26" name="Text 24"/>
          <p:cNvSpPr/>
          <p:nvPr/>
        </p:nvSpPr>
        <p:spPr>
          <a:xfrm>
            <a:off x="2642616" y="3611880"/>
            <a:ext cx="2231136" cy="438912"/>
          </a:xfrm>
          <a:prstGeom prst="rect">
            <a:avLst/>
          </a:prstGeom>
          <a:noFill/>
          <a:ln/>
        </p:spPr>
        <p:txBody>
          <a:bodyPr wrap="square" lIns="0" tIns="0" rIns="0" bIns="0" rtlCol="0" anchor="ctr"/>
          <a:lstStyle/>
          <a:p>
            <a:pPr indent="0" marL="0">
              <a:buNone/>
            </a:pPr>
            <a:r>
              <a:rPr lang="en-US" sz="2000" dirty="0">
                <a:solidFill>
                  <a:srgbClr val="193541"/>
                </a:solidFill>
                <a:latin typeface="Arial" pitchFamily="34" charset="0"/>
                <a:ea typeface="Arial" pitchFamily="34" charset="-122"/>
                <a:cs typeface="Arial" pitchFamily="34" charset="-120"/>
              </a:rPr>
              <a:t>1.693</a:t>
            </a:r>
            <a:endParaRPr lang="en-US" sz="2000" dirty="0"/>
          </a:p>
        </p:txBody>
      </p:sp>
      <p:sp>
        <p:nvSpPr>
          <p:cNvPr id="27" name="Shape 25"/>
          <p:cNvSpPr/>
          <p:nvPr/>
        </p:nvSpPr>
        <p:spPr>
          <a:xfrm>
            <a:off x="5001768" y="3547872"/>
            <a:ext cx="2487168" cy="566928"/>
          </a:xfrm>
          <a:prstGeom prst="rect">
            <a:avLst/>
          </a:prstGeom>
          <a:solidFill>
            <a:srgbClr val="DFEFEB"/>
          </a:solidFill>
          <a:ln w="8890">
            <a:solidFill>
              <a:srgbClr val="F5F3ED"/>
            </a:solidFill>
            <a:prstDash val="solid"/>
          </a:ln>
        </p:spPr>
      </p:sp>
      <p:sp>
        <p:nvSpPr>
          <p:cNvPr id="28" name="Text 26"/>
          <p:cNvSpPr/>
          <p:nvPr/>
        </p:nvSpPr>
        <p:spPr>
          <a:xfrm>
            <a:off x="5129784" y="3611880"/>
            <a:ext cx="2231136" cy="438912"/>
          </a:xfrm>
          <a:prstGeom prst="rect">
            <a:avLst/>
          </a:prstGeom>
          <a:noFill/>
          <a:ln/>
        </p:spPr>
        <p:txBody>
          <a:bodyPr wrap="square" lIns="0" tIns="0" rIns="0" bIns="0" rtlCol="0" anchor="ctr"/>
          <a:lstStyle/>
          <a:p>
            <a:pPr indent="0" marL="0">
              <a:buNone/>
            </a:pPr>
            <a:r>
              <a:rPr lang="en-US" sz="2000" dirty="0">
                <a:solidFill>
                  <a:srgbClr val="193541"/>
                </a:solidFill>
                <a:latin typeface="Arial" pitchFamily="34" charset="0"/>
                <a:ea typeface="Arial" pitchFamily="34" charset="-122"/>
                <a:cs typeface="Arial" pitchFamily="34" charset="-120"/>
              </a:rPr>
              <a:t>1.693</a:t>
            </a:r>
            <a:endParaRPr lang="en-US" sz="2000" dirty="0"/>
          </a:p>
        </p:txBody>
      </p:sp>
      <p:sp>
        <p:nvSpPr>
          <p:cNvPr id="29" name="Shape 27"/>
          <p:cNvSpPr/>
          <p:nvPr/>
        </p:nvSpPr>
        <p:spPr>
          <a:xfrm>
            <a:off x="457200" y="4114800"/>
            <a:ext cx="2057400" cy="566928"/>
          </a:xfrm>
          <a:prstGeom prst="rect">
            <a:avLst/>
          </a:prstGeom>
          <a:solidFill>
            <a:srgbClr val="FFFFFF"/>
          </a:solidFill>
          <a:ln w="8890">
            <a:solidFill>
              <a:srgbClr val="F5F3ED"/>
            </a:solidFill>
            <a:prstDash val="solid"/>
          </a:ln>
        </p:spPr>
      </p:sp>
      <p:sp>
        <p:nvSpPr>
          <p:cNvPr id="30" name="Text 28"/>
          <p:cNvSpPr/>
          <p:nvPr/>
        </p:nvSpPr>
        <p:spPr>
          <a:xfrm>
            <a:off x="585216" y="4178808"/>
            <a:ext cx="1801368" cy="438912"/>
          </a:xfrm>
          <a:prstGeom prst="rect">
            <a:avLst/>
          </a:prstGeom>
          <a:noFill/>
          <a:ln/>
        </p:spPr>
        <p:txBody>
          <a:bodyPr wrap="square" lIns="0" tIns="0" rIns="0" bIns="0" rtlCol="0" anchor="ctr"/>
          <a:lstStyle/>
          <a:p>
            <a:pPr indent="0" marL="0">
              <a:buNone/>
            </a:pPr>
            <a:r>
              <a:rPr lang="en-US" sz="2000" b="1" dirty="0">
                <a:solidFill>
                  <a:srgbClr val="193541"/>
                </a:solidFill>
                <a:latin typeface="Arial" pitchFamily="34" charset="0"/>
                <a:ea typeface="Arial" pitchFamily="34" charset="-122"/>
                <a:cs typeface="Arial" pitchFamily="34" charset="-120"/>
              </a:rPr>
              <a:t>C003</a:t>
            </a:r>
            <a:endParaRPr lang="en-US" sz="2000" dirty="0"/>
          </a:p>
        </p:txBody>
      </p:sp>
      <p:sp>
        <p:nvSpPr>
          <p:cNvPr id="31" name="Shape 29"/>
          <p:cNvSpPr/>
          <p:nvPr/>
        </p:nvSpPr>
        <p:spPr>
          <a:xfrm>
            <a:off x="2514600" y="4114800"/>
            <a:ext cx="2487168" cy="566928"/>
          </a:xfrm>
          <a:prstGeom prst="rect">
            <a:avLst/>
          </a:prstGeom>
          <a:solidFill>
            <a:srgbClr val="FFFFFF"/>
          </a:solidFill>
          <a:ln w="8890">
            <a:solidFill>
              <a:srgbClr val="F5F3ED"/>
            </a:solidFill>
            <a:prstDash val="solid"/>
          </a:ln>
        </p:spPr>
      </p:sp>
      <p:sp>
        <p:nvSpPr>
          <p:cNvPr id="32" name="Text 30"/>
          <p:cNvSpPr/>
          <p:nvPr/>
        </p:nvSpPr>
        <p:spPr>
          <a:xfrm>
            <a:off x="2642616" y="4178808"/>
            <a:ext cx="2231136" cy="438912"/>
          </a:xfrm>
          <a:prstGeom prst="rect">
            <a:avLst/>
          </a:prstGeom>
          <a:noFill/>
          <a:ln/>
        </p:spPr>
        <p:txBody>
          <a:bodyPr wrap="square" lIns="0" tIns="0" rIns="0" bIns="0" rtlCol="0" anchor="ctr"/>
          <a:lstStyle/>
          <a:p>
            <a:pPr indent="0" marL="0">
              <a:buNone/>
            </a:pPr>
            <a:r>
              <a:rPr lang="en-US" sz="2000" dirty="0">
                <a:solidFill>
                  <a:srgbClr val="193541"/>
                </a:solidFill>
                <a:latin typeface="Arial" pitchFamily="34" charset="0"/>
                <a:ea typeface="Arial" pitchFamily="34" charset="-122"/>
                <a:cs typeface="Arial" pitchFamily="34" charset="-120"/>
              </a:rPr>
              <a:t>1.233</a:t>
            </a:r>
            <a:endParaRPr lang="en-US" sz="2000" dirty="0"/>
          </a:p>
        </p:txBody>
      </p:sp>
      <p:sp>
        <p:nvSpPr>
          <p:cNvPr id="33" name="Shape 31"/>
          <p:cNvSpPr/>
          <p:nvPr/>
        </p:nvSpPr>
        <p:spPr>
          <a:xfrm>
            <a:off x="5001768" y="4114800"/>
            <a:ext cx="2487168" cy="566928"/>
          </a:xfrm>
          <a:prstGeom prst="rect">
            <a:avLst/>
          </a:prstGeom>
          <a:solidFill>
            <a:srgbClr val="FFFFFF"/>
          </a:solidFill>
          <a:ln w="8890">
            <a:solidFill>
              <a:srgbClr val="F5F3ED"/>
            </a:solidFill>
            <a:prstDash val="solid"/>
          </a:ln>
        </p:spPr>
      </p:sp>
      <p:sp>
        <p:nvSpPr>
          <p:cNvPr id="34" name="Text 32"/>
          <p:cNvSpPr/>
          <p:nvPr/>
        </p:nvSpPr>
        <p:spPr>
          <a:xfrm>
            <a:off x="5129784" y="4178808"/>
            <a:ext cx="2231136" cy="438912"/>
          </a:xfrm>
          <a:prstGeom prst="rect">
            <a:avLst/>
          </a:prstGeom>
          <a:noFill/>
          <a:ln/>
        </p:spPr>
        <p:txBody>
          <a:bodyPr wrap="square" lIns="0" tIns="0" rIns="0" bIns="0" rtlCol="0" anchor="ctr"/>
          <a:lstStyle/>
          <a:p>
            <a:pPr indent="0" marL="0">
              <a:buNone/>
            </a:pPr>
            <a:r>
              <a:rPr lang="en-US" sz="2000" dirty="0">
                <a:solidFill>
                  <a:srgbClr val="193541"/>
                </a:solidFill>
                <a:latin typeface="Arial" pitchFamily="34" charset="0"/>
                <a:ea typeface="Arial" pitchFamily="34" charset="-122"/>
                <a:cs typeface="Arial" pitchFamily="34" charset="-120"/>
              </a:rPr>
              <a:t>1.233</a:t>
            </a:r>
            <a:endParaRPr lang="en-US" sz="2000" dirty="0"/>
          </a:p>
        </p:txBody>
      </p:sp>
      <p:sp>
        <p:nvSpPr>
          <p:cNvPr id="35" name="Shape 33"/>
          <p:cNvSpPr/>
          <p:nvPr/>
        </p:nvSpPr>
        <p:spPr>
          <a:xfrm>
            <a:off x="457200" y="4681728"/>
            <a:ext cx="2057400" cy="566928"/>
          </a:xfrm>
          <a:prstGeom prst="rect">
            <a:avLst/>
          </a:prstGeom>
          <a:solidFill>
            <a:srgbClr val="DFEFEB"/>
          </a:solidFill>
          <a:ln w="8890">
            <a:solidFill>
              <a:srgbClr val="F5F3ED"/>
            </a:solidFill>
            <a:prstDash val="solid"/>
          </a:ln>
        </p:spPr>
      </p:sp>
      <p:sp>
        <p:nvSpPr>
          <p:cNvPr id="36" name="Text 34"/>
          <p:cNvSpPr/>
          <p:nvPr/>
        </p:nvSpPr>
        <p:spPr>
          <a:xfrm>
            <a:off x="585216" y="4745736"/>
            <a:ext cx="1801368" cy="438912"/>
          </a:xfrm>
          <a:prstGeom prst="rect">
            <a:avLst/>
          </a:prstGeom>
          <a:noFill/>
          <a:ln/>
        </p:spPr>
        <p:txBody>
          <a:bodyPr wrap="square" lIns="0" tIns="0" rIns="0" bIns="0" rtlCol="0" anchor="ctr"/>
          <a:lstStyle/>
          <a:p>
            <a:pPr indent="0" marL="0">
              <a:buNone/>
            </a:pPr>
            <a:r>
              <a:rPr lang="en-US" sz="2000" b="1" dirty="0">
                <a:solidFill>
                  <a:srgbClr val="193541"/>
                </a:solidFill>
                <a:latin typeface="Arial" pitchFamily="34" charset="0"/>
                <a:ea typeface="Arial" pitchFamily="34" charset="-122"/>
                <a:cs typeface="Arial" pitchFamily="34" charset="-120"/>
              </a:rPr>
              <a:t>C004</a:t>
            </a:r>
            <a:endParaRPr lang="en-US" sz="2000" dirty="0"/>
          </a:p>
        </p:txBody>
      </p:sp>
      <p:sp>
        <p:nvSpPr>
          <p:cNvPr id="37" name="Shape 35"/>
          <p:cNvSpPr/>
          <p:nvPr/>
        </p:nvSpPr>
        <p:spPr>
          <a:xfrm>
            <a:off x="2514600" y="4681728"/>
            <a:ext cx="2487168" cy="566928"/>
          </a:xfrm>
          <a:prstGeom prst="rect">
            <a:avLst/>
          </a:prstGeom>
          <a:solidFill>
            <a:srgbClr val="DFEFEB"/>
          </a:solidFill>
          <a:ln w="8890">
            <a:solidFill>
              <a:srgbClr val="F5F3ED"/>
            </a:solidFill>
            <a:prstDash val="solid"/>
          </a:ln>
        </p:spPr>
      </p:sp>
      <p:sp>
        <p:nvSpPr>
          <p:cNvPr id="38" name="Text 36"/>
          <p:cNvSpPr/>
          <p:nvPr/>
        </p:nvSpPr>
        <p:spPr>
          <a:xfrm>
            <a:off x="2642616" y="4745736"/>
            <a:ext cx="2231136" cy="438912"/>
          </a:xfrm>
          <a:prstGeom prst="rect">
            <a:avLst/>
          </a:prstGeom>
          <a:noFill/>
          <a:ln/>
        </p:spPr>
        <p:txBody>
          <a:bodyPr wrap="square" lIns="0" tIns="0" rIns="0" bIns="0" rtlCol="0" anchor="ctr"/>
          <a:lstStyle/>
          <a:p>
            <a:pPr indent="0" marL="0">
              <a:buNone/>
            </a:pPr>
            <a:r>
              <a:rPr lang="en-US" sz="2000" dirty="0">
                <a:solidFill>
                  <a:srgbClr val="193541"/>
                </a:solidFill>
                <a:latin typeface="Arial" pitchFamily="34" charset="0"/>
                <a:ea typeface="Arial" pitchFamily="34" charset="-122"/>
                <a:cs typeface="Arial" pitchFamily="34" charset="-120"/>
              </a:rPr>
              <a:t>5.740</a:t>
            </a:r>
            <a:endParaRPr lang="en-US" sz="2000" dirty="0"/>
          </a:p>
        </p:txBody>
      </p:sp>
      <p:sp>
        <p:nvSpPr>
          <p:cNvPr id="39" name="Shape 37"/>
          <p:cNvSpPr/>
          <p:nvPr/>
        </p:nvSpPr>
        <p:spPr>
          <a:xfrm>
            <a:off x="5001768" y="4681728"/>
            <a:ext cx="2487168" cy="566928"/>
          </a:xfrm>
          <a:prstGeom prst="rect">
            <a:avLst/>
          </a:prstGeom>
          <a:solidFill>
            <a:srgbClr val="DFEFEB"/>
          </a:solidFill>
          <a:ln w="8890">
            <a:solidFill>
              <a:srgbClr val="F5F3ED"/>
            </a:solidFill>
            <a:prstDash val="solid"/>
          </a:ln>
        </p:spPr>
      </p:sp>
      <p:sp>
        <p:nvSpPr>
          <p:cNvPr id="40" name="Text 38"/>
          <p:cNvSpPr/>
          <p:nvPr/>
        </p:nvSpPr>
        <p:spPr>
          <a:xfrm>
            <a:off x="5129784" y="4745736"/>
            <a:ext cx="2231136" cy="438912"/>
          </a:xfrm>
          <a:prstGeom prst="rect">
            <a:avLst/>
          </a:prstGeom>
          <a:noFill/>
          <a:ln/>
        </p:spPr>
        <p:txBody>
          <a:bodyPr wrap="square" lIns="0" tIns="0" rIns="0" bIns="0" rtlCol="0" anchor="ctr"/>
          <a:lstStyle/>
          <a:p>
            <a:pPr indent="0" marL="0">
              <a:buNone/>
            </a:pPr>
            <a:r>
              <a:rPr lang="en-US" sz="2000" dirty="0">
                <a:solidFill>
                  <a:srgbClr val="193541"/>
                </a:solidFill>
                <a:latin typeface="Arial" pitchFamily="34" charset="0"/>
                <a:ea typeface="Arial" pitchFamily="34" charset="-122"/>
                <a:cs typeface="Arial" pitchFamily="34" charset="-120"/>
              </a:rPr>
              <a:t>5.740</a:t>
            </a:r>
            <a:endParaRPr lang="en-US" sz="2000" dirty="0"/>
          </a:p>
        </p:txBody>
      </p:sp>
      <p:sp>
        <p:nvSpPr>
          <p:cNvPr id="41" name="Shape 39"/>
          <p:cNvSpPr/>
          <p:nvPr/>
        </p:nvSpPr>
        <p:spPr>
          <a:xfrm>
            <a:off x="7754112" y="2414016"/>
            <a:ext cx="3950208" cy="2834640"/>
          </a:xfrm>
          <a:prstGeom prst="rect">
            <a:avLst/>
          </a:prstGeom>
          <a:solidFill>
            <a:srgbClr val="FFFFFF"/>
          </a:solidFill>
          <a:ln w="8890">
            <a:solidFill>
              <a:srgbClr val="FFFFFF"/>
            </a:solidFill>
            <a:prstDash val="solid"/>
          </a:ln>
        </p:spPr>
      </p:sp>
      <p:sp>
        <p:nvSpPr>
          <p:cNvPr id="42" name="Shape 40"/>
          <p:cNvSpPr/>
          <p:nvPr/>
        </p:nvSpPr>
        <p:spPr>
          <a:xfrm>
            <a:off x="7754112" y="2414016"/>
            <a:ext cx="54864" cy="2834640"/>
          </a:xfrm>
          <a:prstGeom prst="rect">
            <a:avLst/>
          </a:prstGeom>
          <a:solidFill>
            <a:srgbClr val="007F79"/>
          </a:solidFill>
          <a:ln w="8890">
            <a:solidFill>
              <a:srgbClr val="007F79"/>
            </a:solidFill>
            <a:prstDash val="solid"/>
          </a:ln>
        </p:spPr>
      </p:sp>
      <p:sp>
        <p:nvSpPr>
          <p:cNvPr id="43" name="Text 41"/>
          <p:cNvSpPr/>
          <p:nvPr/>
        </p:nvSpPr>
        <p:spPr>
          <a:xfrm>
            <a:off x="7955280" y="2551176"/>
            <a:ext cx="3566160" cy="384048"/>
          </a:xfrm>
          <a:prstGeom prst="rect">
            <a:avLst/>
          </a:prstGeom>
          <a:noFill/>
          <a:ln/>
        </p:spPr>
        <p:txBody>
          <a:bodyPr wrap="square" lIns="0" tIns="0" rIns="0" bIns="0" rtlCol="0" anchor="ctr"/>
          <a:lstStyle/>
          <a:p>
            <a:pPr indent="0" marL="0">
              <a:buNone/>
            </a:pPr>
            <a:r>
              <a:rPr lang="en-US" sz="2000" b="1" dirty="0">
                <a:solidFill>
                  <a:srgbClr val="007F79"/>
                </a:solidFill>
                <a:latin typeface="Arial" pitchFamily="34" charset="0"/>
                <a:ea typeface="Arial" pitchFamily="34" charset="-122"/>
                <a:cs typeface="Arial" pitchFamily="34" charset="-120"/>
              </a:rPr>
              <a:t>Các mốc kiểm tra khác</a:t>
            </a:r>
            <a:endParaRPr lang="en-US" sz="2000" dirty="0"/>
          </a:p>
        </p:txBody>
      </p:sp>
      <p:sp>
        <p:nvSpPr>
          <p:cNvPr id="44" name="Text 42"/>
          <p:cNvSpPr/>
          <p:nvPr/>
        </p:nvSpPr>
        <p:spPr>
          <a:xfrm>
            <a:off x="7955280" y="3118104"/>
            <a:ext cx="3566160" cy="1984248"/>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Chờ ký: 555 và 585 phút</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Trễ phát hiện: 2.130 phút</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Tuổi net C004: 95 phút</a:t>
            </a:r>
            <a:endParaRPr lang="en-US" sz="1700" dirty="0"/>
          </a:p>
        </p:txBody>
      </p:sp>
      <p:sp>
        <p:nvSpPr>
          <p:cNvPr id="45" name="Shape 43"/>
          <p:cNvSpPr/>
          <p:nvPr/>
        </p:nvSpPr>
        <p:spPr>
          <a:xfrm>
            <a:off x="457200" y="5687568"/>
            <a:ext cx="11247120" cy="457200"/>
          </a:xfrm>
          <a:prstGeom prst="rect">
            <a:avLst/>
          </a:prstGeom>
          <a:solidFill>
            <a:srgbClr val="007F79"/>
          </a:solidFill>
          <a:ln w="8890">
            <a:solidFill>
              <a:srgbClr val="007F79"/>
            </a:solidFill>
            <a:prstDash val="solid"/>
          </a:ln>
        </p:spPr>
      </p:sp>
      <p:sp>
        <p:nvSpPr>
          <p:cNvPr id="46" name="Text 44"/>
          <p:cNvSpPr/>
          <p:nvPr/>
        </p:nvSpPr>
        <p:spPr>
          <a:xfrm>
            <a:off x="640080" y="5705856"/>
            <a:ext cx="1088136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Trừ đúng giờ nghỉ • Tách phản hồi của sinh viên • Kiểm trực tiếp KPI trên C001</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TO-BE • MÔ HÌNH ĐỀ XUẤT</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Tự động hóa thao tác, giữ thẩm quyền nghiệp vụ</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Biểu mẫu kiểm tra sớm; hệ thống sinh bản thảo, lưu vết và kiểm soát hạn.</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09</a:t>
            </a:r>
            <a:endParaRPr lang="en-US" sz="1200" dirty="0"/>
          </a:p>
        </p:txBody>
      </p:sp>
      <p:sp>
        <p:nvSpPr>
          <p:cNvPr id="9" name="Shape 7"/>
          <p:cNvSpPr/>
          <p:nvPr/>
        </p:nvSpPr>
        <p:spPr>
          <a:xfrm>
            <a:off x="457200" y="2359152"/>
            <a:ext cx="11247120" cy="603504"/>
          </a:xfrm>
          <a:prstGeom prst="rect">
            <a:avLst/>
          </a:prstGeom>
          <a:solidFill>
            <a:srgbClr val="EAF0EB"/>
          </a:solidFill>
          <a:ln w="8890">
            <a:solidFill>
              <a:srgbClr val="D6DED9"/>
            </a:solidFill>
            <a:prstDash val="solid"/>
          </a:ln>
        </p:spPr>
      </p:sp>
      <p:sp>
        <p:nvSpPr>
          <p:cNvPr id="10" name="Text 8"/>
          <p:cNvSpPr/>
          <p:nvPr/>
        </p:nvSpPr>
        <p:spPr>
          <a:xfrm>
            <a:off x="576072" y="2450592"/>
            <a:ext cx="1417320" cy="420624"/>
          </a:xfrm>
          <a:prstGeom prst="rect">
            <a:avLst/>
          </a:prstGeom>
          <a:noFill/>
          <a:ln/>
        </p:spPr>
        <p:txBody>
          <a:bodyPr wrap="square" lIns="0" tIns="0" rIns="0" bIns="0" rtlCol="0" anchor="ctr"/>
          <a:lstStyle/>
          <a:p>
            <a:pPr indent="0" marL="0">
              <a:buNone/>
            </a:pPr>
            <a:r>
              <a:rPr lang="en-US" sz="1500" b="1" dirty="0">
                <a:solidFill>
                  <a:srgbClr val="007F79"/>
                </a:solidFill>
                <a:latin typeface="Arial" pitchFamily="34" charset="0"/>
                <a:ea typeface="Arial" pitchFamily="34" charset="-122"/>
                <a:cs typeface="Arial" pitchFamily="34" charset="-120"/>
              </a:rPr>
              <a:t>Sinh viên</a:t>
            </a:r>
            <a:endParaRPr lang="en-US" sz="1500" dirty="0"/>
          </a:p>
        </p:txBody>
      </p:sp>
      <p:sp>
        <p:nvSpPr>
          <p:cNvPr id="11" name="Shape 9"/>
          <p:cNvSpPr/>
          <p:nvPr/>
        </p:nvSpPr>
        <p:spPr>
          <a:xfrm>
            <a:off x="2039112" y="2359152"/>
            <a:ext cx="0" cy="603504"/>
          </a:xfrm>
          <a:prstGeom prst="line">
            <a:avLst/>
          </a:prstGeom>
          <a:noFill/>
          <a:ln w="7620">
            <a:solidFill>
              <a:srgbClr val="D6DED9"/>
            </a:solidFill>
            <a:prstDash val="solid"/>
            <a:headEnd type="none"/>
            <a:tailEnd type="none"/>
          </a:ln>
        </p:spPr>
      </p:sp>
      <p:sp>
        <p:nvSpPr>
          <p:cNvPr id="12" name="Shape 10"/>
          <p:cNvSpPr/>
          <p:nvPr/>
        </p:nvSpPr>
        <p:spPr>
          <a:xfrm>
            <a:off x="457200" y="2962656"/>
            <a:ext cx="11247120" cy="603504"/>
          </a:xfrm>
          <a:prstGeom prst="rect">
            <a:avLst/>
          </a:prstGeom>
          <a:solidFill>
            <a:srgbClr val="FFFFFF"/>
          </a:solidFill>
          <a:ln w="8890">
            <a:solidFill>
              <a:srgbClr val="D6DED9"/>
            </a:solidFill>
            <a:prstDash val="solid"/>
          </a:ln>
        </p:spPr>
      </p:sp>
      <p:sp>
        <p:nvSpPr>
          <p:cNvPr id="13" name="Text 11"/>
          <p:cNvSpPr/>
          <p:nvPr/>
        </p:nvSpPr>
        <p:spPr>
          <a:xfrm>
            <a:off x="576072" y="3054096"/>
            <a:ext cx="1417320" cy="420624"/>
          </a:xfrm>
          <a:prstGeom prst="rect">
            <a:avLst/>
          </a:prstGeom>
          <a:noFill/>
          <a:ln/>
        </p:spPr>
        <p:txBody>
          <a:bodyPr wrap="square" lIns="0" tIns="0" rIns="0" bIns="0" rtlCol="0" anchor="ctr"/>
          <a:lstStyle/>
          <a:p>
            <a:pPr indent="0" marL="0">
              <a:buNone/>
            </a:pPr>
            <a:r>
              <a:rPr lang="en-US" sz="1500" b="1" dirty="0">
                <a:solidFill>
                  <a:srgbClr val="007F79"/>
                </a:solidFill>
                <a:latin typeface="Arial" pitchFamily="34" charset="0"/>
                <a:ea typeface="Arial" pitchFamily="34" charset="-122"/>
                <a:cs typeface="Arial" pitchFamily="34" charset="-120"/>
              </a:rPr>
              <a:t>Cán bộ</a:t>
            </a:r>
            <a:endParaRPr lang="en-US" sz="1500" dirty="0"/>
          </a:p>
        </p:txBody>
      </p:sp>
      <p:sp>
        <p:nvSpPr>
          <p:cNvPr id="14" name="Shape 12"/>
          <p:cNvSpPr/>
          <p:nvPr/>
        </p:nvSpPr>
        <p:spPr>
          <a:xfrm>
            <a:off x="2039112" y="2962656"/>
            <a:ext cx="0" cy="603504"/>
          </a:xfrm>
          <a:prstGeom prst="line">
            <a:avLst/>
          </a:prstGeom>
          <a:noFill/>
          <a:ln w="7620">
            <a:solidFill>
              <a:srgbClr val="D6DED9"/>
            </a:solidFill>
            <a:prstDash val="solid"/>
            <a:headEnd type="none"/>
            <a:tailEnd type="none"/>
          </a:ln>
        </p:spPr>
      </p:sp>
      <p:sp>
        <p:nvSpPr>
          <p:cNvPr id="15" name="Shape 13"/>
          <p:cNvSpPr/>
          <p:nvPr/>
        </p:nvSpPr>
        <p:spPr>
          <a:xfrm>
            <a:off x="457200" y="3566160"/>
            <a:ext cx="11247120" cy="603504"/>
          </a:xfrm>
          <a:prstGeom prst="rect">
            <a:avLst/>
          </a:prstGeom>
          <a:solidFill>
            <a:srgbClr val="EAF0EB"/>
          </a:solidFill>
          <a:ln w="8890">
            <a:solidFill>
              <a:srgbClr val="D6DED9"/>
            </a:solidFill>
            <a:prstDash val="solid"/>
          </a:ln>
        </p:spPr>
      </p:sp>
      <p:sp>
        <p:nvSpPr>
          <p:cNvPr id="16" name="Text 14"/>
          <p:cNvSpPr/>
          <p:nvPr/>
        </p:nvSpPr>
        <p:spPr>
          <a:xfrm>
            <a:off x="576072" y="3657600"/>
            <a:ext cx="1417320" cy="420624"/>
          </a:xfrm>
          <a:prstGeom prst="rect">
            <a:avLst/>
          </a:prstGeom>
          <a:noFill/>
          <a:ln/>
        </p:spPr>
        <p:txBody>
          <a:bodyPr wrap="square" lIns="0" tIns="0" rIns="0" bIns="0" rtlCol="0" anchor="ctr"/>
          <a:lstStyle/>
          <a:p>
            <a:pPr indent="0" marL="0">
              <a:buNone/>
            </a:pPr>
            <a:r>
              <a:rPr lang="en-US" sz="1500" b="1" dirty="0">
                <a:solidFill>
                  <a:srgbClr val="007F79"/>
                </a:solidFill>
                <a:latin typeface="Arial" pitchFamily="34" charset="0"/>
                <a:ea typeface="Arial" pitchFamily="34" charset="-122"/>
                <a:cs typeface="Arial" pitchFamily="34" charset="-120"/>
              </a:rPr>
              <a:t>Lãnh đạo</a:t>
            </a:r>
            <a:endParaRPr lang="en-US" sz="1500" dirty="0"/>
          </a:p>
        </p:txBody>
      </p:sp>
      <p:sp>
        <p:nvSpPr>
          <p:cNvPr id="17" name="Shape 15"/>
          <p:cNvSpPr/>
          <p:nvPr/>
        </p:nvSpPr>
        <p:spPr>
          <a:xfrm>
            <a:off x="2039112" y="3566160"/>
            <a:ext cx="0" cy="603504"/>
          </a:xfrm>
          <a:prstGeom prst="line">
            <a:avLst/>
          </a:prstGeom>
          <a:noFill/>
          <a:ln w="7620">
            <a:solidFill>
              <a:srgbClr val="D6DED9"/>
            </a:solidFill>
            <a:prstDash val="solid"/>
            <a:headEnd type="none"/>
            <a:tailEnd type="none"/>
          </a:ln>
        </p:spPr>
      </p:sp>
      <p:sp>
        <p:nvSpPr>
          <p:cNvPr id="18" name="Shape 16"/>
          <p:cNvSpPr/>
          <p:nvPr/>
        </p:nvSpPr>
        <p:spPr>
          <a:xfrm>
            <a:off x="457200" y="4169664"/>
            <a:ext cx="11247120" cy="603504"/>
          </a:xfrm>
          <a:prstGeom prst="rect">
            <a:avLst/>
          </a:prstGeom>
          <a:solidFill>
            <a:srgbClr val="FFFFFF"/>
          </a:solidFill>
          <a:ln w="8890">
            <a:solidFill>
              <a:srgbClr val="D6DED9"/>
            </a:solidFill>
            <a:prstDash val="solid"/>
          </a:ln>
        </p:spPr>
      </p:sp>
      <p:sp>
        <p:nvSpPr>
          <p:cNvPr id="19" name="Text 17"/>
          <p:cNvSpPr/>
          <p:nvPr/>
        </p:nvSpPr>
        <p:spPr>
          <a:xfrm>
            <a:off x="576072" y="4261104"/>
            <a:ext cx="1417320" cy="420624"/>
          </a:xfrm>
          <a:prstGeom prst="rect">
            <a:avLst/>
          </a:prstGeom>
          <a:noFill/>
          <a:ln/>
        </p:spPr>
        <p:txBody>
          <a:bodyPr wrap="square" lIns="0" tIns="0" rIns="0" bIns="0" rtlCol="0" anchor="ctr"/>
          <a:lstStyle/>
          <a:p>
            <a:pPr indent="0" marL="0">
              <a:buNone/>
            </a:pPr>
            <a:r>
              <a:rPr lang="en-US" sz="1500" b="1" dirty="0">
                <a:solidFill>
                  <a:srgbClr val="007F79"/>
                </a:solidFill>
                <a:latin typeface="Arial" pitchFamily="34" charset="0"/>
                <a:ea typeface="Arial" pitchFamily="34" charset="-122"/>
                <a:cs typeface="Arial" pitchFamily="34" charset="-120"/>
              </a:rPr>
              <a:t>Văn thư</a:t>
            </a:r>
            <a:endParaRPr lang="en-US" sz="1500" dirty="0"/>
          </a:p>
        </p:txBody>
      </p:sp>
      <p:sp>
        <p:nvSpPr>
          <p:cNvPr id="20" name="Shape 18"/>
          <p:cNvSpPr/>
          <p:nvPr/>
        </p:nvSpPr>
        <p:spPr>
          <a:xfrm>
            <a:off x="2039112" y="4169664"/>
            <a:ext cx="0" cy="603504"/>
          </a:xfrm>
          <a:prstGeom prst="line">
            <a:avLst/>
          </a:prstGeom>
          <a:noFill/>
          <a:ln w="7620">
            <a:solidFill>
              <a:srgbClr val="D6DED9"/>
            </a:solidFill>
            <a:prstDash val="solid"/>
            <a:headEnd type="none"/>
            <a:tailEnd type="none"/>
          </a:ln>
        </p:spPr>
      </p:sp>
      <p:sp>
        <p:nvSpPr>
          <p:cNvPr id="21" name="Shape 19"/>
          <p:cNvSpPr/>
          <p:nvPr/>
        </p:nvSpPr>
        <p:spPr>
          <a:xfrm>
            <a:off x="457200" y="4773168"/>
            <a:ext cx="11247120" cy="603504"/>
          </a:xfrm>
          <a:prstGeom prst="rect">
            <a:avLst/>
          </a:prstGeom>
          <a:solidFill>
            <a:srgbClr val="EAF0EB"/>
          </a:solidFill>
          <a:ln w="8890">
            <a:solidFill>
              <a:srgbClr val="D6DED9"/>
            </a:solidFill>
            <a:prstDash val="solid"/>
          </a:ln>
        </p:spPr>
      </p:sp>
      <p:sp>
        <p:nvSpPr>
          <p:cNvPr id="22" name="Text 20"/>
          <p:cNvSpPr/>
          <p:nvPr/>
        </p:nvSpPr>
        <p:spPr>
          <a:xfrm>
            <a:off x="576072" y="4864608"/>
            <a:ext cx="1417320" cy="420624"/>
          </a:xfrm>
          <a:prstGeom prst="rect">
            <a:avLst/>
          </a:prstGeom>
          <a:noFill/>
          <a:ln/>
        </p:spPr>
        <p:txBody>
          <a:bodyPr wrap="square" lIns="0" tIns="0" rIns="0" bIns="0" rtlCol="0" anchor="ctr"/>
          <a:lstStyle/>
          <a:p>
            <a:pPr indent="0" marL="0">
              <a:buNone/>
            </a:pPr>
            <a:r>
              <a:rPr lang="en-US" sz="1500" b="1" dirty="0">
                <a:solidFill>
                  <a:srgbClr val="007F79"/>
                </a:solidFill>
                <a:latin typeface="Arial" pitchFamily="34" charset="0"/>
                <a:ea typeface="Arial" pitchFamily="34" charset="-122"/>
                <a:cs typeface="Arial" pitchFamily="34" charset="-120"/>
              </a:rPr>
              <a:t>Hệ thống</a:t>
            </a:r>
            <a:endParaRPr lang="en-US" sz="1500" dirty="0"/>
          </a:p>
        </p:txBody>
      </p:sp>
      <p:sp>
        <p:nvSpPr>
          <p:cNvPr id="23" name="Shape 21"/>
          <p:cNvSpPr/>
          <p:nvPr/>
        </p:nvSpPr>
        <p:spPr>
          <a:xfrm>
            <a:off x="2039112" y="4773168"/>
            <a:ext cx="0" cy="603504"/>
          </a:xfrm>
          <a:prstGeom prst="line">
            <a:avLst/>
          </a:prstGeom>
          <a:noFill/>
          <a:ln w="7620">
            <a:solidFill>
              <a:srgbClr val="D6DED9"/>
            </a:solidFill>
            <a:prstDash val="solid"/>
            <a:headEnd type="none"/>
            <a:tailEnd type="none"/>
          </a:ln>
        </p:spPr>
      </p:sp>
      <p:sp>
        <p:nvSpPr>
          <p:cNvPr id="24" name="Shape 22"/>
          <p:cNvSpPr/>
          <p:nvPr/>
        </p:nvSpPr>
        <p:spPr>
          <a:xfrm>
            <a:off x="2240280" y="2432304"/>
            <a:ext cx="2971800" cy="457200"/>
          </a:xfrm>
          <a:prstGeom prst="rect">
            <a:avLst/>
          </a:prstGeom>
          <a:solidFill>
            <a:srgbClr val="FFFFFF"/>
          </a:solidFill>
          <a:ln w="8890">
            <a:solidFill>
              <a:srgbClr val="D6DED9"/>
            </a:solidFill>
            <a:prstDash val="solid"/>
          </a:ln>
        </p:spPr>
      </p:sp>
      <p:sp>
        <p:nvSpPr>
          <p:cNvPr id="25" name="Text 23"/>
          <p:cNvSpPr/>
          <p:nvPr/>
        </p:nvSpPr>
        <p:spPr>
          <a:xfrm>
            <a:off x="2295144" y="2455164"/>
            <a:ext cx="2862072" cy="41148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Nộp / bổ sung trực tuyến</a:t>
            </a:r>
            <a:endParaRPr lang="en-US" sz="1400" dirty="0"/>
          </a:p>
        </p:txBody>
      </p:sp>
      <p:sp>
        <p:nvSpPr>
          <p:cNvPr id="26" name="Shape 24"/>
          <p:cNvSpPr/>
          <p:nvPr/>
        </p:nvSpPr>
        <p:spPr>
          <a:xfrm>
            <a:off x="9555480" y="2432304"/>
            <a:ext cx="1920240" cy="457200"/>
          </a:xfrm>
          <a:prstGeom prst="rect">
            <a:avLst/>
          </a:prstGeom>
          <a:solidFill>
            <a:srgbClr val="DFEFEB"/>
          </a:solidFill>
          <a:ln w="8890">
            <a:solidFill>
              <a:srgbClr val="D6DED9"/>
            </a:solidFill>
            <a:prstDash val="solid"/>
          </a:ln>
        </p:spPr>
      </p:sp>
      <p:sp>
        <p:nvSpPr>
          <p:cNvPr id="27" name="Text 25"/>
          <p:cNvSpPr/>
          <p:nvPr/>
        </p:nvSpPr>
        <p:spPr>
          <a:xfrm>
            <a:off x="9610344" y="2455164"/>
            <a:ext cx="1810512" cy="41148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Nhận kết quả</a:t>
            </a:r>
            <a:endParaRPr lang="en-US" sz="1400" dirty="0"/>
          </a:p>
        </p:txBody>
      </p:sp>
      <p:sp>
        <p:nvSpPr>
          <p:cNvPr id="28" name="Shape 26"/>
          <p:cNvSpPr/>
          <p:nvPr/>
        </p:nvSpPr>
        <p:spPr>
          <a:xfrm>
            <a:off x="3913632" y="3035808"/>
            <a:ext cx="2468880" cy="457200"/>
          </a:xfrm>
          <a:prstGeom prst="rect">
            <a:avLst/>
          </a:prstGeom>
          <a:solidFill>
            <a:srgbClr val="FFFFFF"/>
          </a:solidFill>
          <a:ln w="8890">
            <a:solidFill>
              <a:srgbClr val="D6DED9"/>
            </a:solidFill>
            <a:prstDash val="solid"/>
          </a:ln>
        </p:spPr>
      </p:sp>
      <p:sp>
        <p:nvSpPr>
          <p:cNvPr id="29" name="Text 27"/>
          <p:cNvSpPr/>
          <p:nvPr/>
        </p:nvSpPr>
        <p:spPr>
          <a:xfrm>
            <a:off x="3968496" y="3058668"/>
            <a:ext cx="2359152" cy="41148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Thẩm định hồ sơ</a:t>
            </a:r>
            <a:endParaRPr lang="en-US" sz="1400" dirty="0"/>
          </a:p>
        </p:txBody>
      </p:sp>
      <p:sp>
        <p:nvSpPr>
          <p:cNvPr id="30" name="Shape 28"/>
          <p:cNvSpPr/>
          <p:nvPr/>
        </p:nvSpPr>
        <p:spPr>
          <a:xfrm>
            <a:off x="8979408" y="3035808"/>
            <a:ext cx="2496312" cy="457200"/>
          </a:xfrm>
          <a:prstGeom prst="rect">
            <a:avLst/>
          </a:prstGeom>
          <a:solidFill>
            <a:srgbClr val="FFFFFF"/>
          </a:solidFill>
          <a:ln w="8890">
            <a:solidFill>
              <a:srgbClr val="D6DED9"/>
            </a:solidFill>
            <a:prstDash val="solid"/>
          </a:ln>
        </p:spPr>
      </p:sp>
      <p:sp>
        <p:nvSpPr>
          <p:cNvPr id="31" name="Text 29"/>
          <p:cNvSpPr/>
          <p:nvPr/>
        </p:nvSpPr>
        <p:spPr>
          <a:xfrm>
            <a:off x="9034272" y="3058668"/>
            <a:ext cx="2386584" cy="41148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Xác nhận kết quả</a:t>
            </a:r>
            <a:endParaRPr lang="en-US" sz="1400" dirty="0"/>
          </a:p>
        </p:txBody>
      </p:sp>
      <p:sp>
        <p:nvSpPr>
          <p:cNvPr id="32" name="Shape 30"/>
          <p:cNvSpPr/>
          <p:nvPr/>
        </p:nvSpPr>
        <p:spPr>
          <a:xfrm>
            <a:off x="6080760" y="3639312"/>
            <a:ext cx="2606040" cy="457200"/>
          </a:xfrm>
          <a:prstGeom prst="rect">
            <a:avLst/>
          </a:prstGeom>
          <a:solidFill>
            <a:srgbClr val="FFFFFF"/>
          </a:solidFill>
          <a:ln w="8890">
            <a:solidFill>
              <a:srgbClr val="D6DED9"/>
            </a:solidFill>
            <a:prstDash val="solid"/>
          </a:ln>
        </p:spPr>
      </p:sp>
      <p:sp>
        <p:nvSpPr>
          <p:cNvPr id="33" name="Text 31"/>
          <p:cNvSpPr/>
          <p:nvPr/>
        </p:nvSpPr>
        <p:spPr>
          <a:xfrm>
            <a:off x="6135624" y="3662172"/>
            <a:ext cx="2496312" cy="41148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Duyệt / từ chối, ký</a:t>
            </a:r>
            <a:endParaRPr lang="en-US" sz="1400" dirty="0"/>
          </a:p>
        </p:txBody>
      </p:sp>
      <p:sp>
        <p:nvSpPr>
          <p:cNvPr id="34" name="Shape 32"/>
          <p:cNvSpPr/>
          <p:nvPr/>
        </p:nvSpPr>
        <p:spPr>
          <a:xfrm>
            <a:off x="8851392" y="4242816"/>
            <a:ext cx="2624328" cy="457200"/>
          </a:xfrm>
          <a:prstGeom prst="rect">
            <a:avLst/>
          </a:prstGeom>
          <a:solidFill>
            <a:srgbClr val="FFFFFF"/>
          </a:solidFill>
          <a:ln w="8890">
            <a:solidFill>
              <a:srgbClr val="D6DED9"/>
            </a:solidFill>
            <a:prstDash val="solid"/>
          </a:ln>
        </p:spPr>
      </p:sp>
      <p:sp>
        <p:nvSpPr>
          <p:cNvPr id="35" name="Text 33"/>
          <p:cNvSpPr/>
          <p:nvPr/>
        </p:nvSpPr>
        <p:spPr>
          <a:xfrm>
            <a:off x="8906256" y="4265676"/>
            <a:ext cx="2514600" cy="41148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Đóng dấu</a:t>
            </a:r>
            <a:endParaRPr lang="en-US" sz="1400" dirty="0"/>
          </a:p>
        </p:txBody>
      </p:sp>
      <p:sp>
        <p:nvSpPr>
          <p:cNvPr id="36" name="Shape 34"/>
          <p:cNvSpPr/>
          <p:nvPr/>
        </p:nvSpPr>
        <p:spPr>
          <a:xfrm>
            <a:off x="2240280" y="4846320"/>
            <a:ext cx="2331720" cy="457200"/>
          </a:xfrm>
          <a:prstGeom prst="rect">
            <a:avLst/>
          </a:prstGeom>
          <a:solidFill>
            <a:srgbClr val="DFEFEB"/>
          </a:solidFill>
          <a:ln w="8890">
            <a:solidFill>
              <a:srgbClr val="D6DED9"/>
            </a:solidFill>
            <a:prstDash val="solid"/>
          </a:ln>
        </p:spPr>
      </p:sp>
      <p:sp>
        <p:nvSpPr>
          <p:cNvPr id="37" name="Text 35"/>
          <p:cNvSpPr/>
          <p:nvPr/>
        </p:nvSpPr>
        <p:spPr>
          <a:xfrm>
            <a:off x="2295144" y="4869180"/>
            <a:ext cx="2221992" cy="41148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Kiểm tra / cấp mã</a:t>
            </a:r>
            <a:endParaRPr lang="en-US" sz="1400" dirty="0"/>
          </a:p>
        </p:txBody>
      </p:sp>
      <p:sp>
        <p:nvSpPr>
          <p:cNvPr id="38" name="Shape 36"/>
          <p:cNvSpPr/>
          <p:nvPr/>
        </p:nvSpPr>
        <p:spPr>
          <a:xfrm>
            <a:off x="4736592" y="4846320"/>
            <a:ext cx="1984248" cy="457200"/>
          </a:xfrm>
          <a:prstGeom prst="rect">
            <a:avLst/>
          </a:prstGeom>
          <a:solidFill>
            <a:srgbClr val="DFEFEB"/>
          </a:solidFill>
          <a:ln w="8890">
            <a:solidFill>
              <a:srgbClr val="D6DED9"/>
            </a:solidFill>
            <a:prstDash val="solid"/>
          </a:ln>
        </p:spPr>
      </p:sp>
      <p:sp>
        <p:nvSpPr>
          <p:cNvPr id="39" name="Text 37"/>
          <p:cNvSpPr/>
          <p:nvPr/>
        </p:nvSpPr>
        <p:spPr>
          <a:xfrm>
            <a:off x="4791456" y="4869180"/>
            <a:ext cx="1874520" cy="41148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Sinh bản thảo</a:t>
            </a:r>
            <a:endParaRPr lang="en-US" sz="1400" dirty="0"/>
          </a:p>
        </p:txBody>
      </p:sp>
      <p:sp>
        <p:nvSpPr>
          <p:cNvPr id="40" name="Shape 38"/>
          <p:cNvSpPr/>
          <p:nvPr/>
        </p:nvSpPr>
        <p:spPr>
          <a:xfrm>
            <a:off x="6885432" y="4846320"/>
            <a:ext cx="2286000" cy="457200"/>
          </a:xfrm>
          <a:prstGeom prst="rect">
            <a:avLst/>
          </a:prstGeom>
          <a:solidFill>
            <a:srgbClr val="F3E4D8"/>
          </a:solidFill>
          <a:ln w="8890">
            <a:solidFill>
              <a:srgbClr val="D6DED9"/>
            </a:solidFill>
            <a:prstDash val="solid"/>
          </a:ln>
        </p:spPr>
      </p:sp>
      <p:sp>
        <p:nvSpPr>
          <p:cNvPr id="41" name="Text 39"/>
          <p:cNvSpPr/>
          <p:nvPr/>
        </p:nvSpPr>
        <p:spPr>
          <a:xfrm>
            <a:off x="6940296" y="4869180"/>
            <a:ext cx="2176272" cy="41148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Nhắc / đóng hạn</a:t>
            </a:r>
            <a:endParaRPr lang="en-US" sz="1400" dirty="0"/>
          </a:p>
        </p:txBody>
      </p:sp>
      <p:sp>
        <p:nvSpPr>
          <p:cNvPr id="42" name="Shape 40"/>
          <p:cNvSpPr/>
          <p:nvPr/>
        </p:nvSpPr>
        <p:spPr>
          <a:xfrm>
            <a:off x="9326880" y="4846320"/>
            <a:ext cx="2148840" cy="457200"/>
          </a:xfrm>
          <a:prstGeom prst="rect">
            <a:avLst/>
          </a:prstGeom>
          <a:solidFill>
            <a:srgbClr val="DFEFEB"/>
          </a:solidFill>
          <a:ln w="8890">
            <a:solidFill>
              <a:srgbClr val="D6DED9"/>
            </a:solidFill>
            <a:prstDash val="solid"/>
          </a:ln>
        </p:spPr>
      </p:sp>
      <p:sp>
        <p:nvSpPr>
          <p:cNvPr id="43" name="Text 41"/>
          <p:cNvSpPr/>
          <p:nvPr/>
        </p:nvSpPr>
        <p:spPr>
          <a:xfrm>
            <a:off x="9381744" y="4869180"/>
            <a:ext cx="2039112" cy="411480"/>
          </a:xfrm>
          <a:prstGeom prst="rect">
            <a:avLst/>
          </a:prstGeom>
          <a:noFill/>
          <a:ln/>
        </p:spPr>
        <p:txBody>
          <a:bodyPr wrap="square" lIns="0" tIns="0" rIns="0" bIns="0" rtlCol="0" anchor="ctr"/>
          <a:lstStyle/>
          <a:p>
            <a:pPr algn="ctr" indent="0" marL="0">
              <a:buNone/>
            </a:pPr>
            <a:r>
              <a:rPr lang="en-US" sz="1400" b="1" dirty="0">
                <a:solidFill>
                  <a:srgbClr val="122D3A"/>
                </a:solidFill>
                <a:latin typeface="Arial" pitchFamily="34" charset="0"/>
                <a:ea typeface="Arial" pitchFamily="34" charset="-122"/>
                <a:cs typeface="Arial" pitchFamily="34" charset="-120"/>
              </a:rPr>
              <a:t>Thông báo lưu vết</a:t>
            </a:r>
            <a:endParaRPr lang="en-US" sz="1400" dirty="0"/>
          </a:p>
        </p:txBody>
      </p:sp>
      <p:sp>
        <p:nvSpPr>
          <p:cNvPr id="44" name="Shape 42"/>
          <p:cNvSpPr/>
          <p:nvPr/>
        </p:nvSpPr>
        <p:spPr>
          <a:xfrm>
            <a:off x="2898648" y="2907792"/>
            <a:ext cx="0" cy="1911096"/>
          </a:xfrm>
          <a:prstGeom prst="line">
            <a:avLst/>
          </a:prstGeom>
          <a:noFill/>
          <a:ln w="19050">
            <a:solidFill>
              <a:srgbClr val="007F79"/>
            </a:solidFill>
            <a:prstDash val="solid"/>
            <a:headEnd type="none"/>
            <a:tailEnd type="triangle"/>
          </a:ln>
        </p:spPr>
      </p:sp>
      <p:sp>
        <p:nvSpPr>
          <p:cNvPr id="45" name="Shape 43"/>
          <p:cNvSpPr/>
          <p:nvPr/>
        </p:nvSpPr>
        <p:spPr>
          <a:xfrm flipV="1">
            <a:off x="4114800" y="3520440"/>
            <a:ext cx="0" cy="1298448"/>
          </a:xfrm>
          <a:prstGeom prst="line">
            <a:avLst/>
          </a:prstGeom>
          <a:noFill/>
          <a:ln w="19050">
            <a:solidFill>
              <a:srgbClr val="007F79"/>
            </a:solidFill>
            <a:prstDash val="solid"/>
            <a:headEnd type="none"/>
            <a:tailEnd type="triangle"/>
          </a:ln>
        </p:spPr>
      </p:sp>
      <p:sp>
        <p:nvSpPr>
          <p:cNvPr id="46" name="Shape 44"/>
          <p:cNvSpPr/>
          <p:nvPr/>
        </p:nvSpPr>
        <p:spPr>
          <a:xfrm>
            <a:off x="5257800" y="3520440"/>
            <a:ext cx="0" cy="1298448"/>
          </a:xfrm>
          <a:prstGeom prst="line">
            <a:avLst/>
          </a:prstGeom>
          <a:noFill/>
          <a:ln w="19050">
            <a:solidFill>
              <a:srgbClr val="007F79"/>
            </a:solidFill>
            <a:prstDash val="solid"/>
            <a:headEnd type="none"/>
            <a:tailEnd type="triangle"/>
          </a:ln>
        </p:spPr>
      </p:sp>
      <p:sp>
        <p:nvSpPr>
          <p:cNvPr id="47" name="Shape 45"/>
          <p:cNvSpPr/>
          <p:nvPr/>
        </p:nvSpPr>
        <p:spPr>
          <a:xfrm flipV="1">
            <a:off x="6583680" y="4105656"/>
            <a:ext cx="0" cy="713232"/>
          </a:xfrm>
          <a:prstGeom prst="line">
            <a:avLst/>
          </a:prstGeom>
          <a:noFill/>
          <a:ln w="19050">
            <a:solidFill>
              <a:srgbClr val="007F79"/>
            </a:solidFill>
            <a:prstDash val="solid"/>
            <a:headEnd type="none"/>
            <a:tailEnd type="triangle"/>
          </a:ln>
        </p:spPr>
      </p:sp>
      <p:sp>
        <p:nvSpPr>
          <p:cNvPr id="48" name="Shape 46"/>
          <p:cNvSpPr/>
          <p:nvPr/>
        </p:nvSpPr>
        <p:spPr>
          <a:xfrm>
            <a:off x="8714232" y="3867912"/>
            <a:ext cx="201168" cy="0"/>
          </a:xfrm>
          <a:prstGeom prst="line">
            <a:avLst/>
          </a:prstGeom>
          <a:noFill/>
          <a:ln w="19050">
            <a:solidFill>
              <a:srgbClr val="007F79"/>
            </a:solidFill>
            <a:prstDash val="solid"/>
            <a:headEnd type="none"/>
            <a:tailEnd type="none"/>
          </a:ln>
        </p:spPr>
      </p:sp>
      <p:sp>
        <p:nvSpPr>
          <p:cNvPr id="49" name="Shape 47"/>
          <p:cNvSpPr/>
          <p:nvPr/>
        </p:nvSpPr>
        <p:spPr>
          <a:xfrm>
            <a:off x="8915400" y="3867912"/>
            <a:ext cx="0" cy="365760"/>
          </a:xfrm>
          <a:prstGeom prst="line">
            <a:avLst/>
          </a:prstGeom>
          <a:noFill/>
          <a:ln w="19050">
            <a:solidFill>
              <a:srgbClr val="007F79"/>
            </a:solidFill>
            <a:prstDash val="solid"/>
            <a:headEnd type="none"/>
            <a:tailEnd type="triangle"/>
          </a:ln>
        </p:spPr>
      </p:sp>
      <p:sp>
        <p:nvSpPr>
          <p:cNvPr id="50" name="Shape 48"/>
          <p:cNvSpPr/>
          <p:nvPr/>
        </p:nvSpPr>
        <p:spPr>
          <a:xfrm flipV="1">
            <a:off x="10241280" y="3520440"/>
            <a:ext cx="0" cy="713232"/>
          </a:xfrm>
          <a:prstGeom prst="line">
            <a:avLst/>
          </a:prstGeom>
          <a:noFill/>
          <a:ln w="19050">
            <a:solidFill>
              <a:srgbClr val="007F79"/>
            </a:solidFill>
            <a:prstDash val="solid"/>
            <a:headEnd type="none"/>
            <a:tailEnd type="triangle"/>
          </a:ln>
        </p:spPr>
      </p:sp>
      <p:sp>
        <p:nvSpPr>
          <p:cNvPr id="51" name="Shape 49"/>
          <p:cNvSpPr/>
          <p:nvPr/>
        </p:nvSpPr>
        <p:spPr>
          <a:xfrm>
            <a:off x="11585448" y="3273552"/>
            <a:ext cx="0" cy="1819656"/>
          </a:xfrm>
          <a:prstGeom prst="line">
            <a:avLst/>
          </a:prstGeom>
          <a:noFill/>
          <a:ln w="19050">
            <a:solidFill>
              <a:srgbClr val="007F79"/>
            </a:solidFill>
            <a:prstDash val="solid"/>
            <a:headEnd type="none"/>
            <a:tailEnd type="none"/>
          </a:ln>
        </p:spPr>
      </p:sp>
      <p:sp>
        <p:nvSpPr>
          <p:cNvPr id="52" name="Shape 50"/>
          <p:cNvSpPr/>
          <p:nvPr/>
        </p:nvSpPr>
        <p:spPr>
          <a:xfrm flipH="1">
            <a:off x="11494008" y="5093208"/>
            <a:ext cx="91440" cy="0"/>
          </a:xfrm>
          <a:prstGeom prst="line">
            <a:avLst/>
          </a:prstGeom>
          <a:noFill/>
          <a:ln w="19050">
            <a:solidFill>
              <a:srgbClr val="007F79"/>
            </a:solidFill>
            <a:prstDash val="solid"/>
            <a:headEnd type="none"/>
            <a:tailEnd type="triangle"/>
          </a:ln>
        </p:spPr>
      </p:sp>
      <p:sp>
        <p:nvSpPr>
          <p:cNvPr id="53" name="Shape 51"/>
          <p:cNvSpPr/>
          <p:nvPr/>
        </p:nvSpPr>
        <p:spPr>
          <a:xfrm>
            <a:off x="11475720" y="5093208"/>
            <a:ext cx="347472" cy="0"/>
          </a:xfrm>
          <a:prstGeom prst="line">
            <a:avLst/>
          </a:prstGeom>
          <a:noFill/>
          <a:ln w="19050">
            <a:solidFill>
              <a:srgbClr val="007F79"/>
            </a:solidFill>
            <a:prstDash val="solid"/>
            <a:headEnd type="none"/>
            <a:tailEnd type="none"/>
          </a:ln>
        </p:spPr>
      </p:sp>
      <p:sp>
        <p:nvSpPr>
          <p:cNvPr id="54" name="Shape 52"/>
          <p:cNvSpPr/>
          <p:nvPr/>
        </p:nvSpPr>
        <p:spPr>
          <a:xfrm flipV="1">
            <a:off x="11823192" y="2660904"/>
            <a:ext cx="0" cy="2432304"/>
          </a:xfrm>
          <a:prstGeom prst="line">
            <a:avLst/>
          </a:prstGeom>
          <a:noFill/>
          <a:ln w="19050">
            <a:solidFill>
              <a:srgbClr val="007F79"/>
            </a:solidFill>
            <a:prstDash val="solid"/>
            <a:headEnd type="none"/>
            <a:tailEnd type="none"/>
          </a:ln>
        </p:spPr>
      </p:sp>
      <p:sp>
        <p:nvSpPr>
          <p:cNvPr id="55" name="Shape 53"/>
          <p:cNvSpPr/>
          <p:nvPr/>
        </p:nvSpPr>
        <p:spPr>
          <a:xfrm flipH="1">
            <a:off x="11494008" y="2660904"/>
            <a:ext cx="329184" cy="0"/>
          </a:xfrm>
          <a:prstGeom prst="line">
            <a:avLst/>
          </a:prstGeom>
          <a:noFill/>
          <a:ln w="19050">
            <a:solidFill>
              <a:srgbClr val="007F79"/>
            </a:solidFill>
            <a:prstDash val="solid"/>
            <a:headEnd type="none"/>
            <a:tailEnd type="triangle"/>
          </a:ln>
        </p:spPr>
      </p:sp>
      <p:sp>
        <p:nvSpPr>
          <p:cNvPr id="56" name="Shape 54"/>
          <p:cNvSpPr/>
          <p:nvPr/>
        </p:nvSpPr>
        <p:spPr>
          <a:xfrm>
            <a:off x="457200" y="5742432"/>
            <a:ext cx="11247120" cy="448056"/>
          </a:xfrm>
          <a:prstGeom prst="rect">
            <a:avLst/>
          </a:prstGeom>
          <a:solidFill>
            <a:srgbClr val="F3E4D8"/>
          </a:solidFill>
          <a:ln w="8890">
            <a:solidFill>
              <a:srgbClr val="F3E4D8"/>
            </a:solidFill>
            <a:prstDash val="solid"/>
          </a:ln>
        </p:spPr>
      </p:sp>
      <p:sp>
        <p:nvSpPr>
          <p:cNvPr id="57" name="Text 55"/>
          <p:cNvSpPr/>
          <p:nvPr/>
        </p:nvSpPr>
        <p:spPr>
          <a:xfrm>
            <a:off x="621792" y="5769864"/>
            <a:ext cx="10927080" cy="384048"/>
          </a:xfrm>
          <a:prstGeom prst="rect">
            <a:avLst/>
          </a:prstGeom>
          <a:noFill/>
          <a:ln/>
        </p:spPr>
        <p:txBody>
          <a:bodyPr wrap="square" lIns="0" tIns="0" rIns="0" bIns="0" rtlCol="0" anchor="ctr"/>
          <a:lstStyle/>
          <a:p>
            <a:pPr indent="0" marL="0">
              <a:buNone/>
            </a:pPr>
            <a:r>
              <a:rPr lang="en-US" sz="1500" b="1" dirty="0">
                <a:solidFill>
                  <a:srgbClr val="B34735"/>
                </a:solidFill>
                <a:latin typeface="Arial" pitchFamily="34" charset="0"/>
                <a:ea typeface="Arial" pitchFamily="34" charset="-122"/>
                <a:cs typeface="Arial" pitchFamily="34" charset="-120"/>
              </a:rPr>
              <a:t>Mô hình đích: tự động hóa thao tác; prototype chưa có timer nhắc hạn và đóng quá hạn.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KIẾN TRÚC PROTOTYPE THẬT</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App ghi trạng thái; n8n điều phối tự động hóa</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Một nơi kiểm soát thay đổi giúp giữ hồ sơ và nhật ký nhất quán.</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10</a:t>
            </a:r>
            <a:endParaRPr lang="en-US" sz="1200" dirty="0"/>
          </a:p>
        </p:txBody>
      </p:sp>
      <p:sp>
        <p:nvSpPr>
          <p:cNvPr id="9" name="Shape 7"/>
          <p:cNvSpPr/>
          <p:nvPr/>
        </p:nvSpPr>
        <p:spPr>
          <a:xfrm>
            <a:off x="457200" y="2468880"/>
            <a:ext cx="2834640" cy="603504"/>
          </a:xfrm>
          <a:prstGeom prst="rect">
            <a:avLst/>
          </a:prstGeom>
          <a:solidFill>
            <a:srgbClr val="DFEFEB"/>
          </a:solidFill>
          <a:ln w="8890">
            <a:solidFill>
              <a:srgbClr val="DFEFEB"/>
            </a:solidFill>
            <a:prstDash val="solid"/>
          </a:ln>
        </p:spPr>
      </p:sp>
      <p:sp>
        <p:nvSpPr>
          <p:cNvPr id="10" name="Text 8"/>
          <p:cNvSpPr/>
          <p:nvPr/>
        </p:nvSpPr>
        <p:spPr>
          <a:xfrm>
            <a:off x="548640" y="2523744"/>
            <a:ext cx="2651760"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Web sinh viên / cán bộ</a:t>
            </a:r>
            <a:endParaRPr lang="en-US" sz="1700" dirty="0"/>
          </a:p>
        </p:txBody>
      </p:sp>
      <p:sp>
        <p:nvSpPr>
          <p:cNvPr id="11" name="Shape 9"/>
          <p:cNvSpPr/>
          <p:nvPr/>
        </p:nvSpPr>
        <p:spPr>
          <a:xfrm>
            <a:off x="4297680" y="2468880"/>
            <a:ext cx="3108960" cy="603504"/>
          </a:xfrm>
          <a:prstGeom prst="rect">
            <a:avLst/>
          </a:prstGeom>
          <a:solidFill>
            <a:srgbClr val="DFEFEB"/>
          </a:solidFill>
          <a:ln w="8890">
            <a:solidFill>
              <a:srgbClr val="DFEFEB"/>
            </a:solidFill>
            <a:prstDash val="solid"/>
          </a:ln>
        </p:spPr>
      </p:sp>
      <p:sp>
        <p:nvSpPr>
          <p:cNvPr id="12" name="Text 10"/>
          <p:cNvSpPr/>
          <p:nvPr/>
        </p:nvSpPr>
        <p:spPr>
          <a:xfrm>
            <a:off x="4389120" y="2523744"/>
            <a:ext cx="2926080"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App • FastAPI</a:t>
            </a:r>
            <a:endParaRPr lang="en-US" sz="1700" dirty="0"/>
          </a:p>
        </p:txBody>
      </p:sp>
      <p:sp>
        <p:nvSpPr>
          <p:cNvPr id="13" name="Shape 11"/>
          <p:cNvSpPr/>
          <p:nvPr/>
        </p:nvSpPr>
        <p:spPr>
          <a:xfrm>
            <a:off x="8412480" y="2468880"/>
            <a:ext cx="3291840" cy="603504"/>
          </a:xfrm>
          <a:prstGeom prst="rect">
            <a:avLst/>
          </a:prstGeom>
          <a:solidFill>
            <a:srgbClr val="DFEFEB"/>
          </a:solidFill>
          <a:ln w="8890">
            <a:solidFill>
              <a:srgbClr val="DFEFEB"/>
            </a:solidFill>
            <a:prstDash val="solid"/>
          </a:ln>
        </p:spPr>
      </p:sp>
      <p:sp>
        <p:nvSpPr>
          <p:cNvPr id="14" name="Text 12"/>
          <p:cNvSpPr/>
          <p:nvPr/>
        </p:nvSpPr>
        <p:spPr>
          <a:xfrm>
            <a:off x="8503920" y="2523744"/>
            <a:ext cx="3108960"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PostgreSQL</a:t>
            </a:r>
            <a:endParaRPr lang="en-US" sz="1700" dirty="0"/>
          </a:p>
        </p:txBody>
      </p:sp>
      <p:sp>
        <p:nvSpPr>
          <p:cNvPr id="15" name="Shape 13"/>
          <p:cNvSpPr/>
          <p:nvPr/>
        </p:nvSpPr>
        <p:spPr>
          <a:xfrm>
            <a:off x="3310128" y="2770632"/>
            <a:ext cx="877824" cy="0"/>
          </a:xfrm>
          <a:prstGeom prst="line">
            <a:avLst/>
          </a:prstGeom>
          <a:noFill/>
          <a:ln w="19050">
            <a:solidFill>
              <a:srgbClr val="007F79"/>
            </a:solidFill>
            <a:prstDash val="solid"/>
            <a:headEnd type="none"/>
            <a:tailEnd type="triangle"/>
          </a:ln>
        </p:spPr>
      </p:sp>
      <p:sp>
        <p:nvSpPr>
          <p:cNvPr id="16" name="Shape 14"/>
          <p:cNvSpPr/>
          <p:nvPr/>
        </p:nvSpPr>
        <p:spPr>
          <a:xfrm>
            <a:off x="7443216" y="2770632"/>
            <a:ext cx="859536" cy="0"/>
          </a:xfrm>
          <a:prstGeom prst="line">
            <a:avLst/>
          </a:prstGeom>
          <a:noFill/>
          <a:ln w="19050">
            <a:solidFill>
              <a:srgbClr val="007F79"/>
            </a:solidFill>
            <a:prstDash val="solid"/>
            <a:headEnd type="none"/>
            <a:tailEnd type="triangle"/>
          </a:ln>
        </p:spPr>
      </p:sp>
      <p:sp>
        <p:nvSpPr>
          <p:cNvPr id="17" name="Shape 15"/>
          <p:cNvSpPr/>
          <p:nvPr/>
        </p:nvSpPr>
        <p:spPr>
          <a:xfrm>
            <a:off x="4297680" y="3794760"/>
            <a:ext cx="3108960" cy="603504"/>
          </a:xfrm>
          <a:prstGeom prst="rect">
            <a:avLst/>
          </a:prstGeom>
          <a:solidFill>
            <a:srgbClr val="F3E4D8"/>
          </a:solidFill>
          <a:ln w="8890">
            <a:solidFill>
              <a:srgbClr val="F3E4D8"/>
            </a:solidFill>
            <a:prstDash val="solid"/>
          </a:ln>
        </p:spPr>
      </p:sp>
      <p:sp>
        <p:nvSpPr>
          <p:cNvPr id="18" name="Text 16"/>
          <p:cNvSpPr/>
          <p:nvPr/>
        </p:nvSpPr>
        <p:spPr>
          <a:xfrm>
            <a:off x="4389120" y="3849624"/>
            <a:ext cx="2926080"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n8n • webhook / IF</a:t>
            </a:r>
            <a:endParaRPr lang="en-US" sz="1700" dirty="0"/>
          </a:p>
        </p:txBody>
      </p:sp>
      <p:sp>
        <p:nvSpPr>
          <p:cNvPr id="19" name="Shape 17"/>
          <p:cNvSpPr/>
          <p:nvPr/>
        </p:nvSpPr>
        <p:spPr>
          <a:xfrm>
            <a:off x="8412480" y="3794760"/>
            <a:ext cx="3291840" cy="603504"/>
          </a:xfrm>
          <a:prstGeom prst="rect">
            <a:avLst/>
          </a:prstGeom>
          <a:solidFill>
            <a:srgbClr val="F3E4D8"/>
          </a:solidFill>
          <a:ln w="8890">
            <a:solidFill>
              <a:srgbClr val="F3E4D8"/>
            </a:solidFill>
            <a:prstDash val="solid"/>
          </a:ln>
        </p:spPr>
      </p:sp>
      <p:sp>
        <p:nvSpPr>
          <p:cNvPr id="20" name="Text 18"/>
          <p:cNvSpPr/>
          <p:nvPr/>
        </p:nvSpPr>
        <p:spPr>
          <a:xfrm>
            <a:off x="8503920" y="3849624"/>
            <a:ext cx="3108960"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Mailpit • SMTP local</a:t>
            </a:r>
            <a:endParaRPr lang="en-US" sz="1700" dirty="0"/>
          </a:p>
        </p:txBody>
      </p:sp>
      <p:sp>
        <p:nvSpPr>
          <p:cNvPr id="21" name="Shape 19"/>
          <p:cNvSpPr/>
          <p:nvPr/>
        </p:nvSpPr>
        <p:spPr>
          <a:xfrm>
            <a:off x="5852160" y="3099816"/>
            <a:ext cx="0" cy="640080"/>
          </a:xfrm>
          <a:prstGeom prst="line">
            <a:avLst/>
          </a:prstGeom>
          <a:noFill/>
          <a:ln w="19050">
            <a:solidFill>
              <a:srgbClr val="CB6338"/>
            </a:solidFill>
            <a:prstDash val="solid"/>
            <a:headEnd type="none"/>
            <a:tailEnd type="triangle"/>
          </a:ln>
        </p:spPr>
      </p:sp>
      <p:sp>
        <p:nvSpPr>
          <p:cNvPr id="22" name="Shape 20"/>
          <p:cNvSpPr/>
          <p:nvPr/>
        </p:nvSpPr>
        <p:spPr>
          <a:xfrm>
            <a:off x="7443216" y="4096512"/>
            <a:ext cx="859536" cy="0"/>
          </a:xfrm>
          <a:prstGeom prst="line">
            <a:avLst/>
          </a:prstGeom>
          <a:noFill/>
          <a:ln w="19050">
            <a:solidFill>
              <a:srgbClr val="CB6338"/>
            </a:solidFill>
            <a:prstDash val="solid"/>
            <a:headEnd type="none"/>
            <a:tailEnd type="triangle"/>
          </a:ln>
        </p:spPr>
      </p:sp>
      <p:sp>
        <p:nvSpPr>
          <p:cNvPr id="23" name="Text 21"/>
          <p:cNvSpPr/>
          <p:nvPr/>
        </p:nvSpPr>
        <p:spPr>
          <a:xfrm>
            <a:off x="6071616" y="3246120"/>
            <a:ext cx="2286000" cy="320040"/>
          </a:xfrm>
          <a:prstGeom prst="rect">
            <a:avLst/>
          </a:prstGeom>
          <a:noFill/>
          <a:ln/>
        </p:spPr>
        <p:txBody>
          <a:bodyPr wrap="square" lIns="0" tIns="0" rIns="0" bIns="0" rtlCol="0" anchor="ctr"/>
          <a:lstStyle/>
          <a:p>
            <a:pPr indent="0" marL="0">
              <a:buNone/>
            </a:pPr>
            <a:r>
              <a:rPr lang="en-US" sz="1400" dirty="0">
                <a:solidFill>
                  <a:srgbClr val="526771"/>
                </a:solidFill>
                <a:latin typeface="Arial" pitchFamily="34" charset="0"/>
                <a:ea typeface="Arial" pitchFamily="34" charset="-122"/>
                <a:cs typeface="Arial" pitchFamily="34" charset="-120"/>
              </a:rPr>
              <a:t>API / callback</a:t>
            </a:r>
            <a:endParaRPr lang="en-US" sz="1400" dirty="0"/>
          </a:p>
        </p:txBody>
      </p:sp>
      <p:sp>
        <p:nvSpPr>
          <p:cNvPr id="24" name="Text 22"/>
          <p:cNvSpPr/>
          <p:nvPr/>
        </p:nvSpPr>
        <p:spPr>
          <a:xfrm>
            <a:off x="530352" y="3694176"/>
            <a:ext cx="3200400" cy="822960"/>
          </a:xfrm>
          <a:prstGeom prst="rect">
            <a:avLst/>
          </a:prstGeom>
          <a:noFill/>
          <a:ln/>
        </p:spPr>
        <p:txBody>
          <a:bodyPr wrap="square" lIns="0" tIns="0" rIns="0" bIns="0" rtlCol="0" anchor="ctr"/>
          <a:lstStyle/>
          <a:p>
            <a:pPr indent="0" marL="0">
              <a:buNone/>
            </a:pPr>
            <a:r>
              <a:rPr lang="en-US" sz="1700" b="1" dirty="0">
                <a:solidFill>
                  <a:srgbClr val="122D3A"/>
                </a:solidFill>
                <a:latin typeface="Arial" pitchFamily="34" charset="0"/>
                <a:ea typeface="Arial" pitchFamily="34" charset="-122"/>
                <a:cs typeface="Arial" pitchFamily="34" charset="-120"/>
              </a:rPr>
              <a:t>Vai trò, trạng thái, version</a:t>
            </a:r>
            <a:endParaRPr lang="en-US" sz="1700" dirty="0"/>
          </a:p>
          <a:p>
            <a:pPr indent="0" marL="0">
              <a:buNone/>
            </a:pPr>
            <a:r>
              <a:rPr lang="en-US" sz="1700" b="1" dirty="0">
                <a:solidFill>
                  <a:srgbClr val="122D3A"/>
                </a:solidFill>
                <a:latin typeface="Arial" pitchFamily="34" charset="0"/>
                <a:ea typeface="Arial" pitchFamily="34" charset="-122"/>
                <a:cs typeface="Arial" pitchFamily="34" charset="-120"/>
              </a:rPr>
              <a:t>và Idempotency-Key</a:t>
            </a:r>
            <a:endParaRPr lang="en-US" sz="1700" dirty="0"/>
          </a:p>
        </p:txBody>
      </p:sp>
      <p:sp>
        <p:nvSpPr>
          <p:cNvPr id="25" name="Text 23"/>
          <p:cNvSpPr/>
          <p:nvPr/>
        </p:nvSpPr>
        <p:spPr>
          <a:xfrm>
            <a:off x="8458200" y="3182112"/>
            <a:ext cx="3108960" cy="310896"/>
          </a:xfrm>
          <a:prstGeom prst="rect">
            <a:avLst/>
          </a:prstGeom>
          <a:noFill/>
          <a:ln/>
        </p:spPr>
        <p:txBody>
          <a:bodyPr wrap="square" lIns="0" tIns="0" rIns="0" bIns="0" rtlCol="0" anchor="ctr"/>
          <a:lstStyle/>
          <a:p>
            <a:pPr indent="0" marL="0">
              <a:buNone/>
            </a:pPr>
            <a:r>
              <a:rPr lang="en-US" sz="1500" dirty="0">
                <a:solidFill>
                  <a:srgbClr val="526771"/>
                </a:solidFill>
                <a:latin typeface="Arial" pitchFamily="34" charset="0"/>
                <a:ea typeface="Arial" pitchFamily="34" charset="-122"/>
                <a:cs typeface="Arial" pitchFamily="34" charset="-120"/>
              </a:rPr>
              <a:t>Hồ sơ • event log • outbox</a:t>
            </a:r>
            <a:endParaRPr lang="en-US" sz="1500" dirty="0"/>
          </a:p>
        </p:txBody>
      </p:sp>
      <p:sp>
        <p:nvSpPr>
          <p:cNvPr id="26" name="Shape 24"/>
          <p:cNvSpPr/>
          <p:nvPr/>
        </p:nvSpPr>
        <p:spPr>
          <a:xfrm>
            <a:off x="457200" y="4956048"/>
            <a:ext cx="11247120" cy="1179576"/>
          </a:xfrm>
          <a:prstGeom prst="rect">
            <a:avLst/>
          </a:prstGeom>
          <a:solidFill>
            <a:srgbClr val="122D3A"/>
          </a:solidFill>
          <a:ln w="8890">
            <a:solidFill>
              <a:srgbClr val="122D3A"/>
            </a:solidFill>
            <a:prstDash val="solid"/>
          </a:ln>
        </p:spPr>
      </p:sp>
      <p:sp>
        <p:nvSpPr>
          <p:cNvPr id="27" name="Text 25"/>
          <p:cNvSpPr/>
          <p:nvPr/>
        </p:nvSpPr>
        <p:spPr>
          <a:xfrm>
            <a:off x="676656" y="5138928"/>
            <a:ext cx="10789920" cy="374904"/>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Nộp → Tiền kiểm → Đang xử lý → Duyệt / Từ chối → Đã cấp</a:t>
            </a:r>
            <a:endParaRPr lang="en-US" sz="1900" dirty="0"/>
          </a:p>
        </p:txBody>
      </p:sp>
      <p:sp>
        <p:nvSpPr>
          <p:cNvPr id="28" name="Text 26"/>
          <p:cNvSpPr/>
          <p:nvPr/>
        </p:nvSpPr>
        <p:spPr>
          <a:xfrm>
            <a:off x="676656" y="5605272"/>
            <a:ext cx="10789920" cy="320040"/>
          </a:xfrm>
          <a:prstGeom prst="rect">
            <a:avLst/>
          </a:prstGeom>
          <a:noFill/>
          <a:ln/>
        </p:spPr>
        <p:txBody>
          <a:bodyPr wrap="square" lIns="0" tIns="0" rIns="0" bIns="0" rtlCol="0" anchor="ctr"/>
          <a:lstStyle/>
          <a:p>
            <a:pPr indent="0" marL="0">
              <a:buNone/>
            </a:pPr>
            <a:r>
              <a:rPr lang="en-US" sz="1700" dirty="0">
                <a:solidFill>
                  <a:srgbClr val="8DD3C7"/>
                </a:solidFill>
                <a:latin typeface="Arial" pitchFamily="34" charset="0"/>
                <a:ea typeface="Arial" pitchFamily="34" charset="-122"/>
                <a:cs typeface="Arial" pitchFamily="34" charset="-120"/>
              </a:rPr>
              <a:t>Cần bổ sung → Sinh viên gửi lại → Tiền kiểm lại; tăng lượt xử lý</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BẰNG CHỨNG PROTOTYPE</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Có hồ sơ, nhật ký và email thử nghiệm thật</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Thông báo chỉ hoàn tất khi callback từ n8n về trạng thái SYNCED.</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11</a:t>
            </a:r>
            <a:endParaRPr lang="en-US" sz="1200" dirty="0"/>
          </a:p>
        </p:txBody>
      </p:sp>
      <p:pic>
        <p:nvPicPr>
          <p:cNvPr id="9" name="Image 0" descr="/home/ntlam/projects/student-certificate/slides/variants/codex/output/student_crop.png">    </p:cNvPr>
          <p:cNvPicPr>
            <a:picLocks noChangeAspect="1"/>
          </p:cNvPicPr>
          <p:nvPr/>
        </p:nvPicPr>
        <p:blipFill>
          <a:blip r:embed="rId1"/>
          <a:stretch>
            <a:fillRect/>
          </a:stretch>
        </p:blipFill>
        <p:spPr>
          <a:xfrm>
            <a:off x="457200" y="2431288"/>
            <a:ext cx="3474720" cy="2123440"/>
          </a:xfrm>
          <a:prstGeom prst="rect">
            <a:avLst/>
          </a:prstGeom>
        </p:spPr>
      </p:pic>
      <p:pic>
        <p:nvPicPr>
          <p:cNvPr id="10" name="Image 1" descr="/home/ntlam/projects/student-certificate/slides/variants/codex/inputs/images/staff_detail_top.png">    </p:cNvPr>
          <p:cNvPicPr>
            <a:picLocks noChangeAspect="1"/>
          </p:cNvPicPr>
          <p:nvPr/>
        </p:nvPicPr>
        <p:blipFill>
          <a:blip r:embed="rId2"/>
          <a:stretch>
            <a:fillRect/>
          </a:stretch>
        </p:blipFill>
        <p:spPr>
          <a:xfrm>
            <a:off x="4096512" y="2351483"/>
            <a:ext cx="4023360" cy="2465930"/>
          </a:xfrm>
          <a:prstGeom prst="rect">
            <a:avLst/>
          </a:prstGeom>
        </p:spPr>
      </p:pic>
      <p:pic>
        <p:nvPicPr>
          <p:cNvPr id="11" name="Image 2" descr="/home/ntlam/projects/student-certificate/slides/variants/codex/inputs/images/mail_crop.png">    </p:cNvPr>
          <p:cNvPicPr>
            <a:picLocks noChangeAspect="1"/>
          </p:cNvPicPr>
          <p:nvPr/>
        </p:nvPicPr>
        <p:blipFill>
          <a:blip r:embed="rId3"/>
          <a:stretch>
            <a:fillRect/>
          </a:stretch>
        </p:blipFill>
        <p:spPr>
          <a:xfrm>
            <a:off x="8284464" y="2743451"/>
            <a:ext cx="3410712" cy="1681995"/>
          </a:xfrm>
          <a:prstGeom prst="rect">
            <a:avLst/>
          </a:prstGeom>
        </p:spPr>
      </p:pic>
      <p:sp>
        <p:nvSpPr>
          <p:cNvPr id="12" name="Shape 7"/>
          <p:cNvSpPr/>
          <p:nvPr/>
        </p:nvSpPr>
        <p:spPr>
          <a:xfrm>
            <a:off x="457200" y="4892040"/>
            <a:ext cx="3474720" cy="310896"/>
          </a:xfrm>
          <a:prstGeom prst="rect">
            <a:avLst/>
          </a:prstGeom>
          <a:solidFill>
            <a:srgbClr val="DFEFEB"/>
          </a:solidFill>
          <a:ln w="8890">
            <a:solidFill>
              <a:srgbClr val="DFEFEB"/>
            </a:solidFill>
            <a:prstDash val="solid"/>
          </a:ln>
        </p:spPr>
      </p:sp>
      <p:sp>
        <p:nvSpPr>
          <p:cNvPr id="13" name="Text 8"/>
          <p:cNvSpPr/>
          <p:nvPr/>
        </p:nvSpPr>
        <p:spPr>
          <a:xfrm>
            <a:off x="539496" y="4892040"/>
            <a:ext cx="3310128" cy="310896"/>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Nộp và tra cứu</a:t>
            </a:r>
            <a:endParaRPr lang="en-US" sz="1400" dirty="0"/>
          </a:p>
        </p:txBody>
      </p:sp>
      <p:sp>
        <p:nvSpPr>
          <p:cNvPr id="14" name="Shape 9"/>
          <p:cNvSpPr/>
          <p:nvPr/>
        </p:nvSpPr>
        <p:spPr>
          <a:xfrm>
            <a:off x="4096512" y="4892040"/>
            <a:ext cx="4023360" cy="310896"/>
          </a:xfrm>
          <a:prstGeom prst="rect">
            <a:avLst/>
          </a:prstGeom>
          <a:solidFill>
            <a:srgbClr val="DFEFEB"/>
          </a:solidFill>
          <a:ln w="8890">
            <a:solidFill>
              <a:srgbClr val="DFEFEB"/>
            </a:solidFill>
            <a:prstDash val="solid"/>
          </a:ln>
        </p:spPr>
      </p:sp>
      <p:sp>
        <p:nvSpPr>
          <p:cNvPr id="15" name="Text 10"/>
          <p:cNvSpPr/>
          <p:nvPr/>
        </p:nvSpPr>
        <p:spPr>
          <a:xfrm>
            <a:off x="4178808" y="4892040"/>
            <a:ext cx="3858768" cy="310896"/>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Nhật ký xử lý</a:t>
            </a:r>
            <a:endParaRPr lang="en-US" sz="1400" dirty="0"/>
          </a:p>
        </p:txBody>
      </p:sp>
      <p:sp>
        <p:nvSpPr>
          <p:cNvPr id="16" name="Shape 11"/>
          <p:cNvSpPr/>
          <p:nvPr/>
        </p:nvSpPr>
        <p:spPr>
          <a:xfrm>
            <a:off x="8284464" y="4892040"/>
            <a:ext cx="3410712" cy="310896"/>
          </a:xfrm>
          <a:prstGeom prst="rect">
            <a:avLst/>
          </a:prstGeom>
          <a:solidFill>
            <a:srgbClr val="DFEFEB"/>
          </a:solidFill>
          <a:ln w="8890">
            <a:solidFill>
              <a:srgbClr val="DFEFEB"/>
            </a:solidFill>
            <a:prstDash val="solid"/>
          </a:ln>
        </p:spPr>
      </p:sp>
      <p:sp>
        <p:nvSpPr>
          <p:cNvPr id="17" name="Text 12"/>
          <p:cNvSpPr/>
          <p:nvPr/>
        </p:nvSpPr>
        <p:spPr>
          <a:xfrm>
            <a:off x="8366760" y="4892040"/>
            <a:ext cx="3246120" cy="310896"/>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Mailpit local</a:t>
            </a:r>
            <a:endParaRPr lang="en-US" sz="1400" dirty="0"/>
          </a:p>
        </p:txBody>
      </p:sp>
      <p:sp>
        <p:nvSpPr>
          <p:cNvPr id="18" name="Shape 13"/>
          <p:cNvSpPr/>
          <p:nvPr/>
        </p:nvSpPr>
        <p:spPr>
          <a:xfrm>
            <a:off x="457200" y="5458968"/>
            <a:ext cx="7726680" cy="768096"/>
          </a:xfrm>
          <a:prstGeom prst="rect">
            <a:avLst/>
          </a:prstGeom>
          <a:solidFill>
            <a:srgbClr val="FFFFFF"/>
          </a:solidFill>
          <a:ln w="8890">
            <a:solidFill>
              <a:srgbClr val="FFFFFF"/>
            </a:solidFill>
            <a:prstDash val="solid"/>
          </a:ln>
        </p:spPr>
      </p:sp>
      <p:sp>
        <p:nvSpPr>
          <p:cNvPr id="19" name="Text 14"/>
          <p:cNvSpPr/>
          <p:nvPr/>
        </p:nvSpPr>
        <p:spPr>
          <a:xfrm>
            <a:off x="640080" y="5504688"/>
            <a:ext cx="7360920" cy="274320"/>
          </a:xfrm>
          <a:prstGeom prst="rect">
            <a:avLst/>
          </a:prstGeom>
          <a:noFill/>
          <a:ln/>
        </p:spPr>
        <p:txBody>
          <a:bodyPr wrap="square" lIns="0" tIns="0" rIns="0" bIns="0" rtlCol="0" anchor="ctr"/>
          <a:lstStyle/>
          <a:p>
            <a:pPr indent="0" marL="0">
              <a:buNone/>
            </a:pPr>
            <a:r>
              <a:rPr lang="en-US" sz="1500" b="1" dirty="0">
                <a:solidFill>
                  <a:srgbClr val="122D3A"/>
                </a:solidFill>
                <a:latin typeface="Arial" pitchFamily="34" charset="0"/>
                <a:ea typeface="Arial" pitchFamily="34" charset="-122"/>
                <a:cs typeface="Arial" pitchFamily="34" charset="-120"/>
              </a:rPr>
              <a:t>Webhook → đọc dữ liệu → IF → ghi kết quả → email → callback</a:t>
            </a:r>
            <a:endParaRPr lang="en-US" sz="1500" dirty="0"/>
          </a:p>
        </p:txBody>
      </p:sp>
      <p:sp>
        <p:nvSpPr>
          <p:cNvPr id="20" name="Text 15"/>
          <p:cNvSpPr/>
          <p:nvPr/>
        </p:nvSpPr>
        <p:spPr>
          <a:xfrm>
            <a:off x="640080" y="5852160"/>
            <a:ext cx="7360920" cy="274320"/>
          </a:xfrm>
          <a:prstGeom prst="rect">
            <a:avLst/>
          </a:prstGeom>
          <a:noFill/>
          <a:ln/>
        </p:spPr>
        <p:txBody>
          <a:bodyPr wrap="square" lIns="0" tIns="0" rIns="0" bIns="0" rtlCol="0" anchor="ctr"/>
          <a:lstStyle/>
          <a:p>
            <a:pPr indent="0" marL="0">
              <a:buNone/>
            </a:pPr>
            <a:r>
              <a:rPr lang="en-US" sz="1500" dirty="0">
                <a:solidFill>
                  <a:srgbClr val="526771"/>
                </a:solidFill>
                <a:latin typeface="Arial" pitchFamily="34" charset="0"/>
                <a:ea typeface="Arial" pitchFamily="34" charset="-122"/>
                <a:cs typeface="Arial" pitchFamily="34" charset="-120"/>
              </a:rPr>
              <a:t>Gửi lại không tạo trùng • Sai quyền / sai thứ tự bị từ chối</a:t>
            </a:r>
            <a:endParaRPr lang="en-US" sz="1500" dirty="0"/>
          </a:p>
        </p:txBody>
      </p:sp>
      <p:sp>
        <p:nvSpPr>
          <p:cNvPr id="21" name="Shape 16"/>
          <p:cNvSpPr/>
          <p:nvPr/>
        </p:nvSpPr>
        <p:spPr>
          <a:xfrm>
            <a:off x="8385048" y="5458968"/>
            <a:ext cx="3310128" cy="768096"/>
          </a:xfrm>
          <a:prstGeom prst="rect">
            <a:avLst/>
          </a:prstGeom>
          <a:solidFill>
            <a:srgbClr val="007F79"/>
          </a:solidFill>
          <a:ln w="8890">
            <a:solidFill>
              <a:srgbClr val="007F79"/>
            </a:solidFill>
            <a:prstDash val="solid"/>
          </a:ln>
        </p:spPr>
      </p:sp>
      <p:sp>
        <p:nvSpPr>
          <p:cNvPr id="22" name="Text 17"/>
          <p:cNvSpPr/>
          <p:nvPr/>
        </p:nvSpPr>
        <p:spPr>
          <a:xfrm>
            <a:off x="8558784" y="5559552"/>
            <a:ext cx="2971800" cy="3657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20 kiểm thử đạt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ĐÁNH GIÁ CẢI TIẾN</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Giảm chờ ký cần thay đổi lịch ký</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Mục tiêu dự kiến • S1 tốt hơn AS-IS ở 20/20 seed ghép cặp; chưa phải hiệu quả tại trường.</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12</a:t>
            </a:r>
            <a:endParaRPr lang="en-US" sz="1200" dirty="0"/>
          </a:p>
        </p:txBody>
      </p:sp>
      <p:sp>
        <p:nvSpPr>
          <p:cNvPr id="9" name="Shape 7"/>
          <p:cNvSpPr/>
          <p:nvPr/>
        </p:nvSpPr>
        <p:spPr>
          <a:xfrm>
            <a:off x="9326880" y="228600"/>
            <a:ext cx="2377440" cy="310896"/>
          </a:xfrm>
          <a:prstGeom prst="rect">
            <a:avLst/>
          </a:prstGeom>
          <a:solidFill>
            <a:srgbClr val="F3E4D8"/>
          </a:solidFill>
          <a:ln w="8890">
            <a:solidFill>
              <a:srgbClr val="F3E4D8"/>
            </a:solidFill>
            <a:prstDash val="solid"/>
          </a:ln>
        </p:spPr>
      </p:sp>
      <p:sp>
        <p:nvSpPr>
          <p:cNvPr id="10" name="Text 8"/>
          <p:cNvSpPr/>
          <p:nvPr/>
        </p:nvSpPr>
        <p:spPr>
          <a:xfrm>
            <a:off x="9409176" y="228600"/>
            <a:ext cx="2212848" cy="310896"/>
          </a:xfrm>
          <a:prstGeom prst="rect">
            <a:avLst/>
          </a:prstGeom>
          <a:noFill/>
          <a:ln/>
        </p:spPr>
        <p:txBody>
          <a:bodyPr wrap="square" lIns="0" tIns="0" rIns="0" bIns="0" rtlCol="0" anchor="ctr"/>
          <a:lstStyle/>
          <a:p>
            <a:pPr indent="0" marL="0">
              <a:buNone/>
            </a:pPr>
            <a:r>
              <a:rPr lang="en-US" sz="1400" b="1" dirty="0">
                <a:solidFill>
                  <a:srgbClr val="B34735"/>
                </a:solidFill>
                <a:latin typeface="Arial" pitchFamily="34" charset="0"/>
                <a:ea typeface="Arial" pitchFamily="34" charset="-122"/>
                <a:cs typeface="Arial" pitchFamily="34" charset="-120"/>
              </a:rPr>
              <a:t>Dữ liệu mô phỏng</a:t>
            </a:r>
            <a:endParaRPr lang="en-US" sz="1400" dirty="0"/>
          </a:p>
        </p:txBody>
      </p:sp>
      <p:sp>
        <p:nvSpPr>
          <p:cNvPr id="11" name="Shape 9"/>
          <p:cNvSpPr/>
          <p:nvPr/>
        </p:nvSpPr>
        <p:spPr>
          <a:xfrm>
            <a:off x="457200" y="2350008"/>
            <a:ext cx="2642616" cy="2633472"/>
          </a:xfrm>
          <a:prstGeom prst="rect">
            <a:avLst/>
          </a:prstGeom>
          <a:solidFill>
            <a:srgbClr val="FFFFFF"/>
          </a:solidFill>
          <a:ln w="8890">
            <a:solidFill>
              <a:srgbClr val="FFFFFF"/>
            </a:solidFill>
            <a:prstDash val="solid"/>
          </a:ln>
        </p:spPr>
      </p:sp>
      <p:sp>
        <p:nvSpPr>
          <p:cNvPr id="12" name="Text 10"/>
          <p:cNvSpPr/>
          <p:nvPr/>
        </p:nvSpPr>
        <p:spPr>
          <a:xfrm>
            <a:off x="566928" y="2496312"/>
            <a:ext cx="2423160" cy="393192"/>
          </a:xfrm>
          <a:prstGeom prst="rect">
            <a:avLst/>
          </a:prstGeom>
          <a:noFill/>
          <a:ln/>
        </p:spPr>
        <p:txBody>
          <a:bodyPr wrap="square" lIns="0" tIns="0" rIns="0" bIns="0" rtlCol="0" anchor="ctr"/>
          <a:lstStyle/>
          <a:p>
            <a:pPr indent="0" marL="0">
              <a:buNone/>
            </a:pPr>
            <a:r>
              <a:rPr lang="en-US" sz="1500" b="1" dirty="0">
                <a:solidFill>
                  <a:srgbClr val="122D3A"/>
                </a:solidFill>
                <a:latin typeface="Arial" pitchFamily="34" charset="0"/>
                <a:ea typeface="Arial" pitchFamily="34" charset="-122"/>
                <a:cs typeface="Arial" pitchFamily="34" charset="-120"/>
              </a:rPr>
              <a:t>T_trường • trung vị</a:t>
            </a:r>
            <a:endParaRPr lang="en-US" sz="1500" dirty="0"/>
          </a:p>
        </p:txBody>
      </p:sp>
      <p:sp>
        <p:nvSpPr>
          <p:cNvPr id="13" name="Shape 11"/>
          <p:cNvSpPr/>
          <p:nvPr/>
        </p:nvSpPr>
        <p:spPr>
          <a:xfrm>
            <a:off x="850392" y="3438144"/>
            <a:ext cx="667512" cy="1024128"/>
          </a:xfrm>
          <a:prstGeom prst="rect">
            <a:avLst/>
          </a:prstGeom>
          <a:solidFill>
            <a:srgbClr val="526771"/>
          </a:solidFill>
          <a:ln w="8890">
            <a:solidFill>
              <a:srgbClr val="526771"/>
            </a:solidFill>
            <a:prstDash val="solid"/>
          </a:ln>
        </p:spPr>
      </p:sp>
      <p:sp>
        <p:nvSpPr>
          <p:cNvPr id="14" name="Text 12"/>
          <p:cNvSpPr/>
          <p:nvPr/>
        </p:nvSpPr>
        <p:spPr>
          <a:xfrm>
            <a:off x="704088" y="3054096"/>
            <a:ext cx="960120" cy="310896"/>
          </a:xfrm>
          <a:prstGeom prst="rect">
            <a:avLst/>
          </a:prstGeom>
          <a:noFill/>
          <a:ln/>
        </p:spPr>
        <p:txBody>
          <a:bodyPr wrap="square" lIns="0" tIns="0" rIns="0" bIns="0" rtlCol="0" anchor="ctr"/>
          <a:lstStyle/>
          <a:p>
            <a:pPr algn="ctr" indent="0" marL="0">
              <a:buNone/>
            </a:pPr>
            <a:r>
              <a:rPr lang="en-US" sz="1600" b="1" dirty="0">
                <a:solidFill>
                  <a:srgbClr val="526771"/>
                </a:solidFill>
                <a:latin typeface="Arial" pitchFamily="34" charset="0"/>
                <a:ea typeface="Arial" pitchFamily="34" charset="-122"/>
                <a:cs typeface="Arial" pitchFamily="34" charset="-120"/>
              </a:rPr>
              <a:t>1.363</a:t>
            </a:r>
            <a:endParaRPr lang="en-US" sz="1600" dirty="0"/>
          </a:p>
        </p:txBody>
      </p:sp>
      <p:sp>
        <p:nvSpPr>
          <p:cNvPr id="15" name="Text 13"/>
          <p:cNvSpPr/>
          <p:nvPr/>
        </p:nvSpPr>
        <p:spPr>
          <a:xfrm>
            <a:off x="749808" y="4562856"/>
            <a:ext cx="868680" cy="265176"/>
          </a:xfrm>
          <a:prstGeom prst="rect">
            <a:avLst/>
          </a:prstGeom>
          <a:noFill/>
          <a:ln/>
        </p:spPr>
        <p:txBody>
          <a:bodyPr wrap="square" lIns="0" tIns="0" rIns="0" bIns="0" rtlCol="0" anchor="ctr"/>
          <a:lstStyle/>
          <a:p>
            <a:pPr algn="ctr" indent="0" marL="0">
              <a:buNone/>
            </a:pPr>
            <a:r>
              <a:rPr lang="en-US" sz="1400" dirty="0">
                <a:solidFill>
                  <a:srgbClr val="526771"/>
                </a:solidFill>
                <a:latin typeface="Arial" pitchFamily="34" charset="0"/>
                <a:ea typeface="Arial" pitchFamily="34" charset="-122"/>
                <a:cs typeface="Arial" pitchFamily="34" charset="-120"/>
              </a:rPr>
              <a:t>AS-IS</a:t>
            </a:r>
            <a:endParaRPr lang="en-US" sz="1400" dirty="0"/>
          </a:p>
        </p:txBody>
      </p:sp>
      <p:sp>
        <p:nvSpPr>
          <p:cNvPr id="16" name="Shape 14"/>
          <p:cNvSpPr/>
          <p:nvPr/>
        </p:nvSpPr>
        <p:spPr>
          <a:xfrm>
            <a:off x="1856232" y="3870186"/>
            <a:ext cx="667512" cy="592086"/>
          </a:xfrm>
          <a:prstGeom prst="rect">
            <a:avLst/>
          </a:prstGeom>
          <a:solidFill>
            <a:srgbClr val="007F79"/>
          </a:solidFill>
          <a:ln w="8890">
            <a:solidFill>
              <a:srgbClr val="007F79"/>
            </a:solidFill>
            <a:prstDash val="solid"/>
          </a:ln>
        </p:spPr>
      </p:sp>
      <p:sp>
        <p:nvSpPr>
          <p:cNvPr id="17" name="Text 15"/>
          <p:cNvSpPr/>
          <p:nvPr/>
        </p:nvSpPr>
        <p:spPr>
          <a:xfrm>
            <a:off x="1709928" y="3486138"/>
            <a:ext cx="960120" cy="310896"/>
          </a:xfrm>
          <a:prstGeom prst="rect">
            <a:avLst/>
          </a:prstGeom>
          <a:noFill/>
          <a:ln/>
        </p:spPr>
        <p:txBody>
          <a:bodyPr wrap="square" lIns="0" tIns="0" rIns="0" bIns="0" rtlCol="0" anchor="ctr"/>
          <a:lstStyle/>
          <a:p>
            <a:pPr algn="ctr" indent="0" marL="0">
              <a:buNone/>
            </a:pPr>
            <a:r>
              <a:rPr lang="en-US" sz="1600" b="1" dirty="0">
                <a:solidFill>
                  <a:srgbClr val="007F79"/>
                </a:solidFill>
                <a:latin typeface="Arial" pitchFamily="34" charset="0"/>
                <a:ea typeface="Arial" pitchFamily="34" charset="-122"/>
                <a:cs typeface="Arial" pitchFamily="34" charset="-120"/>
              </a:rPr>
              <a:t>788</a:t>
            </a:r>
            <a:endParaRPr lang="en-US" sz="1600" dirty="0"/>
          </a:p>
        </p:txBody>
      </p:sp>
      <p:sp>
        <p:nvSpPr>
          <p:cNvPr id="18" name="Text 16"/>
          <p:cNvSpPr/>
          <p:nvPr/>
        </p:nvSpPr>
        <p:spPr>
          <a:xfrm>
            <a:off x="1755648" y="4562856"/>
            <a:ext cx="868680" cy="265176"/>
          </a:xfrm>
          <a:prstGeom prst="rect">
            <a:avLst/>
          </a:prstGeom>
          <a:noFill/>
          <a:ln/>
        </p:spPr>
        <p:txBody>
          <a:bodyPr wrap="square" lIns="0" tIns="0" rIns="0" bIns="0" rtlCol="0" anchor="ctr"/>
          <a:lstStyle/>
          <a:p>
            <a:pPr algn="ctr" indent="0" marL="0">
              <a:buNone/>
            </a:pPr>
            <a:r>
              <a:rPr lang="en-US" sz="1400" dirty="0">
                <a:solidFill>
                  <a:srgbClr val="526771"/>
                </a:solidFill>
                <a:latin typeface="Arial" pitchFamily="34" charset="0"/>
                <a:ea typeface="Arial" pitchFamily="34" charset="-122"/>
                <a:cs typeface="Arial" pitchFamily="34" charset="-120"/>
              </a:rPr>
              <a:t>S1</a:t>
            </a:r>
            <a:endParaRPr lang="en-US" sz="1400" dirty="0"/>
          </a:p>
        </p:txBody>
      </p:sp>
      <p:sp>
        <p:nvSpPr>
          <p:cNvPr id="19" name="Shape 17"/>
          <p:cNvSpPr/>
          <p:nvPr/>
        </p:nvSpPr>
        <p:spPr>
          <a:xfrm>
            <a:off x="3236976" y="2350008"/>
            <a:ext cx="2642616" cy="2633472"/>
          </a:xfrm>
          <a:prstGeom prst="rect">
            <a:avLst/>
          </a:prstGeom>
          <a:solidFill>
            <a:srgbClr val="FFFFFF"/>
          </a:solidFill>
          <a:ln w="8890">
            <a:solidFill>
              <a:srgbClr val="FFFFFF"/>
            </a:solidFill>
            <a:prstDash val="solid"/>
          </a:ln>
        </p:spPr>
      </p:sp>
      <p:sp>
        <p:nvSpPr>
          <p:cNvPr id="20" name="Text 18"/>
          <p:cNvSpPr/>
          <p:nvPr/>
        </p:nvSpPr>
        <p:spPr>
          <a:xfrm>
            <a:off x="3346704" y="2496312"/>
            <a:ext cx="2423160" cy="393192"/>
          </a:xfrm>
          <a:prstGeom prst="rect">
            <a:avLst/>
          </a:prstGeom>
          <a:noFill/>
          <a:ln/>
        </p:spPr>
        <p:txBody>
          <a:bodyPr wrap="square" lIns="0" tIns="0" rIns="0" bIns="0" rtlCol="0" anchor="ctr"/>
          <a:lstStyle/>
          <a:p>
            <a:pPr indent="0" marL="0">
              <a:buNone/>
            </a:pPr>
            <a:r>
              <a:rPr lang="en-US" sz="1500" b="1" dirty="0">
                <a:solidFill>
                  <a:srgbClr val="122D3A"/>
                </a:solidFill>
                <a:latin typeface="Arial" pitchFamily="34" charset="0"/>
                <a:ea typeface="Arial" pitchFamily="34" charset="-122"/>
                <a:cs typeface="Arial" pitchFamily="34" charset="-120"/>
              </a:rPr>
              <a:t>T_trường net • P90</a:t>
            </a:r>
            <a:endParaRPr lang="en-US" sz="1500" dirty="0"/>
          </a:p>
        </p:txBody>
      </p:sp>
      <p:sp>
        <p:nvSpPr>
          <p:cNvPr id="21" name="Shape 19"/>
          <p:cNvSpPr/>
          <p:nvPr/>
        </p:nvSpPr>
        <p:spPr>
          <a:xfrm>
            <a:off x="3630168" y="3438144"/>
            <a:ext cx="667512" cy="1024128"/>
          </a:xfrm>
          <a:prstGeom prst="rect">
            <a:avLst/>
          </a:prstGeom>
          <a:solidFill>
            <a:srgbClr val="526771"/>
          </a:solidFill>
          <a:ln w="8890">
            <a:solidFill>
              <a:srgbClr val="526771"/>
            </a:solidFill>
            <a:prstDash val="solid"/>
          </a:ln>
        </p:spPr>
      </p:sp>
      <p:sp>
        <p:nvSpPr>
          <p:cNvPr id="22" name="Text 20"/>
          <p:cNvSpPr/>
          <p:nvPr/>
        </p:nvSpPr>
        <p:spPr>
          <a:xfrm>
            <a:off x="3483864" y="3054096"/>
            <a:ext cx="960120" cy="310896"/>
          </a:xfrm>
          <a:prstGeom prst="rect">
            <a:avLst/>
          </a:prstGeom>
          <a:noFill/>
          <a:ln/>
        </p:spPr>
        <p:txBody>
          <a:bodyPr wrap="square" lIns="0" tIns="0" rIns="0" bIns="0" rtlCol="0" anchor="ctr"/>
          <a:lstStyle/>
          <a:p>
            <a:pPr algn="ctr" indent="0" marL="0">
              <a:buNone/>
            </a:pPr>
            <a:r>
              <a:rPr lang="en-US" sz="1600" b="1" dirty="0">
                <a:solidFill>
                  <a:srgbClr val="526771"/>
                </a:solidFill>
                <a:latin typeface="Arial" pitchFamily="34" charset="0"/>
                <a:ea typeface="Arial" pitchFamily="34" charset="-122"/>
                <a:cs typeface="Arial" pitchFamily="34" charset="-120"/>
              </a:rPr>
              <a:t>1.780</a:t>
            </a:r>
            <a:endParaRPr lang="en-US" sz="1600" dirty="0"/>
          </a:p>
        </p:txBody>
      </p:sp>
      <p:sp>
        <p:nvSpPr>
          <p:cNvPr id="23" name="Text 21"/>
          <p:cNvSpPr/>
          <p:nvPr/>
        </p:nvSpPr>
        <p:spPr>
          <a:xfrm>
            <a:off x="3529584" y="4562856"/>
            <a:ext cx="868680" cy="265176"/>
          </a:xfrm>
          <a:prstGeom prst="rect">
            <a:avLst/>
          </a:prstGeom>
          <a:noFill/>
          <a:ln/>
        </p:spPr>
        <p:txBody>
          <a:bodyPr wrap="square" lIns="0" tIns="0" rIns="0" bIns="0" rtlCol="0" anchor="ctr"/>
          <a:lstStyle/>
          <a:p>
            <a:pPr algn="ctr" indent="0" marL="0">
              <a:buNone/>
            </a:pPr>
            <a:r>
              <a:rPr lang="en-US" sz="1400" dirty="0">
                <a:solidFill>
                  <a:srgbClr val="526771"/>
                </a:solidFill>
                <a:latin typeface="Arial" pitchFamily="34" charset="0"/>
                <a:ea typeface="Arial" pitchFamily="34" charset="-122"/>
                <a:cs typeface="Arial" pitchFamily="34" charset="-120"/>
              </a:rPr>
              <a:t>AS-IS</a:t>
            </a:r>
            <a:endParaRPr lang="en-US" sz="1400" dirty="0"/>
          </a:p>
        </p:txBody>
      </p:sp>
      <p:sp>
        <p:nvSpPr>
          <p:cNvPr id="24" name="Shape 22"/>
          <p:cNvSpPr/>
          <p:nvPr/>
        </p:nvSpPr>
        <p:spPr>
          <a:xfrm>
            <a:off x="4636008" y="3999688"/>
            <a:ext cx="667512" cy="462584"/>
          </a:xfrm>
          <a:prstGeom prst="rect">
            <a:avLst/>
          </a:prstGeom>
          <a:solidFill>
            <a:srgbClr val="007F79"/>
          </a:solidFill>
          <a:ln w="8890">
            <a:solidFill>
              <a:srgbClr val="007F79"/>
            </a:solidFill>
            <a:prstDash val="solid"/>
          </a:ln>
        </p:spPr>
      </p:sp>
      <p:sp>
        <p:nvSpPr>
          <p:cNvPr id="25" name="Text 23"/>
          <p:cNvSpPr/>
          <p:nvPr/>
        </p:nvSpPr>
        <p:spPr>
          <a:xfrm>
            <a:off x="4489704" y="3615640"/>
            <a:ext cx="960120" cy="310896"/>
          </a:xfrm>
          <a:prstGeom prst="rect">
            <a:avLst/>
          </a:prstGeom>
          <a:noFill/>
          <a:ln/>
        </p:spPr>
        <p:txBody>
          <a:bodyPr wrap="square" lIns="0" tIns="0" rIns="0" bIns="0" rtlCol="0" anchor="ctr"/>
          <a:lstStyle/>
          <a:p>
            <a:pPr algn="ctr" indent="0" marL="0">
              <a:buNone/>
            </a:pPr>
            <a:r>
              <a:rPr lang="en-US" sz="1600" b="1" dirty="0">
                <a:solidFill>
                  <a:srgbClr val="007F79"/>
                </a:solidFill>
                <a:latin typeface="Arial" pitchFamily="34" charset="0"/>
                <a:ea typeface="Arial" pitchFamily="34" charset="-122"/>
                <a:cs typeface="Arial" pitchFamily="34" charset="-120"/>
              </a:rPr>
              <a:t>804</a:t>
            </a:r>
            <a:endParaRPr lang="en-US" sz="1600" dirty="0"/>
          </a:p>
        </p:txBody>
      </p:sp>
      <p:sp>
        <p:nvSpPr>
          <p:cNvPr id="26" name="Text 24"/>
          <p:cNvSpPr/>
          <p:nvPr/>
        </p:nvSpPr>
        <p:spPr>
          <a:xfrm>
            <a:off x="4535424" y="4562856"/>
            <a:ext cx="868680" cy="265176"/>
          </a:xfrm>
          <a:prstGeom prst="rect">
            <a:avLst/>
          </a:prstGeom>
          <a:noFill/>
          <a:ln/>
        </p:spPr>
        <p:txBody>
          <a:bodyPr wrap="square" lIns="0" tIns="0" rIns="0" bIns="0" rtlCol="0" anchor="ctr"/>
          <a:lstStyle/>
          <a:p>
            <a:pPr algn="ctr" indent="0" marL="0">
              <a:buNone/>
            </a:pPr>
            <a:r>
              <a:rPr lang="en-US" sz="1400" dirty="0">
                <a:solidFill>
                  <a:srgbClr val="526771"/>
                </a:solidFill>
                <a:latin typeface="Arial" pitchFamily="34" charset="0"/>
                <a:ea typeface="Arial" pitchFamily="34" charset="-122"/>
                <a:cs typeface="Arial" pitchFamily="34" charset="-120"/>
              </a:rPr>
              <a:t>S1</a:t>
            </a:r>
            <a:endParaRPr lang="en-US" sz="1400" dirty="0"/>
          </a:p>
        </p:txBody>
      </p:sp>
      <p:sp>
        <p:nvSpPr>
          <p:cNvPr id="27" name="Shape 25"/>
          <p:cNvSpPr/>
          <p:nvPr/>
        </p:nvSpPr>
        <p:spPr>
          <a:xfrm>
            <a:off x="6016752" y="2350008"/>
            <a:ext cx="2642616" cy="2633472"/>
          </a:xfrm>
          <a:prstGeom prst="rect">
            <a:avLst/>
          </a:prstGeom>
          <a:solidFill>
            <a:srgbClr val="FFFFFF"/>
          </a:solidFill>
          <a:ln w="8890">
            <a:solidFill>
              <a:srgbClr val="FFFFFF"/>
            </a:solidFill>
            <a:prstDash val="solid"/>
          </a:ln>
        </p:spPr>
      </p:sp>
      <p:sp>
        <p:nvSpPr>
          <p:cNvPr id="28" name="Text 26"/>
          <p:cNvSpPr/>
          <p:nvPr/>
        </p:nvSpPr>
        <p:spPr>
          <a:xfrm>
            <a:off x="6126480" y="2496312"/>
            <a:ext cx="2423160" cy="393192"/>
          </a:xfrm>
          <a:prstGeom prst="rect">
            <a:avLst/>
          </a:prstGeom>
          <a:noFill/>
          <a:ln/>
        </p:spPr>
        <p:txBody>
          <a:bodyPr wrap="square" lIns="0" tIns="0" rIns="0" bIns="0" rtlCol="0" anchor="ctr"/>
          <a:lstStyle/>
          <a:p>
            <a:pPr indent="0" marL="0">
              <a:buNone/>
            </a:pPr>
            <a:r>
              <a:rPr lang="en-US" sz="1500" b="1" dirty="0">
                <a:solidFill>
                  <a:srgbClr val="122D3A"/>
                </a:solidFill>
                <a:latin typeface="Arial" pitchFamily="34" charset="0"/>
                <a:ea typeface="Arial" pitchFamily="34" charset="-122"/>
                <a:cs typeface="Arial" pitchFamily="34" charset="-120"/>
              </a:rPr>
              <a:t>Chờ ký • trung vị</a:t>
            </a:r>
            <a:endParaRPr lang="en-US" sz="1500" dirty="0"/>
          </a:p>
        </p:txBody>
      </p:sp>
      <p:sp>
        <p:nvSpPr>
          <p:cNvPr id="29" name="Shape 27"/>
          <p:cNvSpPr/>
          <p:nvPr/>
        </p:nvSpPr>
        <p:spPr>
          <a:xfrm>
            <a:off x="6409944" y="3438144"/>
            <a:ext cx="667512" cy="1024128"/>
          </a:xfrm>
          <a:prstGeom prst="rect">
            <a:avLst/>
          </a:prstGeom>
          <a:solidFill>
            <a:srgbClr val="526771"/>
          </a:solidFill>
          <a:ln w="8890">
            <a:solidFill>
              <a:srgbClr val="526771"/>
            </a:solidFill>
            <a:prstDash val="solid"/>
          </a:ln>
        </p:spPr>
      </p:sp>
      <p:sp>
        <p:nvSpPr>
          <p:cNvPr id="30" name="Text 28"/>
          <p:cNvSpPr/>
          <p:nvPr/>
        </p:nvSpPr>
        <p:spPr>
          <a:xfrm>
            <a:off x="6263640" y="3054096"/>
            <a:ext cx="960120" cy="310896"/>
          </a:xfrm>
          <a:prstGeom prst="rect">
            <a:avLst/>
          </a:prstGeom>
          <a:noFill/>
          <a:ln/>
        </p:spPr>
        <p:txBody>
          <a:bodyPr wrap="square" lIns="0" tIns="0" rIns="0" bIns="0" rtlCol="0" anchor="ctr"/>
          <a:lstStyle/>
          <a:p>
            <a:pPr algn="ctr" indent="0" marL="0">
              <a:buNone/>
            </a:pPr>
            <a:r>
              <a:rPr lang="en-US" sz="1600" b="1" dirty="0">
                <a:solidFill>
                  <a:srgbClr val="526771"/>
                </a:solidFill>
                <a:latin typeface="Arial" pitchFamily="34" charset="0"/>
                <a:ea typeface="Arial" pitchFamily="34" charset="-122"/>
                <a:cs typeface="Arial" pitchFamily="34" charset="-120"/>
              </a:rPr>
              <a:t>551</a:t>
            </a:r>
            <a:endParaRPr lang="en-US" sz="1600" dirty="0"/>
          </a:p>
        </p:txBody>
      </p:sp>
      <p:sp>
        <p:nvSpPr>
          <p:cNvPr id="31" name="Text 29"/>
          <p:cNvSpPr/>
          <p:nvPr/>
        </p:nvSpPr>
        <p:spPr>
          <a:xfrm>
            <a:off x="6309360" y="4562856"/>
            <a:ext cx="868680" cy="265176"/>
          </a:xfrm>
          <a:prstGeom prst="rect">
            <a:avLst/>
          </a:prstGeom>
          <a:noFill/>
          <a:ln/>
        </p:spPr>
        <p:txBody>
          <a:bodyPr wrap="square" lIns="0" tIns="0" rIns="0" bIns="0" rtlCol="0" anchor="ctr"/>
          <a:lstStyle/>
          <a:p>
            <a:pPr algn="ctr" indent="0" marL="0">
              <a:buNone/>
            </a:pPr>
            <a:r>
              <a:rPr lang="en-US" sz="1400" dirty="0">
                <a:solidFill>
                  <a:srgbClr val="526771"/>
                </a:solidFill>
                <a:latin typeface="Arial" pitchFamily="34" charset="0"/>
                <a:ea typeface="Arial" pitchFamily="34" charset="-122"/>
                <a:cs typeface="Arial" pitchFamily="34" charset="-120"/>
              </a:rPr>
              <a:t>AS-IS</a:t>
            </a:r>
            <a:endParaRPr lang="en-US" sz="1400" dirty="0"/>
          </a:p>
        </p:txBody>
      </p:sp>
      <p:sp>
        <p:nvSpPr>
          <p:cNvPr id="32" name="Shape 30"/>
          <p:cNvSpPr/>
          <p:nvPr/>
        </p:nvSpPr>
        <p:spPr>
          <a:xfrm>
            <a:off x="7415784" y="4237373"/>
            <a:ext cx="667512" cy="224899"/>
          </a:xfrm>
          <a:prstGeom prst="rect">
            <a:avLst/>
          </a:prstGeom>
          <a:solidFill>
            <a:srgbClr val="007F79"/>
          </a:solidFill>
          <a:ln w="8890">
            <a:solidFill>
              <a:srgbClr val="007F79"/>
            </a:solidFill>
            <a:prstDash val="solid"/>
          </a:ln>
        </p:spPr>
      </p:sp>
      <p:sp>
        <p:nvSpPr>
          <p:cNvPr id="33" name="Text 31"/>
          <p:cNvSpPr/>
          <p:nvPr/>
        </p:nvSpPr>
        <p:spPr>
          <a:xfrm>
            <a:off x="7269480" y="3853325"/>
            <a:ext cx="960120" cy="310896"/>
          </a:xfrm>
          <a:prstGeom prst="rect">
            <a:avLst/>
          </a:prstGeom>
          <a:noFill/>
          <a:ln/>
        </p:spPr>
        <p:txBody>
          <a:bodyPr wrap="square" lIns="0" tIns="0" rIns="0" bIns="0" rtlCol="0" anchor="ctr"/>
          <a:lstStyle/>
          <a:p>
            <a:pPr algn="ctr" indent="0" marL="0">
              <a:buNone/>
            </a:pPr>
            <a:r>
              <a:rPr lang="en-US" sz="1600" b="1" dirty="0">
                <a:solidFill>
                  <a:srgbClr val="007F79"/>
                </a:solidFill>
                <a:latin typeface="Arial" pitchFamily="34" charset="0"/>
                <a:ea typeface="Arial" pitchFamily="34" charset="-122"/>
                <a:cs typeface="Arial" pitchFamily="34" charset="-120"/>
              </a:rPr>
              <a:t>121</a:t>
            </a:r>
            <a:endParaRPr lang="en-US" sz="1600" dirty="0"/>
          </a:p>
        </p:txBody>
      </p:sp>
      <p:sp>
        <p:nvSpPr>
          <p:cNvPr id="34" name="Text 32"/>
          <p:cNvSpPr/>
          <p:nvPr/>
        </p:nvSpPr>
        <p:spPr>
          <a:xfrm>
            <a:off x="7315200" y="4562856"/>
            <a:ext cx="868680" cy="265176"/>
          </a:xfrm>
          <a:prstGeom prst="rect">
            <a:avLst/>
          </a:prstGeom>
          <a:noFill/>
          <a:ln/>
        </p:spPr>
        <p:txBody>
          <a:bodyPr wrap="square" lIns="0" tIns="0" rIns="0" bIns="0" rtlCol="0" anchor="ctr"/>
          <a:lstStyle/>
          <a:p>
            <a:pPr algn="ctr" indent="0" marL="0">
              <a:buNone/>
            </a:pPr>
            <a:r>
              <a:rPr lang="en-US" sz="1400" dirty="0">
                <a:solidFill>
                  <a:srgbClr val="526771"/>
                </a:solidFill>
                <a:latin typeface="Arial" pitchFamily="34" charset="0"/>
                <a:ea typeface="Arial" pitchFamily="34" charset="-122"/>
                <a:cs typeface="Arial" pitchFamily="34" charset="-120"/>
              </a:rPr>
              <a:t>S1</a:t>
            </a:r>
            <a:endParaRPr lang="en-US" sz="1400" dirty="0"/>
          </a:p>
        </p:txBody>
      </p:sp>
      <p:sp>
        <p:nvSpPr>
          <p:cNvPr id="35" name="Shape 33"/>
          <p:cNvSpPr/>
          <p:nvPr/>
        </p:nvSpPr>
        <p:spPr>
          <a:xfrm>
            <a:off x="8942832" y="2350008"/>
            <a:ext cx="2761488" cy="2633472"/>
          </a:xfrm>
          <a:prstGeom prst="rect">
            <a:avLst/>
          </a:prstGeom>
          <a:solidFill>
            <a:srgbClr val="122D3A"/>
          </a:solidFill>
          <a:ln w="8890">
            <a:solidFill>
              <a:srgbClr val="122D3A"/>
            </a:solidFill>
            <a:prstDash val="solid"/>
          </a:ln>
        </p:spPr>
      </p:sp>
      <p:sp>
        <p:nvSpPr>
          <p:cNvPr id="36" name="Text 34"/>
          <p:cNvSpPr/>
          <p:nvPr/>
        </p:nvSpPr>
        <p:spPr>
          <a:xfrm>
            <a:off x="9125712" y="2532888"/>
            <a:ext cx="2395728" cy="365760"/>
          </a:xfrm>
          <a:prstGeom prst="rect">
            <a:avLst/>
          </a:prstGeom>
          <a:noFill/>
          <a:ln/>
        </p:spPr>
        <p:txBody>
          <a:bodyPr wrap="square" lIns="0" tIns="0" rIns="0" bIns="0" rtlCol="0" anchor="ctr"/>
          <a:lstStyle/>
          <a:p>
            <a:pPr indent="0" marL="0">
              <a:buNone/>
            </a:pPr>
            <a:r>
              <a:rPr lang="en-US" sz="1700" b="1" dirty="0">
                <a:solidFill>
                  <a:srgbClr val="8DD3C7"/>
                </a:solidFill>
                <a:latin typeface="Arial" pitchFamily="34" charset="0"/>
                <a:ea typeface="Arial" pitchFamily="34" charset="-122"/>
                <a:cs typeface="Arial" pitchFamily="34" charset="-120"/>
              </a:rPr>
              <a:t>AS-IS → S1</a:t>
            </a:r>
            <a:endParaRPr lang="en-US" sz="1700" dirty="0"/>
          </a:p>
        </p:txBody>
      </p:sp>
      <p:sp>
        <p:nvSpPr>
          <p:cNvPr id="37" name="Text 35"/>
          <p:cNvSpPr/>
          <p:nvPr/>
        </p:nvSpPr>
        <p:spPr>
          <a:xfrm>
            <a:off x="9125712" y="3063240"/>
            <a:ext cx="2395728"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1.363 → 788</a:t>
            </a:r>
            <a:endParaRPr lang="en-US" sz="2400" dirty="0"/>
          </a:p>
        </p:txBody>
      </p:sp>
      <p:sp>
        <p:nvSpPr>
          <p:cNvPr id="38" name="Text 36"/>
          <p:cNvSpPr/>
          <p:nvPr/>
        </p:nvSpPr>
        <p:spPr>
          <a:xfrm>
            <a:off x="9125712" y="3538728"/>
            <a:ext cx="2395728" cy="320040"/>
          </a:xfrm>
          <a:prstGeom prst="rect">
            <a:avLst/>
          </a:prstGeom>
          <a:noFill/>
          <a:ln/>
        </p:spPr>
        <p:txBody>
          <a:bodyPr wrap="square" lIns="0" tIns="0" rIns="0" bIns="0" rtlCol="0" anchor="ctr"/>
          <a:lstStyle/>
          <a:p>
            <a:pPr indent="0" marL="0">
              <a:buNone/>
            </a:pPr>
            <a:r>
              <a:rPr lang="en-US" sz="1600" dirty="0">
                <a:solidFill>
                  <a:srgbClr val="D4E6E5"/>
                </a:solidFill>
                <a:latin typeface="Arial" pitchFamily="34" charset="0"/>
                <a:ea typeface="Arial" pitchFamily="34" charset="-122"/>
                <a:cs typeface="Arial" pitchFamily="34" charset="-120"/>
              </a:rPr>
              <a:t>T_trường • phút</a:t>
            </a:r>
            <a:endParaRPr lang="en-US" sz="1600" dirty="0"/>
          </a:p>
        </p:txBody>
      </p:sp>
      <p:sp>
        <p:nvSpPr>
          <p:cNvPr id="39" name="Text 37"/>
          <p:cNvSpPr/>
          <p:nvPr/>
        </p:nvSpPr>
        <p:spPr>
          <a:xfrm>
            <a:off x="9125712" y="4005072"/>
            <a:ext cx="2395728"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551 → 121</a:t>
            </a:r>
            <a:endParaRPr lang="en-US" sz="2400" dirty="0"/>
          </a:p>
        </p:txBody>
      </p:sp>
      <p:sp>
        <p:nvSpPr>
          <p:cNvPr id="40" name="Text 38"/>
          <p:cNvSpPr/>
          <p:nvPr/>
        </p:nvSpPr>
        <p:spPr>
          <a:xfrm>
            <a:off x="9125712" y="4498848"/>
            <a:ext cx="2395728" cy="274320"/>
          </a:xfrm>
          <a:prstGeom prst="rect">
            <a:avLst/>
          </a:prstGeom>
          <a:noFill/>
          <a:ln/>
        </p:spPr>
        <p:txBody>
          <a:bodyPr wrap="square" lIns="0" tIns="0" rIns="0" bIns="0" rtlCol="0" anchor="ctr"/>
          <a:lstStyle/>
          <a:p>
            <a:pPr indent="0" marL="0">
              <a:buNone/>
            </a:pPr>
            <a:r>
              <a:rPr lang="en-US" sz="1600" dirty="0">
                <a:solidFill>
                  <a:srgbClr val="D4E6E5"/>
                </a:solidFill>
                <a:latin typeface="Arial" pitchFamily="34" charset="0"/>
                <a:ea typeface="Arial" pitchFamily="34" charset="-122"/>
                <a:cs typeface="Arial" pitchFamily="34" charset="-120"/>
              </a:rPr>
              <a:t>Chờ ký • phút</a:t>
            </a:r>
            <a:endParaRPr lang="en-US" sz="1600" dirty="0"/>
          </a:p>
        </p:txBody>
      </p:sp>
      <p:sp>
        <p:nvSpPr>
          <p:cNvPr id="41" name="Text 39"/>
          <p:cNvSpPr/>
          <p:nvPr/>
        </p:nvSpPr>
        <p:spPr>
          <a:xfrm>
            <a:off x="502920" y="4974336"/>
            <a:ext cx="8229600" cy="210312"/>
          </a:xfrm>
          <a:prstGeom prst="rect">
            <a:avLst/>
          </a:prstGeom>
          <a:noFill/>
          <a:ln/>
        </p:spPr>
        <p:txBody>
          <a:bodyPr wrap="square" lIns="0" tIns="0" rIns="0" bIns="0" rtlCol="0" anchor="ctr"/>
          <a:lstStyle/>
          <a:p>
            <a:pPr indent="0" marL="0">
              <a:buNone/>
            </a:pPr>
            <a:r>
              <a:rPr lang="en-US" sz="1400" dirty="0">
                <a:solidFill>
                  <a:srgbClr val="526771"/>
                </a:solidFill>
                <a:latin typeface="Arial" pitchFamily="34" charset="0"/>
                <a:ea typeface="Arial" pitchFamily="34" charset="-122"/>
                <a:cs typeface="Arial" pitchFamily="34" charset="-120"/>
              </a:rPr>
              <a:t>Đơn vị: phút làm việc • Trung vị qua 20 seed • Thang đo riêng cho từng KPI</a:t>
            </a:r>
            <a:endParaRPr lang="en-US" sz="1400" dirty="0"/>
          </a:p>
        </p:txBody>
      </p:sp>
      <p:sp>
        <p:nvSpPr>
          <p:cNvPr id="42" name="Shape 40"/>
          <p:cNvSpPr/>
          <p:nvPr/>
        </p:nvSpPr>
        <p:spPr>
          <a:xfrm>
            <a:off x="457200" y="5193792"/>
            <a:ext cx="11247120" cy="521208"/>
          </a:xfrm>
          <a:prstGeom prst="rect">
            <a:avLst/>
          </a:prstGeom>
          <a:solidFill>
            <a:srgbClr val="F3E4D8"/>
          </a:solidFill>
          <a:ln w="8890">
            <a:solidFill>
              <a:srgbClr val="F3E4D8"/>
            </a:solidFill>
            <a:prstDash val="solid"/>
          </a:ln>
        </p:spPr>
      </p:sp>
      <p:sp>
        <p:nvSpPr>
          <p:cNvPr id="43" name="Text 41"/>
          <p:cNvSpPr/>
          <p:nvPr/>
        </p:nvSpPr>
        <p:spPr>
          <a:xfrm>
            <a:off x="640080" y="5239512"/>
            <a:ext cx="10881360" cy="393192"/>
          </a:xfrm>
          <a:prstGeom prst="rect">
            <a:avLst/>
          </a:prstGeom>
          <a:noFill/>
          <a:ln/>
        </p:spPr>
        <p:txBody>
          <a:bodyPr wrap="square" lIns="0" tIns="0" rIns="0" bIns="0" rtlCol="0" anchor="ctr"/>
          <a:lstStyle/>
          <a:p>
            <a:pPr indent="0" marL="0">
              <a:buNone/>
            </a:pPr>
            <a:r>
              <a:rPr lang="en-US" sz="1800" b="1" dirty="0">
                <a:solidFill>
                  <a:srgbClr val="B34735"/>
                </a:solidFill>
                <a:latin typeface="Arial" pitchFamily="34" charset="0"/>
                <a:ea typeface="Arial" pitchFamily="34" charset="-122"/>
                <a:cs typeface="Arial" pitchFamily="34" charset="-120"/>
              </a:rPr>
              <a:t>S0 vẫn ký theo lô: chờ ký 551 → 584 phút; không có seed cải thiện (0/20).</a:t>
            </a:r>
            <a:endParaRPr lang="en-US" sz="1800" dirty="0"/>
          </a:p>
        </p:txBody>
      </p:sp>
      <p:sp>
        <p:nvSpPr>
          <p:cNvPr id="44" name="Text 42"/>
          <p:cNvSpPr/>
          <p:nvPr/>
        </p:nvSpPr>
        <p:spPr>
          <a:xfrm>
            <a:off x="621792" y="5897880"/>
            <a:ext cx="10972800" cy="329184"/>
          </a:xfrm>
          <a:prstGeom prst="rect">
            <a:avLst/>
          </a:prstGeom>
          <a:noFill/>
          <a:ln/>
        </p:spPr>
        <p:txBody>
          <a:bodyPr wrap="square" lIns="0" tIns="0" rIns="0" bIns="0" rtlCol="0" anchor="ctr"/>
          <a:lstStyle/>
          <a:p>
            <a:pPr indent="0" marL="0">
              <a:buNone/>
            </a:pPr>
            <a:r>
              <a:rPr lang="en-US" sz="1800" b="1" dirty="0">
                <a:solidFill>
                  <a:srgbClr val="007F79"/>
                </a:solidFill>
                <a:latin typeface="Arial" pitchFamily="34" charset="0"/>
                <a:ea typeface="Arial" pitchFamily="34" charset="-122"/>
                <a:cs typeface="Arial" pitchFamily="34" charset="-120"/>
              </a:rPr>
              <a:t>Thao tác cán bộ: 43 → 21 phút/ca   •   Trễ phát hiện quá hạn: 1.239 → 0 phút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D"/>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07F79"/>
          </a:solidFill>
          <a:ln w="8890">
            <a:solidFill>
              <a:srgbClr val="007F79"/>
            </a:solidFill>
            <a:prstDash val="solid"/>
          </a:ln>
        </p:spPr>
      </p:sp>
      <p:sp>
        <p:nvSpPr>
          <p:cNvPr id="3" name="Text 1"/>
          <p:cNvSpPr/>
          <p:nvPr/>
        </p:nvSpPr>
        <p:spPr>
          <a:xfrm>
            <a:off x="438912" y="246888"/>
            <a:ext cx="8229600" cy="274320"/>
          </a:xfrm>
          <a:prstGeom prst="rect">
            <a:avLst/>
          </a:prstGeom>
          <a:noFill/>
          <a:ln/>
        </p:spPr>
        <p:txBody>
          <a:bodyPr wrap="square" lIns="0" tIns="0" rIns="0" bIns="0" rtlCol="0" anchor="ctr"/>
          <a:lstStyle/>
          <a:p>
            <a:pPr indent="0" marL="0">
              <a:buNone/>
            </a:pPr>
            <a:r>
              <a:rPr lang="en-US" sz="1400" b="1" dirty="0">
                <a:solidFill>
                  <a:srgbClr val="007F79"/>
                </a:solidFill>
                <a:latin typeface="Arial" pitchFamily="34" charset="0"/>
                <a:ea typeface="Arial" pitchFamily="34" charset="-122"/>
                <a:cs typeface="Arial" pitchFamily="34" charset="-120"/>
              </a:rPr>
              <a:t>GIỚI HẠN VÀ BƯỚC TIẾP THEO</a:t>
            </a:r>
            <a:endParaRPr lang="en-US" sz="1400" dirty="0"/>
          </a:p>
        </p:txBody>
      </p:sp>
      <p:sp>
        <p:nvSpPr>
          <p:cNvPr id="4" name="Text 2"/>
          <p:cNvSpPr/>
          <p:nvPr/>
        </p:nvSpPr>
        <p:spPr>
          <a:xfrm>
            <a:off x="438912" y="786384"/>
            <a:ext cx="11247120" cy="841248"/>
          </a:xfrm>
          <a:prstGeom prst="rect">
            <a:avLst/>
          </a:prstGeom>
          <a:noFill/>
          <a:ln/>
        </p:spPr>
        <p:txBody>
          <a:bodyPr wrap="square" lIns="0" tIns="0" rIns="0" bIns="0" rtlCol="0" anchor="ctr"/>
          <a:lstStyle/>
          <a:p>
            <a:pPr indent="0" marL="0">
              <a:buNone/>
            </a:pPr>
            <a:r>
              <a:rPr lang="en-US" sz="3000" b="1" dirty="0">
                <a:solidFill>
                  <a:srgbClr val="122D3A"/>
                </a:solidFill>
                <a:latin typeface="Arial" pitchFamily="34" charset="0"/>
                <a:ea typeface="Arial" pitchFamily="34" charset="-122"/>
                <a:cs typeface="Arial" pitchFamily="34" charset="-120"/>
              </a:rPr>
              <a:t>Từ minh họa phương pháp đến kiểm định tại trường</a:t>
            </a:r>
            <a:endParaRPr lang="en-US" sz="3000" dirty="0"/>
          </a:p>
        </p:txBody>
      </p:sp>
      <p:sp>
        <p:nvSpPr>
          <p:cNvPr id="5" name="Text 3"/>
          <p:cNvSpPr/>
          <p:nvPr/>
        </p:nvSpPr>
        <p:spPr>
          <a:xfrm>
            <a:off x="457200" y="1691640"/>
            <a:ext cx="11155680" cy="512064"/>
          </a:xfrm>
          <a:prstGeom prst="rect">
            <a:avLst/>
          </a:prstGeom>
          <a:noFill/>
          <a:ln/>
        </p:spPr>
        <p:txBody>
          <a:bodyPr wrap="square" lIns="0" tIns="0" rIns="0" bIns="0" rtlCol="0" anchor="ctr"/>
          <a:lstStyle/>
          <a:p>
            <a:pPr indent="0" marL="0">
              <a:buNone/>
            </a:pPr>
            <a:r>
              <a:rPr lang="en-US" sz="1800" dirty="0">
                <a:solidFill>
                  <a:srgbClr val="526771"/>
                </a:solidFill>
                <a:latin typeface="Arial" pitchFamily="34" charset="0"/>
                <a:ea typeface="Arial" pitchFamily="34" charset="-122"/>
                <a:cs typeface="Arial" pitchFamily="34" charset="-120"/>
              </a:rPr>
              <a:t>Cần nhật ký thực tế trước khi kết luận hiệu quả vận hành.</a:t>
            </a:r>
            <a:endParaRPr lang="en-US" sz="1800" dirty="0"/>
          </a:p>
        </p:txBody>
      </p:sp>
      <p:sp>
        <p:nvSpPr>
          <p:cNvPr id="6" name="Shape 4"/>
          <p:cNvSpPr/>
          <p:nvPr/>
        </p:nvSpPr>
        <p:spPr>
          <a:xfrm>
            <a:off x="457200" y="6428232"/>
            <a:ext cx="11265408" cy="0"/>
          </a:xfrm>
          <a:prstGeom prst="line">
            <a:avLst/>
          </a:prstGeom>
          <a:noFill/>
          <a:ln w="8890">
            <a:solidFill>
              <a:srgbClr val="D6DED9"/>
            </a:solidFill>
            <a:prstDash val="solid"/>
            <a:headEnd type="none"/>
            <a:tailEnd type="none"/>
          </a:ln>
        </p:spPr>
      </p:sp>
      <p:sp>
        <p:nvSpPr>
          <p:cNvPr id="7" name="Text 5"/>
          <p:cNvSpPr/>
          <p:nvPr/>
        </p:nvSpPr>
        <p:spPr>
          <a:xfrm>
            <a:off x="457200" y="6510528"/>
            <a:ext cx="8229600" cy="201168"/>
          </a:xfrm>
          <a:prstGeom prst="rect">
            <a:avLst/>
          </a:prstGeom>
          <a:noFill/>
          <a:ln/>
        </p:spPr>
        <p:txBody>
          <a:bodyPr wrap="square" lIns="0" tIns="0" rIns="0" bIns="0" rtlCol="0" anchor="ctr"/>
          <a:lstStyle/>
          <a:p>
            <a:pPr indent="0" marL="0">
              <a:buNone/>
            </a:pPr>
            <a:r>
              <a:rPr lang="en-US" sz="1100" dirty="0">
                <a:solidFill>
                  <a:srgbClr val="526771"/>
                </a:solidFill>
                <a:latin typeface="Arial" pitchFamily="34" charset="0"/>
                <a:ea typeface="Arial" pitchFamily="34" charset="-122"/>
                <a:cs typeface="Arial" pitchFamily="34" charset="-120"/>
              </a:rPr>
              <a:t>CAO ĐẲNG Y DƯỢC  /  PROTOTYPE HỌC THUẬT</a:t>
            </a:r>
            <a:endParaRPr lang="en-US" sz="1100" dirty="0"/>
          </a:p>
        </p:txBody>
      </p:sp>
      <p:sp>
        <p:nvSpPr>
          <p:cNvPr id="8" name="Text 6"/>
          <p:cNvSpPr/>
          <p:nvPr/>
        </p:nvSpPr>
        <p:spPr>
          <a:xfrm>
            <a:off x="11109960" y="6483096"/>
            <a:ext cx="594360" cy="256032"/>
          </a:xfrm>
          <a:prstGeom prst="rect">
            <a:avLst/>
          </a:prstGeom>
          <a:noFill/>
          <a:ln/>
        </p:spPr>
        <p:txBody>
          <a:bodyPr wrap="square" lIns="0" tIns="0" rIns="0" bIns="0" rtlCol="0" anchor="ctr"/>
          <a:lstStyle/>
          <a:p>
            <a:pPr algn="r" indent="0" marL="0">
              <a:buNone/>
            </a:pPr>
            <a:r>
              <a:rPr lang="en-US" sz="1200" b="1" dirty="0">
                <a:solidFill>
                  <a:srgbClr val="526771"/>
                </a:solidFill>
                <a:latin typeface="Arial" pitchFamily="34" charset="0"/>
                <a:ea typeface="Arial" pitchFamily="34" charset="-122"/>
                <a:cs typeface="Arial" pitchFamily="34" charset="-120"/>
              </a:rPr>
              <a:t>13</a:t>
            </a:r>
            <a:endParaRPr lang="en-US" sz="1200" dirty="0"/>
          </a:p>
        </p:txBody>
      </p:sp>
      <p:sp>
        <p:nvSpPr>
          <p:cNvPr id="9" name="Shape 7"/>
          <p:cNvSpPr/>
          <p:nvPr/>
        </p:nvSpPr>
        <p:spPr>
          <a:xfrm>
            <a:off x="457200" y="2395728"/>
            <a:ext cx="3657600" cy="1993392"/>
          </a:xfrm>
          <a:prstGeom prst="rect">
            <a:avLst/>
          </a:prstGeom>
          <a:solidFill>
            <a:srgbClr val="FFFFFF"/>
          </a:solidFill>
          <a:ln w="8890">
            <a:solidFill>
              <a:srgbClr val="FFFFFF"/>
            </a:solidFill>
            <a:prstDash val="solid"/>
          </a:ln>
        </p:spPr>
      </p:sp>
      <p:sp>
        <p:nvSpPr>
          <p:cNvPr id="10" name="Shape 8"/>
          <p:cNvSpPr/>
          <p:nvPr/>
        </p:nvSpPr>
        <p:spPr>
          <a:xfrm>
            <a:off x="457200" y="2395728"/>
            <a:ext cx="54864" cy="1993392"/>
          </a:xfrm>
          <a:prstGeom prst="rect">
            <a:avLst/>
          </a:prstGeom>
          <a:solidFill>
            <a:srgbClr val="CB6338"/>
          </a:solidFill>
          <a:ln w="8890">
            <a:solidFill>
              <a:srgbClr val="CB6338"/>
            </a:solidFill>
            <a:prstDash val="solid"/>
          </a:ln>
        </p:spPr>
      </p:sp>
      <p:sp>
        <p:nvSpPr>
          <p:cNvPr id="11" name="Text 9"/>
          <p:cNvSpPr/>
          <p:nvPr/>
        </p:nvSpPr>
        <p:spPr>
          <a:xfrm>
            <a:off x="658368" y="2532888"/>
            <a:ext cx="3273552" cy="384048"/>
          </a:xfrm>
          <a:prstGeom prst="rect">
            <a:avLst/>
          </a:prstGeom>
          <a:noFill/>
          <a:ln/>
        </p:spPr>
        <p:txBody>
          <a:bodyPr wrap="square" lIns="0" tIns="0" rIns="0" bIns="0" rtlCol="0" anchor="ctr"/>
          <a:lstStyle/>
          <a:p>
            <a:pPr indent="0" marL="0">
              <a:buNone/>
            </a:pPr>
            <a:r>
              <a:rPr lang="en-US" sz="2000" b="1" dirty="0">
                <a:solidFill>
                  <a:srgbClr val="CB6338"/>
                </a:solidFill>
                <a:latin typeface="Arial" pitchFamily="34" charset="0"/>
                <a:ea typeface="Arial" pitchFamily="34" charset="-122"/>
                <a:cs typeface="Arial" pitchFamily="34" charset="-120"/>
              </a:rPr>
              <a:t>Giả định chưa kiểm định</a:t>
            </a:r>
            <a:endParaRPr lang="en-US" sz="2000" dirty="0"/>
          </a:p>
        </p:txBody>
      </p:sp>
      <p:sp>
        <p:nvSpPr>
          <p:cNvPr id="12" name="Text 10"/>
          <p:cNvSpPr/>
          <p:nvPr/>
        </p:nvSpPr>
        <p:spPr>
          <a:xfrm>
            <a:off x="658368" y="3099816"/>
            <a:ext cx="3273552" cy="1143000"/>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Tham số là giả định</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Một cán bộ kiêm nhiệm</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Chưa tích hợp dữ liệu trường</a:t>
            </a:r>
            <a:endParaRPr lang="en-US" sz="1700" dirty="0"/>
          </a:p>
        </p:txBody>
      </p:sp>
      <p:sp>
        <p:nvSpPr>
          <p:cNvPr id="13" name="Shape 11"/>
          <p:cNvSpPr/>
          <p:nvPr/>
        </p:nvSpPr>
        <p:spPr>
          <a:xfrm>
            <a:off x="4297680" y="2395728"/>
            <a:ext cx="3593592" cy="1993392"/>
          </a:xfrm>
          <a:prstGeom prst="rect">
            <a:avLst/>
          </a:prstGeom>
          <a:solidFill>
            <a:srgbClr val="FFFFFF"/>
          </a:solidFill>
          <a:ln w="8890">
            <a:solidFill>
              <a:srgbClr val="FFFFFF"/>
            </a:solidFill>
            <a:prstDash val="solid"/>
          </a:ln>
        </p:spPr>
      </p:sp>
      <p:sp>
        <p:nvSpPr>
          <p:cNvPr id="14" name="Shape 12"/>
          <p:cNvSpPr/>
          <p:nvPr/>
        </p:nvSpPr>
        <p:spPr>
          <a:xfrm>
            <a:off x="4297680" y="2395728"/>
            <a:ext cx="54864" cy="1993392"/>
          </a:xfrm>
          <a:prstGeom prst="rect">
            <a:avLst/>
          </a:prstGeom>
          <a:solidFill>
            <a:srgbClr val="007F79"/>
          </a:solidFill>
          <a:ln w="8890">
            <a:solidFill>
              <a:srgbClr val="007F79"/>
            </a:solidFill>
            <a:prstDash val="solid"/>
          </a:ln>
        </p:spPr>
      </p:sp>
      <p:sp>
        <p:nvSpPr>
          <p:cNvPr id="15" name="Text 13"/>
          <p:cNvSpPr/>
          <p:nvPr/>
        </p:nvSpPr>
        <p:spPr>
          <a:xfrm>
            <a:off x="4498848" y="2532888"/>
            <a:ext cx="3209544" cy="384048"/>
          </a:xfrm>
          <a:prstGeom prst="rect">
            <a:avLst/>
          </a:prstGeom>
          <a:noFill/>
          <a:ln/>
        </p:spPr>
        <p:txBody>
          <a:bodyPr wrap="square" lIns="0" tIns="0" rIns="0" bIns="0" rtlCol="0" anchor="ctr"/>
          <a:lstStyle/>
          <a:p>
            <a:pPr indent="0" marL="0">
              <a:buNone/>
            </a:pPr>
            <a:r>
              <a:rPr lang="en-US" sz="2000" b="1" dirty="0">
                <a:solidFill>
                  <a:srgbClr val="007F79"/>
                </a:solidFill>
                <a:latin typeface="Arial" pitchFamily="34" charset="0"/>
                <a:ea typeface="Arial" pitchFamily="34" charset="-122"/>
                <a:cs typeface="Arial" pitchFamily="34" charset="-120"/>
              </a:rPr>
              <a:t>Thu thập nhật ký</a:t>
            </a:r>
            <a:endParaRPr lang="en-US" sz="2000" dirty="0"/>
          </a:p>
        </p:txBody>
      </p:sp>
      <p:sp>
        <p:nvSpPr>
          <p:cNvPr id="16" name="Text 14"/>
          <p:cNvSpPr/>
          <p:nvPr/>
        </p:nvSpPr>
        <p:spPr>
          <a:xfrm>
            <a:off x="4498848" y="3099816"/>
            <a:ext cx="3209544" cy="1143000"/>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Sổ tiếp nhận</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Phiếu trình ký, sổ văn thư</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Hộp thư và bằng chứng gửi</a:t>
            </a:r>
            <a:endParaRPr lang="en-US" sz="1700" dirty="0"/>
          </a:p>
        </p:txBody>
      </p:sp>
      <p:sp>
        <p:nvSpPr>
          <p:cNvPr id="17" name="Shape 15"/>
          <p:cNvSpPr/>
          <p:nvPr/>
        </p:nvSpPr>
        <p:spPr>
          <a:xfrm>
            <a:off x="8074152" y="2395728"/>
            <a:ext cx="3630168" cy="1993392"/>
          </a:xfrm>
          <a:prstGeom prst="rect">
            <a:avLst/>
          </a:prstGeom>
          <a:solidFill>
            <a:srgbClr val="FFFFFF"/>
          </a:solidFill>
          <a:ln w="8890">
            <a:solidFill>
              <a:srgbClr val="FFFFFF"/>
            </a:solidFill>
            <a:prstDash val="solid"/>
          </a:ln>
        </p:spPr>
      </p:sp>
      <p:sp>
        <p:nvSpPr>
          <p:cNvPr id="18" name="Shape 16"/>
          <p:cNvSpPr/>
          <p:nvPr/>
        </p:nvSpPr>
        <p:spPr>
          <a:xfrm>
            <a:off x="8074152" y="2395728"/>
            <a:ext cx="54864" cy="1993392"/>
          </a:xfrm>
          <a:prstGeom prst="rect">
            <a:avLst/>
          </a:prstGeom>
          <a:solidFill>
            <a:srgbClr val="007F79"/>
          </a:solidFill>
          <a:ln w="8890">
            <a:solidFill>
              <a:srgbClr val="007F79"/>
            </a:solidFill>
            <a:prstDash val="solid"/>
          </a:ln>
        </p:spPr>
      </p:sp>
      <p:sp>
        <p:nvSpPr>
          <p:cNvPr id="19" name="Text 17"/>
          <p:cNvSpPr/>
          <p:nvPr/>
        </p:nvSpPr>
        <p:spPr>
          <a:xfrm>
            <a:off x="8275320" y="2532888"/>
            <a:ext cx="3246120" cy="384048"/>
          </a:xfrm>
          <a:prstGeom prst="rect">
            <a:avLst/>
          </a:prstGeom>
          <a:noFill/>
          <a:ln/>
        </p:spPr>
        <p:txBody>
          <a:bodyPr wrap="square" lIns="0" tIns="0" rIns="0" bIns="0" rtlCol="0" anchor="ctr"/>
          <a:lstStyle/>
          <a:p>
            <a:pPr indent="0" marL="0">
              <a:buNone/>
            </a:pPr>
            <a:r>
              <a:rPr lang="en-US" sz="2000" b="1" dirty="0">
                <a:solidFill>
                  <a:srgbClr val="007F79"/>
                </a:solidFill>
                <a:latin typeface="Arial" pitchFamily="34" charset="0"/>
                <a:ea typeface="Arial" pitchFamily="34" charset="-122"/>
                <a:cs typeface="Arial" pitchFamily="34" charset="-120"/>
              </a:rPr>
              <a:t>Thí điểm và hiệu chỉnh</a:t>
            </a:r>
            <a:endParaRPr lang="en-US" sz="2000" dirty="0"/>
          </a:p>
        </p:txBody>
      </p:sp>
      <p:sp>
        <p:nvSpPr>
          <p:cNvPr id="20" name="Text 18"/>
          <p:cNvSpPr/>
          <p:nvPr/>
        </p:nvSpPr>
        <p:spPr>
          <a:xfrm>
            <a:off x="8275320" y="3099816"/>
            <a:ext cx="3246120" cy="1143000"/>
          </a:xfrm>
          <a:prstGeom prst="rect">
            <a:avLst/>
          </a:prstGeom>
          <a:noFill/>
          <a:ln/>
        </p:spPr>
        <p:txBody>
          <a:bodyPr wrap="square" lIns="0" tIns="0" rIns="0" bIns="0" rtlCol="0" anchor="ctr"/>
          <a:lstStyle/>
          <a:p>
            <a:pPr indent="0" marL="0">
              <a:buNone/>
            </a:pPr>
            <a:r>
              <a:rPr lang="en-US" sz="1700" dirty="0">
                <a:solidFill>
                  <a:srgbClr val="193541"/>
                </a:solidFill>
                <a:latin typeface="Arial" pitchFamily="34" charset="0"/>
                <a:ea typeface="Arial" pitchFamily="34" charset="-122"/>
                <a:cs typeface="Arial" pitchFamily="34" charset="-120"/>
              </a:rPr>
              <a:t>Hiệu chỉnh tham số mô phỏng</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Đo lại hằng tuần</a:t>
            </a:r>
            <a:endParaRPr lang="en-US" sz="1700" dirty="0"/>
          </a:p>
          <a:p>
            <a:pPr indent="0" marL="0">
              <a:buNone/>
            </a:pPr>
            <a:r>
              <a:rPr lang="en-US" sz="1700" dirty="0">
                <a:solidFill>
                  <a:srgbClr val="193541"/>
                </a:solidFill>
                <a:latin typeface="Arial" pitchFamily="34" charset="0"/>
                <a:ea typeface="Arial" pitchFamily="34" charset="-122"/>
                <a:cs typeface="Arial" pitchFamily="34" charset="-120"/>
              </a:rPr>
              <a:t>Hoàn thiện timer và các bước còn thiếu</a:t>
            </a:r>
            <a:endParaRPr lang="en-US" sz="1700" dirty="0"/>
          </a:p>
        </p:txBody>
      </p:sp>
      <p:sp>
        <p:nvSpPr>
          <p:cNvPr id="21" name="Shape 19"/>
          <p:cNvSpPr/>
          <p:nvPr/>
        </p:nvSpPr>
        <p:spPr>
          <a:xfrm>
            <a:off x="2286000" y="4754880"/>
            <a:ext cx="7498080" cy="0"/>
          </a:xfrm>
          <a:prstGeom prst="line">
            <a:avLst/>
          </a:prstGeom>
          <a:noFill/>
          <a:ln w="19050">
            <a:solidFill>
              <a:srgbClr val="007F79"/>
            </a:solidFill>
            <a:prstDash val="solid"/>
            <a:headEnd type="none"/>
            <a:tailEnd type="triangle"/>
          </a:ln>
        </p:spPr>
      </p:sp>
      <p:sp>
        <p:nvSpPr>
          <p:cNvPr id="22" name="Shape 20"/>
          <p:cNvSpPr/>
          <p:nvPr/>
        </p:nvSpPr>
        <p:spPr>
          <a:xfrm>
            <a:off x="457200" y="5120640"/>
            <a:ext cx="3630168" cy="603504"/>
          </a:xfrm>
          <a:prstGeom prst="rect">
            <a:avLst/>
          </a:prstGeom>
          <a:solidFill>
            <a:srgbClr val="DFEFEB"/>
          </a:solidFill>
          <a:ln w="8890">
            <a:solidFill>
              <a:srgbClr val="DFEFEB"/>
            </a:solidFill>
            <a:prstDash val="solid"/>
          </a:ln>
        </p:spPr>
      </p:sp>
      <p:sp>
        <p:nvSpPr>
          <p:cNvPr id="23" name="Text 21"/>
          <p:cNvSpPr/>
          <p:nvPr/>
        </p:nvSpPr>
        <p:spPr>
          <a:xfrm>
            <a:off x="548640" y="5175504"/>
            <a:ext cx="3447288"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Prototype học thuật</a:t>
            </a:r>
            <a:endParaRPr lang="en-US" sz="1700" dirty="0"/>
          </a:p>
        </p:txBody>
      </p:sp>
      <p:sp>
        <p:nvSpPr>
          <p:cNvPr id="24" name="Shape 22"/>
          <p:cNvSpPr/>
          <p:nvPr/>
        </p:nvSpPr>
        <p:spPr>
          <a:xfrm>
            <a:off x="4297680" y="5120640"/>
            <a:ext cx="3630168" cy="603504"/>
          </a:xfrm>
          <a:prstGeom prst="rect">
            <a:avLst/>
          </a:prstGeom>
          <a:solidFill>
            <a:srgbClr val="DFEFEB"/>
          </a:solidFill>
          <a:ln w="8890">
            <a:solidFill>
              <a:srgbClr val="DFEFEB"/>
            </a:solidFill>
            <a:prstDash val="solid"/>
          </a:ln>
        </p:spPr>
      </p:sp>
      <p:sp>
        <p:nvSpPr>
          <p:cNvPr id="25" name="Text 23"/>
          <p:cNvSpPr/>
          <p:nvPr/>
        </p:nvSpPr>
        <p:spPr>
          <a:xfrm>
            <a:off x="4389120" y="5175504"/>
            <a:ext cx="3447288"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Nhật ký thực tế</a:t>
            </a:r>
            <a:endParaRPr lang="en-US" sz="1700" dirty="0"/>
          </a:p>
        </p:txBody>
      </p:sp>
      <p:sp>
        <p:nvSpPr>
          <p:cNvPr id="26" name="Shape 24"/>
          <p:cNvSpPr/>
          <p:nvPr/>
        </p:nvSpPr>
        <p:spPr>
          <a:xfrm>
            <a:off x="8138160" y="5120640"/>
            <a:ext cx="3630168" cy="603504"/>
          </a:xfrm>
          <a:prstGeom prst="rect">
            <a:avLst/>
          </a:prstGeom>
          <a:solidFill>
            <a:srgbClr val="DFEFEB"/>
          </a:solidFill>
          <a:ln w="8890">
            <a:solidFill>
              <a:srgbClr val="DFEFEB"/>
            </a:solidFill>
            <a:prstDash val="solid"/>
          </a:ln>
        </p:spPr>
      </p:sp>
      <p:sp>
        <p:nvSpPr>
          <p:cNvPr id="27" name="Text 25"/>
          <p:cNvSpPr/>
          <p:nvPr/>
        </p:nvSpPr>
        <p:spPr>
          <a:xfrm>
            <a:off x="8229600" y="5175504"/>
            <a:ext cx="3447288" cy="493776"/>
          </a:xfrm>
          <a:prstGeom prst="rect">
            <a:avLst/>
          </a:prstGeom>
          <a:noFill/>
          <a:ln/>
        </p:spPr>
        <p:txBody>
          <a:bodyPr wrap="square" lIns="0" tIns="0" rIns="0" bIns="0" rtlCol="0" anchor="ctr"/>
          <a:lstStyle/>
          <a:p>
            <a:pPr algn="ctr" indent="0" marL="0">
              <a:buNone/>
            </a:pPr>
            <a:r>
              <a:rPr lang="en-US" sz="1700" b="1" dirty="0">
                <a:solidFill>
                  <a:srgbClr val="122D3A"/>
                </a:solidFill>
                <a:latin typeface="Arial" pitchFamily="34" charset="0"/>
                <a:ea typeface="Arial" pitchFamily="34" charset="-122"/>
                <a:cs typeface="Arial" pitchFamily="34" charset="-120"/>
              </a:rPr>
              <a:t>Đo kiểm thí điểm</a:t>
            </a:r>
            <a:endParaRPr lang="en-US" sz="1700" dirty="0"/>
          </a:p>
        </p:txBody>
      </p:sp>
      <p:sp>
        <p:nvSpPr>
          <p:cNvPr id="28" name="Shape 26"/>
          <p:cNvSpPr/>
          <p:nvPr/>
        </p:nvSpPr>
        <p:spPr>
          <a:xfrm>
            <a:off x="457200" y="5907024"/>
            <a:ext cx="11247120" cy="457200"/>
          </a:xfrm>
          <a:prstGeom prst="rect">
            <a:avLst/>
          </a:prstGeom>
          <a:solidFill>
            <a:srgbClr val="007F79"/>
          </a:solidFill>
          <a:ln w="8890">
            <a:solidFill>
              <a:srgbClr val="007F79"/>
            </a:solidFill>
            <a:prstDash val="solid"/>
          </a:ln>
        </p:spPr>
      </p:sp>
      <p:sp>
        <p:nvSpPr>
          <p:cNvPr id="29" name="Text 27"/>
          <p:cNvSpPr/>
          <p:nvPr/>
        </p:nvSpPr>
        <p:spPr>
          <a:xfrm>
            <a:off x="640080" y="5925312"/>
            <a:ext cx="1088136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Đo đúng thời gian chờ → chọn đúng thay đổi → kiểm chứng bằng dữ liệu thực</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Nhóm nghiên cứu học thuật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Cấp giấy xác nhận sinh viên — từ phân tích đến tự động hóa</dc:title>
  <dc:subject>Phân tích và tự động hóa quy trình cấp giấy xác nhận sinh viên</dc:subject>
  <dc:creator>Codex</dc:creator>
  <cp:lastModifiedBy>Codex</cp:lastModifiedBy>
  <cp:revision>1</cp:revision>
  <dcterms:created xsi:type="dcterms:W3CDTF">2026-10-24T08:36:22Z</dcterms:created>
  <dcterms:modified xsi:type="dcterms:W3CDTF">2026-10-24T08:36:22Z</dcterms:modified>
</cp:coreProperties>
</file>