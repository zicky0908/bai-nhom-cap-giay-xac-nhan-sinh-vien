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1.
- Giới thiệu tên đề tài và phạm vi 4 loại giấy xác nhận tại Phòng CTHSSV Trường Cao đẳng Y Dược.
- Nhấn mạnh mục tiêu kép: dùng Process Mining tìm đúng điểm nghẽn và xây dựng prototype tự động hóa kiểm soát trạng thái.
- Làm rõ ranh giới học thuật: toàn bộ số liệu khai phá quy trình là dữ liệu mô phỏng, prototype chạy local không phát hành giấy có giá trị pháp lý.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1.
- Trình bày 5 vấn đề giả định trong quy trình cấp giấy thủ công: không có mã tra cứu cho SV, phát hiện thiếu thông tin muộn, chờ trình ký theo đợt, chỉ rà sổ quá hạn vào chiều thứ Sáu, và thông báo qua Zalo/điện thoại không lưu vết.
- Đối chiếu sang 4 mục tiêu cải tiến dự kiến và sơ đồ 4 bên liên quan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1.
- Giải thích khung SIPOC đầu-cuối: đầu vào gồm thông tin SV, loại giấy, mục đích, minh chứng; đầu ra gồm giấy xác nhận hoặc thông báo từ chối có lý do và event log.
- Làm rõ 3 kết cục loại trừ nhau: Nhận giấy (E1), Bị từ chối kèm lý do (E2), Đóng hồ sơ do quá hạn bổ sung 7 ngày làm việc (E3).
- Giải thích vì sao phải tách T_trường (kết thúc khi thông báo kết quả cho SV) và T_SV (tính đến khi SV đến nhận giấy; các ca đã cấp nhưng chưa nhận là dữ liệu bị cắt).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2.
- Chỉ trên sơ đồ BPMN 4 làn ngang: Sinh viên, Cán bộ CTHSSV, Lãnh đạo phòng, Văn thư.
- Giải thích 3 nhánh sau bước kiểm tra thông tin và tư cách: (1) Đủ điều kiện -&gt; soạn giấy và phiếu trình; (2) Thiếu/sai -&gt; báo SV bổ sung; (3) Không đủ tư cách -&gt; trình lãnh đạo quyết định từ chối.
- Nhấn mạnh việc rà soát hồ sơ quá hạn bổ sung (7 ngày làm việc) chỉ thực hiện thủ công vào chiều thứ Sáu hằng tuần.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2.
- Trình bày 4 ứng viên điểm nghẽn ngang hàng (H1 đến H4): chờ trình ký theo đợt, vòng lặp yêu cầu bổ sung, chờ kiểm tra đầu vào do kiêm nhiệm, và chờ chuyển giấy đã ký sang văn thư đóng dấu.
- Lưu ý: khoảng chờ từ lúc báo có giấy đến lúc SV đến nhận chỉ dùng để tách T_SV khỏi T_trường, không phải điểm nghẽn của trường.
- Nêu rõ bộ tiêu chí công bố trước khi chạy mô phỏng để tránh kết luận chủ quan.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3.
- Trình bày thiết kế thực nghiệm mô phỏng: 400 hồ sơ trong 12 tuần đến + 8 tuần xả hàng, lặp lại qua 20 hạt giống ngẫu nhiên (seed) độc lập, tổng cộng 7 cấu hình.
- Giải thích kỹ thuật ghép cặp từng hồ sơ bằng cùng luồng số ngẫu nhiên (Common Random Numbers) để giảm nhiễu khi so sánh AS-IS và TO-BE.
- Chỉ rõ bảng đối chiếu tham số giữ cố định và tham số thay đổi để bóc tách hiệu quả của phần mềm với hiệu quả của việc đổi lịch ký.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3.
- Đối chiếu hai đồ thị DFG (seed 20260302): Ở AS-IS, bước chuyển Soạn giấy sang Duyệt ký (A06-&gt;A07) tô đỏ vì đạt đủ tiêu chí nghẽn: trung vị chờ 621 phút làm việc, P90 là 1.201 phút, 63% số ca chờ quá 1 ngày làm việc, xuất hiện ở 369/400 ca.
- Lưu ý: khoảng chờ A01-&gt;A02 (249 phút, màu vàng) phần lớn do quy ước làm tròn 07:30 của ngày ghi trên đơn (GA10), không kết luận là xếp hàng thật.
- Sang TO-BE S1 (ký 2 lần/ngày), không còn cạnh đỏ, chờ trước ký giảm còn 123 phút. Tỷ lệ đi thẳng tăng từ 62,3% lên 75,5% (lưu ý mức giảm bổ sung từ 30,1% xuống 15,6% là tham số đầu vào 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3.
- Bên trái: Biểu đồ tách thời gian chờ (vàng) và thời gian xử lý (xanh) theo từng bước. Cho thấy thời gian chờ chiếm đại đa số, đặc biệt tại bước A07 ở AS-IS.
- Bên phải: Bảng đối chiếu kết quả tính tay và kết quả từ mã nguồn trên các hồ sơ mẫu C001–C004 (843 / 1.693 / 1.233 / 5.740 phút) cùng 2 hồ sơ quy trình đề xuất.
- Xác nhận hàm lịch làm việc trừ đúng giờ nghỉ trưa, cuối tuần và tách đúng thời gian của trường khỏi thời gian chờ sinh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2.
- Chỉ trên sơ đồ BPMN TO-BE 5 làn: bổ sung làn thứ 5 (Hệ thống Web + n8n).
- Nêu 3 nhóm thay đổi chính: (1) Tiền kiểm định dạng ngay khi nộp biểu mẫu web (A15) và cấp mã hồ sơ tự động (A02); (2) Hệ thống tự sinh bản thảo từ mẫu (A06), tự động nhắc hạn khi còn 2 ngày làm việc (A16) và đóng hồ sơ đúng hạn (A13); (3) Giữ nguyên thẩm quyền duyệt của lãnh đạo (khung 10:30 và 16:00 ở kịch bản S1) và đóng dấu của văn thư, gửi email có lưu vết qua Mailpit.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4.
- Trình bày đúng kiến trúc prototype thật đang chạy trong thư mục prototype/ (mục 6): gồm 4 dịch vụ trên Docker Compose (App FastAPI + Jinja + PM4Py, PostgreSQL 17, n8n Community 2.44, Mailpit 1.31).
- Làm rõ phân vai: App FastAPI là bên duy nhất ghi trạng thái và event log, kiểm tra vai trò, version và Idempotency-Key; n8n nhận webhook, đọc hồ sơ, tiền kiểm tự động, gửi email qua Mailpit và gọi callback.
- Trình bày máy trạng thái chặt chẽ (app/state_machine.py), mọi thao tác sai vai trò hoặc sai thứ tự đều bị từ chối.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4.
- Đối chiếu bảng ánh xạ 5 yêu cầu tối thiểu của giảng viên sang các node thực tế trong file n8n/workflows/student-certificate.json.
- Giải thích cơ chế chống gửi trùng (Idempotency-Key) và chống báo thành công giả (chỉ hiện SYNCED khi n8n gửi xong email qua Mailpit và gọi callback thành công; nếu lỗi giữ PENDING/FAILED).
- Nêu rõ sự khác biệt trung thực giữa mô hình BPMN phân tích và prototype thực tế (prototype gộp tiền kiểm trước bước cán bộ xem xét, chưa bật timer A16/A13).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3 &amp; Thành viên 4.
- Trình chiếu 3 ảnh chụp thực tế từ prototype đã chạy kiểm thử giao diện tự động ngày 24/10/2026: (1) Cổng sinh viên nộp hồ sơ và tra cứu mã GXN; (2) Trang cán bộ xử lý với trạng thái tự động hóa Đã thông báo (SYNCED) và chặn thao tác sai trạng thái; (3) Hộp thư Mailpit lưu bằng chứng email thật.
- Tóm tắt luồng kiểm chứng trên hệ thống: nộp hồ sơ hợp lệ, vòng yêu cầu bổ sung (tăng attempt_no = 2), và thử thao tác sai thứ tự / gửi trùng khóa.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4.
- Nhấn mạnh phát hiện cốt lõi từ bảng đối chiếu 4 kịch bản qua 20 seed: Nếu chỉ tự động hóa mà vẫn ký theo lô (TO-BE S0), thời gian chờ trước ký KHÔNG giảm (584 so với 551 phút, 0/20 seed tốt hơn). Chỉ khi kết hợp đổi lịch ký 2 lần/ngày (TO-BE S1), chờ trước ký mới giảm còn 121 phút và T_trường giảm từ 1.363 xuống 788 phút (tốt hơn ở 20/20 seed), kể cả khi tỷ lệ bổ sung p không giảm (792 phút).
- Vai trò thực chất của phần mềm: giảm thao tác cán bộ từ 43 xuống 21 phút/ca và đưa độ trễ phát hiện quá hạn từ 1.239 phút về 0.
- Báo cáo kết quả kiểm thử: đạt toàn bộ 12 test phân tích, 20 test tự động của prototype, cùng kiểm thử E2E giao diện.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1.
- Thẳng thắn nêu 6 điều không được kết luận vội từ mô phỏng (hiệu quả thực tế tại trường, tự động hóa đơn thuần làm giảm chờ ký, form web chắc chắn giảm một nửa tỷ lệ bổ sung, hay ngoại suy cho mùa cao điểm/nhiều cán bộ).
- Trình bày kế hoạch thu thập dữ liệu thực từ sổ tiếp nhận, phiếu trình, sổ văn thư và hộp thư.
- Đề xuất lộ trình 3 bước chuyển từ prototype học thuật sang thí điểm thực tế tại Phòng CTHSSV.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sp>
      <p:sp>
        <p:nvSpPr>
          <p:cNvPr id="3" name="Shape 1"/>
          <p:cNvSpPr/>
          <p:nvPr/>
        </p:nvSpPr>
        <p:spPr>
          <a:xfrm>
            <a:off x="411480" y="182880"/>
            <a:ext cx="2468880" cy="310896"/>
          </a:xfrm>
          <a:prstGeom prst="roundRect">
            <a:avLst>
              <a:gd name="adj" fmla="val 14706"/>
            </a:avLst>
          </a:prstGeom>
          <a:solidFill>
            <a:srgbClr val="CCFBF1"/>
          </a:solidFill>
          <a:ln w="6350">
            <a:solidFill>
              <a:srgbClr val="0F766E"/>
            </a:solidFill>
            <a:prstDash val="solid"/>
          </a:ln>
        </p:spPr>
      </p:sp>
      <p:sp>
        <p:nvSpPr>
          <p:cNvPr id="4" name="Text 2"/>
          <p:cNvSpPr/>
          <p:nvPr/>
        </p:nvSpPr>
        <p:spPr>
          <a:xfrm>
            <a:off x="411480" y="182880"/>
            <a:ext cx="2468880" cy="310896"/>
          </a:xfrm>
          <a:prstGeom prst="rect">
            <a:avLst/>
          </a:prstGeom>
          <a:noFill/>
          <a:ln/>
        </p:spPr>
        <p:txBody>
          <a:bodyPr wrap="square" lIns="0" tIns="0" rIns="0" bIns="0" rtlCol="0" anchor="ctr"/>
          <a:lstStyle/>
          <a:p>
            <a:pPr algn="ctr" indent="0" marL="0">
              <a:buNone/>
            </a:pPr>
            <a:r>
              <a:rPr lang="en-US" sz="1400" b="1" dirty="0">
                <a:solidFill>
                  <a:srgbClr val="0F766E"/>
                </a:solidFill>
                <a:latin typeface="Arial" pitchFamily="34" charset="0"/>
                <a:ea typeface="Arial" pitchFamily="34" charset="-122"/>
                <a:cs typeface="Arial" pitchFamily="34" charset="-120"/>
              </a:rPr>
              <a:t>MỞ ĐẦU</a:t>
            </a:r>
            <a:endParaRPr lang="en-US" sz="1400" dirty="0"/>
          </a:p>
        </p:txBody>
      </p:sp>
      <p:sp>
        <p:nvSpPr>
          <p:cNvPr id="5" name="Shape 3"/>
          <p:cNvSpPr/>
          <p:nvPr/>
        </p:nvSpPr>
        <p:spPr>
          <a:xfrm>
            <a:off x="9448495" y="182880"/>
            <a:ext cx="2331720" cy="347472"/>
          </a:xfrm>
          <a:prstGeom prst="roundRect">
            <a:avLst>
              <a:gd name="adj" fmla="val 15789"/>
            </a:avLst>
          </a:prstGeom>
          <a:solidFill>
            <a:srgbClr val="FEF3C7"/>
          </a:solidFill>
          <a:ln w="19050">
            <a:solidFill>
              <a:srgbClr val="F59E0B"/>
            </a:solidFill>
            <a:prstDash val="solid"/>
          </a:ln>
        </p:spPr>
      </p:sp>
      <p:sp>
        <p:nvSpPr>
          <p:cNvPr id="6" name="Text 4"/>
          <p:cNvSpPr/>
          <p:nvPr/>
        </p:nvSpPr>
        <p:spPr>
          <a:xfrm>
            <a:off x="9448495" y="182880"/>
            <a:ext cx="2331720" cy="347472"/>
          </a:xfrm>
          <a:prstGeom prst="rect">
            <a:avLst/>
          </a:prstGeom>
          <a:noFill/>
          <a:ln/>
        </p:spPr>
        <p:txBody>
          <a:bodyPr wrap="square" lIns="0" tIns="0" rIns="0" bIns="0" rtlCol="0" anchor="ctr"/>
          <a:lstStyle/>
          <a:p>
            <a:pPr algn="ctr" indent="0" marL="0">
              <a:buNone/>
            </a:pPr>
            <a:r>
              <a:rPr lang="en-US" sz="1400" b="1" dirty="0">
                <a:solidFill>
                  <a:srgbClr val="B45309"/>
                </a:solidFill>
                <a:latin typeface="Arial" pitchFamily="34" charset="0"/>
                <a:ea typeface="Arial" pitchFamily="34" charset="-122"/>
                <a:cs typeface="Arial" pitchFamily="34" charset="-120"/>
              </a:rPr>
              <a:t>Dữ liệu mô phỏng</a:t>
            </a:r>
            <a:endParaRPr lang="en-US" sz="1400" dirty="0"/>
          </a:p>
        </p:txBody>
      </p:sp>
      <p:sp>
        <p:nvSpPr>
          <p:cNvPr id="7" name="Text 5"/>
          <p:cNvSpPr/>
          <p:nvPr/>
        </p:nvSpPr>
        <p:spPr>
          <a:xfrm>
            <a:off x="411480" y="530352"/>
            <a:ext cx="8503920" cy="420624"/>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Cấp giấy xác nhận sinh viên: Phân tích &amp; Tự động hóa quy trình</a:t>
            </a:r>
            <a:endParaRPr lang="en-US" sz="2200" dirty="0"/>
          </a:p>
        </p:txBody>
      </p:sp>
      <p:sp>
        <p:nvSpPr>
          <p:cNvPr id="8" name="Shape 6"/>
          <p:cNvSpPr/>
          <p:nvPr/>
        </p:nvSpPr>
        <p:spPr>
          <a:xfrm>
            <a:off x="411480" y="987552"/>
            <a:ext cx="11368735" cy="438912"/>
          </a:xfrm>
          <a:prstGeom prst="roundRect">
            <a:avLst>
              <a:gd name="adj" fmla="val 10417"/>
            </a:avLst>
          </a:prstGeom>
          <a:solidFill>
            <a:srgbClr val="FFFFFF"/>
          </a:solidFill>
          <a:ln w="15240">
            <a:solidFill>
              <a:srgbClr val="0F766E"/>
            </a:solidFill>
            <a:prstDash val="solid"/>
          </a:ln>
        </p:spPr>
      </p:sp>
      <p:sp>
        <p:nvSpPr>
          <p:cNvPr id="9" name="Shape 7"/>
          <p:cNvSpPr/>
          <p:nvPr/>
        </p:nvSpPr>
        <p:spPr>
          <a:xfrm>
            <a:off x="411480" y="987552"/>
            <a:ext cx="109728" cy="438912"/>
          </a:xfrm>
          <a:prstGeom prst="rect">
            <a:avLst/>
          </a:prstGeom>
          <a:solidFill>
            <a:srgbClr val="0F766E"/>
          </a:solidFill>
          <a:ln w="12700">
            <a:solidFill>
              <a:srgbClr val="0F766E"/>
            </a:solidFill>
            <a:prstDash val="solid"/>
          </a:ln>
        </p:spPr>
      </p:sp>
      <p:sp>
        <p:nvSpPr>
          <p:cNvPr id="10" name="Text 8"/>
          <p:cNvSpPr/>
          <p:nvPr/>
        </p:nvSpPr>
        <p:spPr>
          <a:xfrm>
            <a:off x="621792" y="987552"/>
            <a:ext cx="11064240" cy="438912"/>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Thông điệp: Kết hợp khai phá quy trình và tự động hóa trên phạm vi thử nghiệm học thuật tại Trường Cao đẳng Y Dược.</a:t>
            </a:r>
            <a:endParaRPr lang="en-US" sz="1400" dirty="0"/>
          </a:p>
        </p:txBody>
      </p:sp>
      <p:sp>
        <p:nvSpPr>
          <p:cNvPr id="11" name="Shape 9"/>
          <p:cNvSpPr/>
          <p:nvPr/>
        </p:nvSpPr>
        <p:spPr>
          <a:xfrm>
            <a:off x="411480" y="6473952"/>
            <a:ext cx="11368735" cy="0"/>
          </a:xfrm>
          <a:prstGeom prst="line">
            <a:avLst/>
          </a:prstGeom>
          <a:noFill/>
          <a:ln w="9525">
            <a:solidFill>
              <a:srgbClr val="CBD5E1"/>
            </a:solidFill>
            <a:prstDash val="solid"/>
          </a:ln>
        </p:spPr>
      </p:sp>
      <p:sp>
        <p:nvSpPr>
          <p:cNvPr id="12" name="Text 10"/>
          <p:cNvSpPr/>
          <p:nvPr/>
        </p:nvSpPr>
        <p:spPr>
          <a:xfrm>
            <a:off x="411480" y="6510528"/>
            <a:ext cx="8686800" cy="274320"/>
          </a:xfrm>
          <a:prstGeom prst="rect">
            <a:avLst/>
          </a:prstGeom>
          <a:noFill/>
          <a:ln/>
        </p:spPr>
        <p:txBody>
          <a:bodyPr wrap="square" lIns="0" tIns="0" rIns="0" bIns="0" rtlCol="0" anchor="ctr"/>
          <a:lstStyle/>
          <a:p>
            <a:pPr indent="0" marL="0">
              <a:buNone/>
            </a:pPr>
            <a:r>
              <a:rPr lang="en-US" sz="1400" dirty="0">
                <a:solidFill>
                  <a:srgbClr val="475569"/>
                </a:solidFill>
                <a:latin typeface="Arial" pitchFamily="34" charset="0"/>
                <a:ea typeface="Arial" pitchFamily="34" charset="-122"/>
                <a:cs typeface="Arial" pitchFamily="34" charset="-120"/>
              </a:rPr>
              <a:t>Cấp giấy xác nhận sinh viên – Trường Cao đẳng Y Dược (Prototype học thuật)</a:t>
            </a:r>
            <a:endParaRPr lang="en-US" sz="1400" dirty="0"/>
          </a:p>
        </p:txBody>
      </p:sp>
      <p:sp>
        <p:nvSpPr>
          <p:cNvPr id="13" name="Text 11"/>
          <p:cNvSpPr/>
          <p:nvPr/>
        </p:nvSpPr>
        <p:spPr>
          <a:xfrm>
            <a:off x="9601200" y="6510528"/>
            <a:ext cx="2179015" cy="274320"/>
          </a:xfrm>
          <a:prstGeom prst="rect">
            <a:avLst/>
          </a:prstGeom>
          <a:noFill/>
          <a:ln/>
        </p:spPr>
        <p:txBody>
          <a:bodyPr wrap="square" lIns="0" tIns="0" rIns="0" bIns="0" rtlCol="0" anchor="ctr"/>
          <a:lstStyle/>
          <a:p>
            <a:pPr algn="r" indent="0" marL="0">
              <a:buNone/>
            </a:pPr>
            <a:r>
              <a:rPr lang="en-US" sz="1400" b="1" dirty="0">
                <a:solidFill>
                  <a:srgbClr val="0F766E"/>
                </a:solidFill>
                <a:latin typeface="Arial" pitchFamily="34" charset="0"/>
                <a:ea typeface="Arial" pitchFamily="34" charset="-122"/>
                <a:cs typeface="Arial" pitchFamily="34" charset="-120"/>
              </a:rPr>
              <a:t>Slide 1/14</a:t>
            </a:r>
            <a:endParaRPr lang="en-US" sz="1400" dirty="0"/>
          </a:p>
        </p:txBody>
      </p:sp>
      <p:sp>
        <p:nvSpPr>
          <p:cNvPr id="15" name="Shape 12"/>
          <p:cNvSpPr/>
          <p:nvPr/>
        </p:nvSpPr>
        <p:spPr>
          <a:xfrm>
            <a:off x="411480" y="1572768"/>
            <a:ext cx="3749040" cy="4709160"/>
          </a:xfrm>
          <a:prstGeom prst="roundRect">
            <a:avLst>
              <a:gd name="adj" fmla="val 1463"/>
            </a:avLst>
          </a:prstGeom>
          <a:solidFill>
            <a:srgbClr val="FFFFFF"/>
          </a:solidFill>
          <a:ln w="12700">
            <a:solidFill>
              <a:srgbClr val="CBD5E1"/>
            </a:solidFill>
            <a:prstDash val="solid"/>
          </a:ln>
        </p:spPr>
      </p:sp>
      <p:sp>
        <p:nvSpPr>
          <p:cNvPr id="16" name="Shape 13"/>
          <p:cNvSpPr/>
          <p:nvPr/>
        </p:nvSpPr>
        <p:spPr>
          <a:xfrm>
            <a:off x="411480" y="1572768"/>
            <a:ext cx="3749040" cy="384048"/>
          </a:xfrm>
          <a:prstGeom prst="roundRect">
            <a:avLst>
              <a:gd name="adj" fmla="val 14286"/>
            </a:avLst>
          </a:prstGeom>
          <a:solidFill>
            <a:srgbClr val="0F766E"/>
          </a:solidFill>
          <a:ln w="12700">
            <a:solidFill>
              <a:srgbClr val="0F766E"/>
            </a:solidFill>
            <a:prstDash val="solid"/>
          </a:ln>
        </p:spPr>
      </p:sp>
      <p:sp>
        <p:nvSpPr>
          <p:cNvPr id="17" name="Text 14"/>
          <p:cNvSpPr/>
          <p:nvPr/>
        </p:nvSpPr>
        <p:spPr>
          <a:xfrm>
            <a:off x="539496" y="1572768"/>
            <a:ext cx="349300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1. Phạm vi 4 loại giấy xác nhận</a:t>
            </a:r>
            <a:endParaRPr lang="en-US" sz="1500" dirty="0"/>
          </a:p>
        </p:txBody>
      </p:sp>
      <p:sp>
        <p:nvSpPr>
          <p:cNvPr id="18" name="Text 15"/>
          <p:cNvSpPr/>
          <p:nvPr/>
        </p:nvSpPr>
        <p:spPr>
          <a:xfrm>
            <a:off x="539496" y="2011680"/>
            <a:ext cx="3493008" cy="419709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Xác nhận đang là sinh viên tại trường.</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Xác nhận tạm hoãn nghĩa vụ quân sự.</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Xác nhận vay vốn tín dụng sinh viên.</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Xác nhận hồ sơ xét cấp học bổng.</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Đơn vị nghiệp vụ (giả định): Phòng Công tác Học sinh Sinh viên (CTHSSV).</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Bắt đầu từ lúc nộp yêu cầu đến khi nhận giấy, từ chối có lý do, hoặc đóng do quá hạn.</a:t>
            </a:r>
            <a:endParaRPr lang="en-US" sz="1400" dirty="0"/>
          </a:p>
        </p:txBody>
      </p:sp>
      <p:sp>
        <p:nvSpPr>
          <p:cNvPr id="19" name="Shape 16"/>
          <p:cNvSpPr/>
          <p:nvPr/>
        </p:nvSpPr>
        <p:spPr>
          <a:xfrm>
            <a:off x="4343400" y="1572768"/>
            <a:ext cx="3749040" cy="4709160"/>
          </a:xfrm>
          <a:prstGeom prst="roundRect">
            <a:avLst>
              <a:gd name="adj" fmla="val 1463"/>
            </a:avLst>
          </a:prstGeom>
          <a:solidFill>
            <a:srgbClr val="FFFFFF"/>
          </a:solidFill>
          <a:ln w="12700">
            <a:solidFill>
              <a:srgbClr val="CBD5E1"/>
            </a:solidFill>
            <a:prstDash val="solid"/>
          </a:ln>
        </p:spPr>
      </p:sp>
      <p:sp>
        <p:nvSpPr>
          <p:cNvPr id="20" name="Shape 17"/>
          <p:cNvSpPr/>
          <p:nvPr/>
        </p:nvSpPr>
        <p:spPr>
          <a:xfrm>
            <a:off x="4343400" y="1572768"/>
            <a:ext cx="3749040" cy="384048"/>
          </a:xfrm>
          <a:prstGeom prst="roundRect">
            <a:avLst>
              <a:gd name="adj" fmla="val 14286"/>
            </a:avLst>
          </a:prstGeom>
          <a:solidFill>
            <a:srgbClr val="0F172A"/>
          </a:solidFill>
          <a:ln w="12700">
            <a:solidFill>
              <a:srgbClr val="0F172A"/>
            </a:solidFill>
            <a:prstDash val="solid"/>
          </a:ln>
        </p:spPr>
      </p:sp>
      <p:sp>
        <p:nvSpPr>
          <p:cNvPr id="21" name="Text 18"/>
          <p:cNvSpPr/>
          <p:nvPr/>
        </p:nvSpPr>
        <p:spPr>
          <a:xfrm>
            <a:off x="4471416" y="1572768"/>
            <a:ext cx="349300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2. Mục tiêu phân tích &amp; Tự động hóa</a:t>
            </a:r>
            <a:endParaRPr lang="en-US" sz="1500" dirty="0"/>
          </a:p>
        </p:txBody>
      </p:sp>
      <p:sp>
        <p:nvSpPr>
          <p:cNvPr id="22" name="Text 19"/>
          <p:cNvSpPr/>
          <p:nvPr/>
        </p:nvSpPr>
        <p:spPr>
          <a:xfrm>
            <a:off x="4471416" y="2011680"/>
            <a:ext cx="3493008" cy="419709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Tách bạch thời gian chờ và thời gian xử lý thực tế theo giờ làm việc.</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Kiểm định 4 giả thuyết điểm nghẽn bằng dữ liệu mô phỏng ghép cặp (20 seed × 400 hồ sơ).</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Tự động hóa tiền kiểm biểu mẫu, cấp mã tra cứu và gửi thông báo có lưu vết.</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Đảm bảo toàn vẹn giao dịch: khóa chống gửi trùng và kiểm soát máy trạng thái.</a:t>
            </a:r>
            <a:endParaRPr lang="en-US" sz="1400" dirty="0"/>
          </a:p>
        </p:txBody>
      </p:sp>
      <p:sp>
        <p:nvSpPr>
          <p:cNvPr id="23" name="Shape 20"/>
          <p:cNvSpPr/>
          <p:nvPr/>
        </p:nvSpPr>
        <p:spPr>
          <a:xfrm>
            <a:off x="8275320" y="1572768"/>
            <a:ext cx="3502152" cy="2423160"/>
          </a:xfrm>
          <a:prstGeom prst="roundRect">
            <a:avLst>
              <a:gd name="adj" fmla="val 2264"/>
            </a:avLst>
          </a:prstGeom>
          <a:solidFill>
            <a:srgbClr val="FEF3C7"/>
          </a:solidFill>
          <a:ln w="12700">
            <a:solidFill>
              <a:srgbClr val="F59E0B"/>
            </a:solidFill>
            <a:prstDash val="solid"/>
          </a:ln>
        </p:spPr>
      </p:sp>
      <p:sp>
        <p:nvSpPr>
          <p:cNvPr id="24" name="Shape 21"/>
          <p:cNvSpPr/>
          <p:nvPr/>
        </p:nvSpPr>
        <p:spPr>
          <a:xfrm>
            <a:off x="8275320" y="1572768"/>
            <a:ext cx="3502152" cy="384048"/>
          </a:xfrm>
          <a:prstGeom prst="roundRect">
            <a:avLst>
              <a:gd name="adj" fmla="val 14286"/>
            </a:avLst>
          </a:prstGeom>
          <a:solidFill>
            <a:srgbClr val="B45309"/>
          </a:solidFill>
          <a:ln w="12700">
            <a:solidFill>
              <a:srgbClr val="B45309"/>
            </a:solidFill>
            <a:prstDash val="solid"/>
          </a:ln>
        </p:spPr>
      </p:sp>
      <p:sp>
        <p:nvSpPr>
          <p:cNvPr id="25" name="Text 22"/>
          <p:cNvSpPr/>
          <p:nvPr/>
        </p:nvSpPr>
        <p:spPr>
          <a:xfrm>
            <a:off x="8403336" y="1572768"/>
            <a:ext cx="3246120"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3. Ranh giới thử nghiệm học thuật</a:t>
            </a:r>
            <a:endParaRPr lang="en-US" sz="1500" dirty="0"/>
          </a:p>
        </p:txBody>
      </p:sp>
      <p:sp>
        <p:nvSpPr>
          <p:cNvPr id="26" name="Text 23"/>
          <p:cNvSpPr/>
          <p:nvPr/>
        </p:nvSpPr>
        <p:spPr>
          <a:xfrm>
            <a:off x="8403336" y="2011680"/>
            <a:ext cx="3246120" cy="191109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Dùng dữ liệu mô phỏng, không phải số đo thực tế tại trường.</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Ngoài phạm vi: chữ ký số, giá trị pháp lý, tích hợp CSDL trường, cấp lại.</a:t>
            </a:r>
            <a:endParaRPr lang="en-US" sz="1400" dirty="0"/>
          </a:p>
        </p:txBody>
      </p:sp>
      <p:sp>
        <p:nvSpPr>
          <p:cNvPr id="27" name="Shape 24"/>
          <p:cNvSpPr/>
          <p:nvPr/>
        </p:nvSpPr>
        <p:spPr>
          <a:xfrm>
            <a:off x="8275320" y="4133088"/>
            <a:ext cx="3502152" cy="2148840"/>
          </a:xfrm>
          <a:prstGeom prst="roundRect">
            <a:avLst>
              <a:gd name="adj" fmla="val 2553"/>
            </a:avLst>
          </a:prstGeom>
          <a:solidFill>
            <a:srgbClr val="FFFFFF"/>
          </a:solidFill>
          <a:ln w="12700">
            <a:solidFill>
              <a:srgbClr val="CBD5E1"/>
            </a:solidFill>
            <a:prstDash val="solid"/>
          </a:ln>
        </p:spPr>
      </p:sp>
      <p:sp>
        <p:nvSpPr>
          <p:cNvPr id="28" name="Shape 25"/>
          <p:cNvSpPr/>
          <p:nvPr/>
        </p:nvSpPr>
        <p:spPr>
          <a:xfrm>
            <a:off x="8275320" y="4133088"/>
            <a:ext cx="3502152" cy="384048"/>
          </a:xfrm>
          <a:prstGeom prst="roundRect">
            <a:avLst>
              <a:gd name="adj" fmla="val 14286"/>
            </a:avLst>
          </a:prstGeom>
          <a:solidFill>
            <a:srgbClr val="1D4ED8"/>
          </a:solidFill>
          <a:ln w="12700">
            <a:solidFill>
              <a:srgbClr val="1D4ED8"/>
            </a:solidFill>
            <a:prstDash val="solid"/>
          </a:ln>
        </p:spPr>
      </p:sp>
      <p:sp>
        <p:nvSpPr>
          <p:cNvPr id="29" name="Text 26"/>
          <p:cNvSpPr/>
          <p:nvPr/>
        </p:nvSpPr>
        <p:spPr>
          <a:xfrm>
            <a:off x="8403336" y="4133088"/>
            <a:ext cx="3246120"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4. Tổ chức nhóm thực hiện (4 thành viên)</a:t>
            </a:r>
            <a:endParaRPr lang="en-US" sz="1500" dirty="0"/>
          </a:p>
        </p:txBody>
      </p:sp>
      <p:sp>
        <p:nvSpPr>
          <p:cNvPr id="30" name="Text 27"/>
          <p:cNvSpPr/>
          <p:nvPr/>
        </p:nvSpPr>
        <p:spPr>
          <a:xfrm>
            <a:off x="8403336" y="4572000"/>
            <a:ext cx="3246120" cy="163677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Thành viên 1: Bài toán, phạm vi SIPOC &amp; lộ trình.</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Thành viên 2: Mô hình BPMN hiện tại, điểm nghẽn &amp; TO-BE.</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Thành viên 3: Mô phỏng, Process Mining &amp; kiểm chứng tính tay.</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Thành viên 4: Kiến trúc Prototype, kiểm thử &amp; đối chiếu KPI.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sp>
      <p:sp>
        <p:nvSpPr>
          <p:cNvPr id="3" name="Shape 1"/>
          <p:cNvSpPr/>
          <p:nvPr/>
        </p:nvSpPr>
        <p:spPr>
          <a:xfrm>
            <a:off x="411480" y="182880"/>
            <a:ext cx="2468880" cy="310896"/>
          </a:xfrm>
          <a:prstGeom prst="roundRect">
            <a:avLst>
              <a:gd name="adj" fmla="val 14706"/>
            </a:avLst>
          </a:prstGeom>
          <a:solidFill>
            <a:srgbClr val="CCFBF1"/>
          </a:solidFill>
          <a:ln w="6350">
            <a:solidFill>
              <a:srgbClr val="0F766E"/>
            </a:solidFill>
            <a:prstDash val="solid"/>
          </a:ln>
        </p:spPr>
      </p:sp>
      <p:sp>
        <p:nvSpPr>
          <p:cNvPr id="4" name="Text 2"/>
          <p:cNvSpPr/>
          <p:nvPr/>
        </p:nvSpPr>
        <p:spPr>
          <a:xfrm>
            <a:off x="411480" y="182880"/>
            <a:ext cx="2468880" cy="310896"/>
          </a:xfrm>
          <a:prstGeom prst="rect">
            <a:avLst/>
          </a:prstGeom>
          <a:noFill/>
          <a:ln/>
        </p:spPr>
        <p:txBody>
          <a:bodyPr wrap="square" lIns="0" tIns="0" rIns="0" bIns="0" rtlCol="0" anchor="ctr"/>
          <a:lstStyle/>
          <a:p>
            <a:pPr algn="ctr" indent="0" marL="0">
              <a:buNone/>
            </a:pPr>
            <a:r>
              <a:rPr lang="en-US" sz="1400" b="1" dirty="0">
                <a:solidFill>
                  <a:srgbClr val="0F766E"/>
                </a:solidFill>
                <a:latin typeface="Arial" pitchFamily="34" charset="0"/>
                <a:ea typeface="Arial" pitchFamily="34" charset="-122"/>
                <a:cs typeface="Arial" pitchFamily="34" charset="-120"/>
              </a:rPr>
              <a:t>BÀI TOÁN NGHIỆP VỤ</a:t>
            </a:r>
            <a:endParaRPr lang="en-US" sz="1400" dirty="0"/>
          </a:p>
        </p:txBody>
      </p:sp>
      <p:sp>
        <p:nvSpPr>
          <p:cNvPr id="5" name="Text 3"/>
          <p:cNvSpPr/>
          <p:nvPr/>
        </p:nvSpPr>
        <p:spPr>
          <a:xfrm>
            <a:off x="411480" y="530352"/>
            <a:ext cx="11338560" cy="420624"/>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Bài toán nghiệp vụ (Giả định học thuật)</a:t>
            </a:r>
            <a:endParaRPr lang="en-US" sz="2200" dirty="0"/>
          </a:p>
        </p:txBody>
      </p:sp>
      <p:sp>
        <p:nvSpPr>
          <p:cNvPr id="6" name="Shape 4"/>
          <p:cNvSpPr/>
          <p:nvPr/>
        </p:nvSpPr>
        <p:spPr>
          <a:xfrm>
            <a:off x="411480" y="987552"/>
            <a:ext cx="11368735" cy="438912"/>
          </a:xfrm>
          <a:prstGeom prst="roundRect">
            <a:avLst>
              <a:gd name="adj" fmla="val 10417"/>
            </a:avLst>
          </a:prstGeom>
          <a:solidFill>
            <a:srgbClr val="FFFFFF"/>
          </a:solidFill>
          <a:ln w="15240">
            <a:solidFill>
              <a:srgbClr val="0F766E"/>
            </a:solidFill>
            <a:prstDash val="solid"/>
          </a:ln>
        </p:spPr>
      </p:sp>
      <p:sp>
        <p:nvSpPr>
          <p:cNvPr id="7" name="Shape 5"/>
          <p:cNvSpPr/>
          <p:nvPr/>
        </p:nvSpPr>
        <p:spPr>
          <a:xfrm>
            <a:off x="411480" y="987552"/>
            <a:ext cx="109728" cy="438912"/>
          </a:xfrm>
          <a:prstGeom prst="rect">
            <a:avLst/>
          </a:prstGeom>
          <a:solidFill>
            <a:srgbClr val="0F766E"/>
          </a:solidFill>
          <a:ln w="12700">
            <a:solidFill>
              <a:srgbClr val="0F766E"/>
            </a:solidFill>
            <a:prstDash val="solid"/>
          </a:ln>
        </p:spPr>
      </p:sp>
      <p:sp>
        <p:nvSpPr>
          <p:cNvPr id="8" name="Text 6"/>
          <p:cNvSpPr/>
          <p:nvPr/>
        </p:nvSpPr>
        <p:spPr>
          <a:xfrm>
            <a:off x="621792" y="987552"/>
            <a:ext cx="11064240" cy="438912"/>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Thông điệp: Sinh viên khó theo dõi tiến độ hồ sơ, trong khi cán bộ mất thời gian xử lý thủ công và rà sổ cuối tuần.</a:t>
            </a:r>
            <a:endParaRPr lang="en-US" sz="1400" dirty="0"/>
          </a:p>
        </p:txBody>
      </p:sp>
      <p:sp>
        <p:nvSpPr>
          <p:cNvPr id="9" name="Shape 7"/>
          <p:cNvSpPr/>
          <p:nvPr/>
        </p:nvSpPr>
        <p:spPr>
          <a:xfrm>
            <a:off x="411480" y="6473952"/>
            <a:ext cx="11368735" cy="0"/>
          </a:xfrm>
          <a:prstGeom prst="line">
            <a:avLst/>
          </a:prstGeom>
          <a:noFill/>
          <a:ln w="9525">
            <a:solidFill>
              <a:srgbClr val="CBD5E1"/>
            </a:solidFill>
            <a:prstDash val="solid"/>
          </a:ln>
        </p:spPr>
      </p:sp>
      <p:sp>
        <p:nvSpPr>
          <p:cNvPr id="10" name="Text 8"/>
          <p:cNvSpPr/>
          <p:nvPr/>
        </p:nvSpPr>
        <p:spPr>
          <a:xfrm>
            <a:off x="411480" y="6510528"/>
            <a:ext cx="8686800" cy="274320"/>
          </a:xfrm>
          <a:prstGeom prst="rect">
            <a:avLst/>
          </a:prstGeom>
          <a:noFill/>
          <a:ln/>
        </p:spPr>
        <p:txBody>
          <a:bodyPr wrap="square" lIns="0" tIns="0" rIns="0" bIns="0" rtlCol="0" anchor="ctr"/>
          <a:lstStyle/>
          <a:p>
            <a:pPr indent="0" marL="0">
              <a:buNone/>
            </a:pPr>
            <a:r>
              <a:rPr lang="en-US" sz="1400" dirty="0">
                <a:solidFill>
                  <a:srgbClr val="475569"/>
                </a:solidFill>
                <a:latin typeface="Arial" pitchFamily="34" charset="0"/>
                <a:ea typeface="Arial" pitchFamily="34" charset="-122"/>
                <a:cs typeface="Arial" pitchFamily="34" charset="-120"/>
              </a:rPr>
              <a:t>Cấp giấy xác nhận sinh viên – Trường Cao đẳng Y Dược (Prototype học thuật)</a:t>
            </a:r>
            <a:endParaRPr lang="en-US" sz="1400" dirty="0"/>
          </a:p>
        </p:txBody>
      </p:sp>
      <p:sp>
        <p:nvSpPr>
          <p:cNvPr id="11" name="Text 9"/>
          <p:cNvSpPr/>
          <p:nvPr/>
        </p:nvSpPr>
        <p:spPr>
          <a:xfrm>
            <a:off x="9601200" y="6510528"/>
            <a:ext cx="2179015" cy="274320"/>
          </a:xfrm>
          <a:prstGeom prst="rect">
            <a:avLst/>
          </a:prstGeom>
          <a:noFill/>
          <a:ln/>
        </p:spPr>
        <p:txBody>
          <a:bodyPr wrap="square" lIns="0" tIns="0" rIns="0" bIns="0" rtlCol="0" anchor="ctr"/>
          <a:lstStyle/>
          <a:p>
            <a:pPr algn="r" indent="0" marL="0">
              <a:buNone/>
            </a:pPr>
            <a:r>
              <a:rPr lang="en-US" sz="1400" b="1" dirty="0">
                <a:solidFill>
                  <a:srgbClr val="0F766E"/>
                </a:solidFill>
                <a:latin typeface="Arial" pitchFamily="34" charset="0"/>
                <a:ea typeface="Arial" pitchFamily="34" charset="-122"/>
                <a:cs typeface="Arial" pitchFamily="34" charset="-120"/>
              </a:rPr>
              <a:t>Slide 2/14</a:t>
            </a:r>
            <a:endParaRPr lang="en-US" sz="1400" dirty="0"/>
          </a:p>
        </p:txBody>
      </p:sp>
      <p:sp>
        <p:nvSpPr>
          <p:cNvPr id="13" name="Text 10"/>
          <p:cNvSpPr/>
          <p:nvPr/>
        </p:nvSpPr>
        <p:spPr>
          <a:xfrm>
            <a:off x="411480" y="1536192"/>
            <a:ext cx="6766560" cy="32004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5 vấn đề giả định &amp; dấu hiệu kiểm chứng</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11480" y="1901952"/>
          <a:ext cx="6766560" cy="914400"/>
        </p:xfrm>
        <a:graphic>
          <a:graphicData uri="http://schemas.openxmlformats.org/drawingml/2006/table">
            <a:tbl>
              <a:tblPr/>
              <a:tblGrid>
                <a:gridCol w="2514600"/>
                <a:gridCol w="4251960"/>
              </a:tblGrid>
              <a:tr h="384048">
                <a:tc>
                  <a:txBody>
                    <a:bodyPr/>
                    <a:lstStyle/>
                    <a:p>
                      <a:pPr indent="0" marL="0">
                        <a:buNone/>
                      </a:pPr>
                      <a:r>
                        <a:rPr lang="en-US" sz="1400" b="1" dirty="0">
                          <a:solidFill>
                            <a:srgbClr val="FFFFFF"/>
                          </a:solidFill>
                          <a:latin typeface="Arial" pitchFamily="34" charset="0"/>
                          <a:ea typeface="Arial" pitchFamily="34" charset="-122"/>
                          <a:cs typeface="Arial" pitchFamily="34" charset="-120"/>
                        </a:rPr>
                        <a:t>Vấn đề giả định</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Biểu hiện &amp; Dấu hiệu đo lường</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r>
              <a:tr h="512064">
                <a:tc>
                  <a:txBody>
                    <a:bodyPr/>
                    <a:lstStyle/>
                    <a:p>
                      <a:pPr indent="0" marL="0">
                        <a:buNone/>
                      </a:pPr>
                      <a:r>
                        <a:rPr lang="en-US" sz="1400" b="1" dirty="0">
                          <a:solidFill>
                            <a:srgbClr val="B91C1C"/>
                          </a:solidFill>
                          <a:latin typeface="Arial" pitchFamily="34" charset="0"/>
                          <a:ea typeface="Arial" pitchFamily="34" charset="-122"/>
                          <a:cs typeface="Arial" pitchFamily="34" charset="-120"/>
                        </a:rPr>
                        <a:t>1. Không tra cứu được tiến độ</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Số sổ gán nội bộ khi tiếp nhận nhưng không báo cho SV; phát sinh hỏi lại.</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B91C1C"/>
                          </a:solidFill>
                          <a:latin typeface="Arial" pitchFamily="34" charset="0"/>
                          <a:ea typeface="Arial" pitchFamily="34" charset="-122"/>
                          <a:cs typeface="Arial" pitchFamily="34" charset="-120"/>
                        </a:rPr>
                        <a:t>2. Phát hiện thiếu/sai muộn</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Đơn giấy/form thiếu thông tin chỉ lộ ra khi cán bộ kiểm tra; phải bổ sung.</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r h="512064">
                <a:tc>
                  <a:txBody>
                    <a:bodyPr/>
                    <a:lstStyle/>
                    <a:p>
                      <a:pPr indent="0" marL="0">
                        <a:buNone/>
                      </a:pPr>
                      <a:r>
                        <a:rPr lang="en-US" sz="1400" b="1" dirty="0">
                          <a:solidFill>
                            <a:srgbClr val="B91C1C"/>
                          </a:solidFill>
                          <a:latin typeface="Arial" pitchFamily="34" charset="0"/>
                          <a:ea typeface="Arial" pitchFamily="34" charset="-122"/>
                          <a:cs typeface="Arial" pitchFamily="34" charset="-120"/>
                        </a:rPr>
                        <a:t>3. Chờ trình ký theo đợt lâu</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Hồ sơ gom theo lô chờ lãnh đạo duyệt ký; đo bằng giờ làm việc.</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B91C1C"/>
                          </a:solidFill>
                          <a:latin typeface="Arial" pitchFamily="34" charset="0"/>
                          <a:ea typeface="Arial" pitchFamily="34" charset="-122"/>
                          <a:cs typeface="Arial" pitchFamily="34" charset="-120"/>
                        </a:rPr>
                        <a:t>4. Quá hạn lộ ra khi rà sổ</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Hạn bổ sung 7 ngày làm việc nhưng chỉ rà sổ thủ công chiều thứ Sáu.</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r h="512064">
                <a:tc>
                  <a:txBody>
                    <a:bodyPr/>
                    <a:lstStyle/>
                    <a:p>
                      <a:pPr indent="0" marL="0">
                        <a:buNone/>
                      </a:pPr>
                      <a:r>
                        <a:rPr lang="en-US" sz="1400" b="1" dirty="0">
                          <a:solidFill>
                            <a:srgbClr val="B91C1C"/>
                          </a:solidFill>
                          <a:latin typeface="Arial" pitchFamily="34" charset="0"/>
                          <a:ea typeface="Arial" pitchFamily="34" charset="-122"/>
                          <a:cs typeface="Arial" pitchFamily="34" charset="-120"/>
                        </a:rPr>
                        <a:t>5. Thông báo không lưu vết</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Báo qua điện thoại/Zalo không có bằng chứng gửi đồng bộ (chỉ đo ở TO-BE).</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hape 11"/>
          <p:cNvSpPr/>
          <p:nvPr/>
        </p:nvSpPr>
        <p:spPr>
          <a:xfrm>
            <a:off x="411480" y="5074920"/>
            <a:ext cx="6766560" cy="1234440"/>
          </a:xfrm>
          <a:prstGeom prst="roundRect">
            <a:avLst>
              <a:gd name="adj" fmla="val 4444"/>
            </a:avLst>
          </a:prstGeom>
          <a:solidFill>
            <a:srgbClr val="F0FDFA"/>
          </a:solidFill>
          <a:ln w="12700">
            <a:solidFill>
              <a:srgbClr val="0F766E"/>
            </a:solidFill>
            <a:prstDash val="solid"/>
          </a:ln>
        </p:spPr>
      </p:sp>
      <p:sp>
        <p:nvSpPr>
          <p:cNvPr id="16" name="Shape 12"/>
          <p:cNvSpPr/>
          <p:nvPr/>
        </p:nvSpPr>
        <p:spPr>
          <a:xfrm>
            <a:off x="411480" y="5074920"/>
            <a:ext cx="6766560" cy="384048"/>
          </a:xfrm>
          <a:prstGeom prst="roundRect">
            <a:avLst>
              <a:gd name="adj" fmla="val 14286"/>
            </a:avLst>
          </a:prstGeom>
          <a:solidFill>
            <a:srgbClr val="0F766E"/>
          </a:solidFill>
          <a:ln w="12700">
            <a:solidFill>
              <a:srgbClr val="0F766E"/>
            </a:solidFill>
            <a:prstDash val="solid"/>
          </a:ln>
        </p:spPr>
      </p:sp>
      <p:sp>
        <p:nvSpPr>
          <p:cNvPr id="17" name="Text 13"/>
          <p:cNvSpPr/>
          <p:nvPr/>
        </p:nvSpPr>
        <p:spPr>
          <a:xfrm>
            <a:off x="539496" y="5074920"/>
            <a:ext cx="651052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Mục tiêu cải tiến dự kiến</a:t>
            </a:r>
            <a:endParaRPr lang="en-US" sz="1500" dirty="0"/>
          </a:p>
        </p:txBody>
      </p:sp>
      <p:sp>
        <p:nvSpPr>
          <p:cNvPr id="18" name="Text 14"/>
          <p:cNvSpPr/>
          <p:nvPr/>
        </p:nvSpPr>
        <p:spPr>
          <a:xfrm>
            <a:off x="539496" y="5513832"/>
            <a:ext cx="6510528" cy="72237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Cấp mã hồ sơ tra cứu minh bạch; kiểm tra biểu mẫu ngay khi nộp để giảm vòng bổ sung.</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Tách thời gian chờ và xử lý; tự động cảnh báo quá hạn và lưu vết thông báo kèm lý do.</a:t>
            </a:r>
            <a:endParaRPr lang="en-US" sz="1400" dirty="0"/>
          </a:p>
        </p:txBody>
      </p:sp>
      <p:sp>
        <p:nvSpPr>
          <p:cNvPr id="19" name="Shape 15"/>
          <p:cNvSpPr/>
          <p:nvPr/>
        </p:nvSpPr>
        <p:spPr>
          <a:xfrm>
            <a:off x="7360920" y="1536192"/>
            <a:ext cx="4416552" cy="4773168"/>
          </a:xfrm>
          <a:prstGeom prst="roundRect">
            <a:avLst>
              <a:gd name="adj" fmla="val 1242"/>
            </a:avLst>
          </a:prstGeom>
          <a:solidFill>
            <a:srgbClr val="FFFFFF"/>
          </a:solidFill>
          <a:ln w="12700">
            <a:solidFill>
              <a:srgbClr val="CBD5E1"/>
            </a:solidFill>
            <a:prstDash val="solid"/>
          </a:ln>
        </p:spPr>
      </p:sp>
      <p:sp>
        <p:nvSpPr>
          <p:cNvPr id="20" name="Shape 16"/>
          <p:cNvSpPr/>
          <p:nvPr/>
        </p:nvSpPr>
        <p:spPr>
          <a:xfrm>
            <a:off x="7360920" y="1536192"/>
            <a:ext cx="4416552" cy="384048"/>
          </a:xfrm>
          <a:prstGeom prst="roundRect">
            <a:avLst>
              <a:gd name="adj" fmla="val 14286"/>
            </a:avLst>
          </a:prstGeom>
          <a:solidFill>
            <a:srgbClr val="1D4ED8"/>
          </a:solidFill>
          <a:ln w="12700">
            <a:solidFill>
              <a:srgbClr val="1D4ED8"/>
            </a:solidFill>
            <a:prstDash val="solid"/>
          </a:ln>
        </p:spPr>
      </p:sp>
      <p:sp>
        <p:nvSpPr>
          <p:cNvPr id="21" name="Text 17"/>
          <p:cNvSpPr/>
          <p:nvPr/>
        </p:nvSpPr>
        <p:spPr>
          <a:xfrm>
            <a:off x="7488936" y="1536192"/>
            <a:ext cx="4160520"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Các bên liên quan trong quy trình</a:t>
            </a:r>
            <a:endParaRPr lang="en-US" sz="1500" dirty="0"/>
          </a:p>
        </p:txBody>
      </p:sp>
      <p:sp>
        <p:nvSpPr>
          <p:cNvPr id="22" name="Shape 18"/>
          <p:cNvSpPr/>
          <p:nvPr/>
        </p:nvSpPr>
        <p:spPr>
          <a:xfrm>
            <a:off x="7543800" y="2057400"/>
            <a:ext cx="4050792" cy="713232"/>
          </a:xfrm>
          <a:prstGeom prst="roundRect">
            <a:avLst>
              <a:gd name="adj" fmla="val 6410"/>
            </a:avLst>
          </a:prstGeom>
          <a:solidFill>
            <a:srgbClr val="F8FAFC"/>
          </a:solidFill>
          <a:ln w="15240">
            <a:solidFill>
              <a:srgbClr val="0F766E"/>
            </a:solidFill>
            <a:prstDash val="solid"/>
          </a:ln>
        </p:spPr>
      </p:sp>
      <p:sp>
        <p:nvSpPr>
          <p:cNvPr id="23" name="Text 19"/>
          <p:cNvSpPr/>
          <p:nvPr/>
        </p:nvSpPr>
        <p:spPr>
          <a:xfrm>
            <a:off x="7662672" y="2103120"/>
            <a:ext cx="3822192" cy="274320"/>
          </a:xfrm>
          <a:prstGeom prst="rect">
            <a:avLst/>
          </a:prstGeom>
          <a:noFill/>
          <a:ln/>
        </p:spPr>
        <p:txBody>
          <a:bodyPr wrap="square" lIns="0" tIns="0" rIns="0" bIns="0" rtlCol="0" anchor="ctr"/>
          <a:lstStyle/>
          <a:p>
            <a:pPr indent="0" marL="0">
              <a:buNone/>
            </a:pPr>
            <a:r>
              <a:rPr lang="en-US" sz="1400" b="1" dirty="0">
                <a:solidFill>
                  <a:srgbClr val="0F766E"/>
                </a:solidFill>
                <a:latin typeface="Arial" pitchFamily="34" charset="0"/>
                <a:ea typeface="Arial" pitchFamily="34" charset="-122"/>
                <a:cs typeface="Arial" pitchFamily="34" charset="-120"/>
              </a:rPr>
              <a:t>L1 · Sinh viên</a:t>
            </a:r>
            <a:endParaRPr lang="en-US" sz="1400" dirty="0"/>
          </a:p>
        </p:txBody>
      </p:sp>
      <p:sp>
        <p:nvSpPr>
          <p:cNvPr id="24" name="Text 20"/>
          <p:cNvSpPr/>
          <p:nvPr/>
        </p:nvSpPr>
        <p:spPr>
          <a:xfrm>
            <a:off x="7662672" y="2386584"/>
            <a:ext cx="3822192" cy="329184"/>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Nộp yêu cầu, bổ sung hồ sơ, nhận kết quả</a:t>
            </a:r>
            <a:endParaRPr lang="en-US" sz="1400" dirty="0"/>
          </a:p>
        </p:txBody>
      </p:sp>
      <p:sp>
        <p:nvSpPr>
          <p:cNvPr id="25" name="Shape 21"/>
          <p:cNvSpPr/>
          <p:nvPr/>
        </p:nvSpPr>
        <p:spPr>
          <a:xfrm>
            <a:off x="7543800" y="2880360"/>
            <a:ext cx="4050792" cy="713232"/>
          </a:xfrm>
          <a:prstGeom prst="roundRect">
            <a:avLst>
              <a:gd name="adj" fmla="val 6410"/>
            </a:avLst>
          </a:prstGeom>
          <a:solidFill>
            <a:srgbClr val="F8FAFC"/>
          </a:solidFill>
          <a:ln w="15240">
            <a:solidFill>
              <a:srgbClr val="0F172A"/>
            </a:solidFill>
            <a:prstDash val="solid"/>
          </a:ln>
        </p:spPr>
      </p:sp>
      <p:sp>
        <p:nvSpPr>
          <p:cNvPr id="26" name="Text 22"/>
          <p:cNvSpPr/>
          <p:nvPr/>
        </p:nvSpPr>
        <p:spPr>
          <a:xfrm>
            <a:off x="7662672" y="2926080"/>
            <a:ext cx="3822192" cy="2743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L2 · Cán bộ CTHSSV</a:t>
            </a:r>
            <a:endParaRPr lang="en-US" sz="1400" dirty="0"/>
          </a:p>
        </p:txBody>
      </p:sp>
      <p:sp>
        <p:nvSpPr>
          <p:cNvPr id="27" name="Text 23"/>
          <p:cNvSpPr/>
          <p:nvPr/>
        </p:nvSpPr>
        <p:spPr>
          <a:xfrm>
            <a:off x="7662672" y="3209544"/>
            <a:ext cx="3822192" cy="329184"/>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Tiếp nhận, kiểm tra, soạn giấy, xác nhận cấp &amp; báo SV</a:t>
            </a:r>
            <a:endParaRPr lang="en-US" sz="1400" dirty="0"/>
          </a:p>
        </p:txBody>
      </p:sp>
      <p:sp>
        <p:nvSpPr>
          <p:cNvPr id="28" name="Shape 24"/>
          <p:cNvSpPr/>
          <p:nvPr/>
        </p:nvSpPr>
        <p:spPr>
          <a:xfrm>
            <a:off x="7543800" y="3703320"/>
            <a:ext cx="4050792" cy="713232"/>
          </a:xfrm>
          <a:prstGeom prst="roundRect">
            <a:avLst>
              <a:gd name="adj" fmla="val 6410"/>
            </a:avLst>
          </a:prstGeom>
          <a:solidFill>
            <a:srgbClr val="F8FAFC"/>
          </a:solidFill>
          <a:ln w="15240">
            <a:solidFill>
              <a:srgbClr val="B45309"/>
            </a:solidFill>
            <a:prstDash val="solid"/>
          </a:ln>
        </p:spPr>
      </p:sp>
      <p:sp>
        <p:nvSpPr>
          <p:cNvPr id="29" name="Text 25"/>
          <p:cNvSpPr/>
          <p:nvPr/>
        </p:nvSpPr>
        <p:spPr>
          <a:xfrm>
            <a:off x="7662672" y="3749040"/>
            <a:ext cx="3822192" cy="274320"/>
          </a:xfrm>
          <a:prstGeom prst="rect">
            <a:avLst/>
          </a:prstGeom>
          <a:noFill/>
          <a:ln/>
        </p:spPr>
        <p:txBody>
          <a:bodyPr wrap="square" lIns="0" tIns="0" rIns="0" bIns="0" rtlCol="0" anchor="ctr"/>
          <a:lstStyle/>
          <a:p>
            <a:pPr indent="0" marL="0">
              <a:buNone/>
            </a:pPr>
            <a:r>
              <a:rPr lang="en-US" sz="1400" b="1" dirty="0">
                <a:solidFill>
                  <a:srgbClr val="B45309"/>
                </a:solidFill>
                <a:latin typeface="Arial" pitchFamily="34" charset="0"/>
                <a:ea typeface="Arial" pitchFamily="34" charset="-122"/>
                <a:cs typeface="Arial" pitchFamily="34" charset="-120"/>
              </a:rPr>
              <a:t>L3 · Lãnh đạo phòng</a:t>
            </a:r>
            <a:endParaRPr lang="en-US" sz="1400" dirty="0"/>
          </a:p>
        </p:txBody>
      </p:sp>
      <p:sp>
        <p:nvSpPr>
          <p:cNvPr id="30" name="Text 26"/>
          <p:cNvSpPr/>
          <p:nvPr/>
        </p:nvSpPr>
        <p:spPr>
          <a:xfrm>
            <a:off x="7662672" y="4032504"/>
            <a:ext cx="3822192" cy="329184"/>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Thẩm quyền duy nhất duyệt ký hoặc từ chối (kèm lý do)</a:t>
            </a:r>
            <a:endParaRPr lang="en-US" sz="1400" dirty="0"/>
          </a:p>
        </p:txBody>
      </p:sp>
      <p:sp>
        <p:nvSpPr>
          <p:cNvPr id="31" name="Shape 27"/>
          <p:cNvSpPr/>
          <p:nvPr/>
        </p:nvSpPr>
        <p:spPr>
          <a:xfrm>
            <a:off x="7543800" y="4526280"/>
            <a:ext cx="4050792" cy="713232"/>
          </a:xfrm>
          <a:prstGeom prst="roundRect">
            <a:avLst>
              <a:gd name="adj" fmla="val 6410"/>
            </a:avLst>
          </a:prstGeom>
          <a:solidFill>
            <a:srgbClr val="F8FAFC"/>
          </a:solidFill>
          <a:ln w="15240">
            <a:solidFill>
              <a:srgbClr val="1D4ED8"/>
            </a:solidFill>
            <a:prstDash val="solid"/>
          </a:ln>
        </p:spPr>
      </p:sp>
      <p:sp>
        <p:nvSpPr>
          <p:cNvPr id="32" name="Text 28"/>
          <p:cNvSpPr/>
          <p:nvPr/>
        </p:nvSpPr>
        <p:spPr>
          <a:xfrm>
            <a:off x="7662672" y="4572000"/>
            <a:ext cx="3822192" cy="274320"/>
          </a:xfrm>
          <a:prstGeom prst="rect">
            <a:avLst/>
          </a:prstGeom>
          <a:noFill/>
          <a:ln/>
        </p:spPr>
        <p:txBody>
          <a:bodyPr wrap="square" lIns="0" tIns="0" rIns="0" bIns="0" rtlCol="0" anchor="ctr"/>
          <a:lstStyle/>
          <a:p>
            <a:pPr indent="0" marL="0">
              <a:buNone/>
            </a:pPr>
            <a:r>
              <a:rPr lang="en-US" sz="1400" b="1" dirty="0">
                <a:solidFill>
                  <a:srgbClr val="1D4ED8"/>
                </a:solidFill>
                <a:latin typeface="Arial" pitchFamily="34" charset="0"/>
                <a:ea typeface="Arial" pitchFamily="34" charset="-122"/>
                <a:cs typeface="Arial" pitchFamily="34" charset="-120"/>
              </a:rPr>
              <a:t>L4 · Văn thư</a:t>
            </a:r>
            <a:endParaRPr lang="en-US" sz="1400" dirty="0"/>
          </a:p>
        </p:txBody>
      </p:sp>
      <p:sp>
        <p:nvSpPr>
          <p:cNvPr id="33" name="Text 29"/>
          <p:cNvSpPr/>
          <p:nvPr/>
        </p:nvSpPr>
        <p:spPr>
          <a:xfrm>
            <a:off x="7662672" y="4855464"/>
            <a:ext cx="3822192" cy="329184"/>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Đóng dấu mộc, vào sổ công văn trước khi trả giấy</a:t>
            </a:r>
            <a:endParaRPr lang="en-US" sz="1400" dirty="0"/>
          </a:p>
        </p:txBody>
      </p:sp>
      <p:sp>
        <p:nvSpPr>
          <p:cNvPr id="34" name="Shape 30"/>
          <p:cNvSpPr/>
          <p:nvPr/>
        </p:nvSpPr>
        <p:spPr>
          <a:xfrm>
            <a:off x="7543800" y="5349240"/>
            <a:ext cx="4050792" cy="713232"/>
          </a:xfrm>
          <a:prstGeom prst="roundRect">
            <a:avLst>
              <a:gd name="adj" fmla="val 6410"/>
            </a:avLst>
          </a:prstGeom>
          <a:solidFill>
            <a:srgbClr val="F8FAFC"/>
          </a:solidFill>
          <a:ln w="15240">
            <a:solidFill>
              <a:srgbClr val="475569"/>
            </a:solidFill>
            <a:prstDash val="solid"/>
          </a:ln>
        </p:spPr>
      </p:sp>
      <p:sp>
        <p:nvSpPr>
          <p:cNvPr id="35" name="Text 31"/>
          <p:cNvSpPr/>
          <p:nvPr/>
        </p:nvSpPr>
        <p:spPr>
          <a:xfrm>
            <a:off x="7662672" y="5394960"/>
            <a:ext cx="3822192" cy="274320"/>
          </a:xfrm>
          <a:prstGeom prst="rect">
            <a:avLst/>
          </a:prstGeom>
          <a:noFill/>
          <a:ln/>
        </p:spPr>
        <p:txBody>
          <a:bodyPr wrap="square" lIns="0" tIns="0" rIns="0" bIns="0" rtlCol="0" anchor="ctr"/>
          <a:lstStyle/>
          <a:p>
            <a:pPr indent="0" marL="0">
              <a:buNone/>
            </a:pPr>
            <a:r>
              <a:rPr lang="en-US" sz="1400" b="1" dirty="0">
                <a:solidFill>
                  <a:srgbClr val="475569"/>
                </a:solidFill>
                <a:latin typeface="Arial" pitchFamily="34" charset="0"/>
                <a:ea typeface="Arial" pitchFamily="34" charset="-122"/>
                <a:cs typeface="Arial" pitchFamily="34" charset="-120"/>
              </a:rPr>
              <a:t>Ngoài phạm vi trực tiếp</a:t>
            </a:r>
            <a:endParaRPr lang="en-US" sz="1400" dirty="0"/>
          </a:p>
        </p:txBody>
      </p:sp>
      <p:sp>
        <p:nvSpPr>
          <p:cNvPr id="36" name="Text 32"/>
          <p:cNvSpPr/>
          <p:nvPr/>
        </p:nvSpPr>
        <p:spPr>
          <a:xfrm>
            <a:off x="7662672" y="5678424"/>
            <a:ext cx="3822192" cy="329184"/>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Phòng Đào tạo (nguồn tra cứu), cơ quan nhận giấy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sp>
      <p:sp>
        <p:nvSpPr>
          <p:cNvPr id="3" name="Shape 1"/>
          <p:cNvSpPr/>
          <p:nvPr/>
        </p:nvSpPr>
        <p:spPr>
          <a:xfrm>
            <a:off x="411480" y="182880"/>
            <a:ext cx="2468880" cy="310896"/>
          </a:xfrm>
          <a:prstGeom prst="roundRect">
            <a:avLst>
              <a:gd name="adj" fmla="val 14706"/>
            </a:avLst>
          </a:prstGeom>
          <a:solidFill>
            <a:srgbClr val="CCFBF1"/>
          </a:solidFill>
          <a:ln w="6350">
            <a:solidFill>
              <a:srgbClr val="0F766E"/>
            </a:solidFill>
            <a:prstDash val="solid"/>
          </a:ln>
        </p:spPr>
      </p:sp>
      <p:sp>
        <p:nvSpPr>
          <p:cNvPr id="4" name="Text 2"/>
          <p:cNvSpPr/>
          <p:nvPr/>
        </p:nvSpPr>
        <p:spPr>
          <a:xfrm>
            <a:off x="411480" y="182880"/>
            <a:ext cx="2468880" cy="310896"/>
          </a:xfrm>
          <a:prstGeom prst="rect">
            <a:avLst/>
          </a:prstGeom>
          <a:noFill/>
          <a:ln/>
        </p:spPr>
        <p:txBody>
          <a:bodyPr wrap="square" lIns="0" tIns="0" rIns="0" bIns="0" rtlCol="0" anchor="ctr"/>
          <a:lstStyle/>
          <a:p>
            <a:pPr algn="ctr" indent="0" marL="0">
              <a:buNone/>
            </a:pPr>
            <a:r>
              <a:rPr lang="en-US" sz="1400" b="1" dirty="0">
                <a:solidFill>
                  <a:srgbClr val="0F766E"/>
                </a:solidFill>
                <a:latin typeface="Arial" pitchFamily="34" charset="0"/>
                <a:ea typeface="Arial" pitchFamily="34" charset="-122"/>
                <a:cs typeface="Arial" pitchFamily="34" charset="-120"/>
              </a:rPr>
              <a:t>TỔNG QUAN QUY TRÌNH</a:t>
            </a:r>
            <a:endParaRPr lang="en-US" sz="1400" dirty="0"/>
          </a:p>
        </p:txBody>
      </p:sp>
      <p:sp>
        <p:nvSpPr>
          <p:cNvPr id="5" name="Text 3"/>
          <p:cNvSpPr/>
          <p:nvPr/>
        </p:nvSpPr>
        <p:spPr>
          <a:xfrm>
            <a:off x="411480" y="530352"/>
            <a:ext cx="11338560" cy="420624"/>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Tổng quan quy trình đầu–cuối &amp; Ranh giới đo lường</a:t>
            </a:r>
            <a:endParaRPr lang="en-US" sz="2200" dirty="0"/>
          </a:p>
        </p:txBody>
      </p:sp>
      <p:sp>
        <p:nvSpPr>
          <p:cNvPr id="6" name="Shape 4"/>
          <p:cNvSpPr/>
          <p:nvPr/>
        </p:nvSpPr>
        <p:spPr>
          <a:xfrm>
            <a:off x="411480" y="987552"/>
            <a:ext cx="11368735" cy="438912"/>
          </a:xfrm>
          <a:prstGeom prst="roundRect">
            <a:avLst>
              <a:gd name="adj" fmla="val 10417"/>
            </a:avLst>
          </a:prstGeom>
          <a:solidFill>
            <a:srgbClr val="FFFFFF"/>
          </a:solidFill>
          <a:ln w="15240">
            <a:solidFill>
              <a:srgbClr val="0F766E"/>
            </a:solidFill>
            <a:prstDash val="solid"/>
          </a:ln>
        </p:spPr>
      </p:sp>
      <p:sp>
        <p:nvSpPr>
          <p:cNvPr id="7" name="Shape 5"/>
          <p:cNvSpPr/>
          <p:nvPr/>
        </p:nvSpPr>
        <p:spPr>
          <a:xfrm>
            <a:off x="411480" y="987552"/>
            <a:ext cx="109728" cy="438912"/>
          </a:xfrm>
          <a:prstGeom prst="rect">
            <a:avLst/>
          </a:prstGeom>
          <a:solidFill>
            <a:srgbClr val="0F766E"/>
          </a:solidFill>
          <a:ln w="12700">
            <a:solidFill>
              <a:srgbClr val="0F766E"/>
            </a:solidFill>
            <a:prstDash val="solid"/>
          </a:ln>
        </p:spPr>
      </p:sp>
      <p:sp>
        <p:nvSpPr>
          <p:cNvPr id="8" name="Text 6"/>
          <p:cNvSpPr/>
          <p:nvPr/>
        </p:nvSpPr>
        <p:spPr>
          <a:xfrm>
            <a:off x="621792" y="987552"/>
            <a:ext cx="11064240" cy="438912"/>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Thông điệp: Quy trình đi từ lúc sinh viên nộp yêu cầu đến một trong ba kết cục rõ ràng, tách riêng thời gian phía trường và phía sinh viên.</a:t>
            </a:r>
            <a:endParaRPr lang="en-US" sz="1400" dirty="0"/>
          </a:p>
        </p:txBody>
      </p:sp>
      <p:sp>
        <p:nvSpPr>
          <p:cNvPr id="9" name="Shape 7"/>
          <p:cNvSpPr/>
          <p:nvPr/>
        </p:nvSpPr>
        <p:spPr>
          <a:xfrm>
            <a:off x="411480" y="6473952"/>
            <a:ext cx="11368735" cy="0"/>
          </a:xfrm>
          <a:prstGeom prst="line">
            <a:avLst/>
          </a:prstGeom>
          <a:noFill/>
          <a:ln w="9525">
            <a:solidFill>
              <a:srgbClr val="CBD5E1"/>
            </a:solidFill>
            <a:prstDash val="solid"/>
          </a:ln>
        </p:spPr>
      </p:sp>
      <p:sp>
        <p:nvSpPr>
          <p:cNvPr id="10" name="Text 8"/>
          <p:cNvSpPr/>
          <p:nvPr/>
        </p:nvSpPr>
        <p:spPr>
          <a:xfrm>
            <a:off x="411480" y="6510528"/>
            <a:ext cx="8686800" cy="274320"/>
          </a:xfrm>
          <a:prstGeom prst="rect">
            <a:avLst/>
          </a:prstGeom>
          <a:noFill/>
          <a:ln/>
        </p:spPr>
        <p:txBody>
          <a:bodyPr wrap="square" lIns="0" tIns="0" rIns="0" bIns="0" rtlCol="0" anchor="ctr"/>
          <a:lstStyle/>
          <a:p>
            <a:pPr indent="0" marL="0">
              <a:buNone/>
            </a:pPr>
            <a:r>
              <a:rPr lang="en-US" sz="1400" dirty="0">
                <a:solidFill>
                  <a:srgbClr val="475569"/>
                </a:solidFill>
                <a:latin typeface="Arial" pitchFamily="34" charset="0"/>
                <a:ea typeface="Arial" pitchFamily="34" charset="-122"/>
                <a:cs typeface="Arial" pitchFamily="34" charset="-120"/>
              </a:rPr>
              <a:t>Cấp giấy xác nhận sinh viên – Trường Cao đẳng Y Dược (Prototype học thuật)</a:t>
            </a:r>
            <a:endParaRPr lang="en-US" sz="1400" dirty="0"/>
          </a:p>
        </p:txBody>
      </p:sp>
      <p:sp>
        <p:nvSpPr>
          <p:cNvPr id="11" name="Text 9"/>
          <p:cNvSpPr/>
          <p:nvPr/>
        </p:nvSpPr>
        <p:spPr>
          <a:xfrm>
            <a:off x="9601200" y="6510528"/>
            <a:ext cx="2179015" cy="274320"/>
          </a:xfrm>
          <a:prstGeom prst="rect">
            <a:avLst/>
          </a:prstGeom>
          <a:noFill/>
          <a:ln/>
        </p:spPr>
        <p:txBody>
          <a:bodyPr wrap="square" lIns="0" tIns="0" rIns="0" bIns="0" rtlCol="0" anchor="ctr"/>
          <a:lstStyle/>
          <a:p>
            <a:pPr algn="r" indent="0" marL="0">
              <a:buNone/>
            </a:pPr>
            <a:r>
              <a:rPr lang="en-US" sz="1400" b="1" dirty="0">
                <a:solidFill>
                  <a:srgbClr val="0F766E"/>
                </a:solidFill>
                <a:latin typeface="Arial" pitchFamily="34" charset="0"/>
                <a:ea typeface="Arial" pitchFamily="34" charset="-122"/>
                <a:cs typeface="Arial" pitchFamily="34" charset="-120"/>
              </a:rPr>
              <a:t>Slide 3/14</a:t>
            </a:r>
            <a:endParaRPr lang="en-US" sz="1400" dirty="0"/>
          </a:p>
        </p:txBody>
      </p:sp>
      <p:sp>
        <p:nvSpPr>
          <p:cNvPr id="13" name="Shape 10"/>
          <p:cNvSpPr/>
          <p:nvPr/>
        </p:nvSpPr>
        <p:spPr>
          <a:xfrm>
            <a:off x="411480" y="1554480"/>
            <a:ext cx="3520440" cy="2834640"/>
          </a:xfrm>
          <a:prstGeom prst="roundRect">
            <a:avLst>
              <a:gd name="adj" fmla="val 1935"/>
            </a:avLst>
          </a:prstGeom>
          <a:solidFill>
            <a:srgbClr val="FFFFFF"/>
          </a:solidFill>
          <a:ln w="12700">
            <a:solidFill>
              <a:srgbClr val="CBD5E1"/>
            </a:solidFill>
            <a:prstDash val="solid"/>
          </a:ln>
        </p:spPr>
      </p:sp>
      <p:sp>
        <p:nvSpPr>
          <p:cNvPr id="14" name="Shape 11"/>
          <p:cNvSpPr/>
          <p:nvPr/>
        </p:nvSpPr>
        <p:spPr>
          <a:xfrm>
            <a:off x="411480" y="1554480"/>
            <a:ext cx="3520440" cy="384048"/>
          </a:xfrm>
          <a:prstGeom prst="roundRect">
            <a:avLst>
              <a:gd name="adj" fmla="val 14286"/>
            </a:avLst>
          </a:prstGeom>
          <a:solidFill>
            <a:srgbClr val="0F172A"/>
          </a:solidFill>
          <a:ln w="12700">
            <a:solidFill>
              <a:srgbClr val="0F172A"/>
            </a:solidFill>
            <a:prstDash val="solid"/>
          </a:ln>
        </p:spPr>
      </p:sp>
      <p:sp>
        <p:nvSpPr>
          <p:cNvPr id="15" name="Text 12"/>
          <p:cNvSpPr/>
          <p:nvPr/>
        </p:nvSpPr>
        <p:spPr>
          <a:xfrm>
            <a:off x="539496" y="1554480"/>
            <a:ext cx="326440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Đầu vào (Inputs)</a:t>
            </a:r>
            <a:endParaRPr lang="en-US" sz="1500" dirty="0"/>
          </a:p>
        </p:txBody>
      </p:sp>
      <p:sp>
        <p:nvSpPr>
          <p:cNvPr id="16" name="Text 13"/>
          <p:cNvSpPr/>
          <p:nvPr/>
        </p:nvSpPr>
        <p:spPr>
          <a:xfrm>
            <a:off x="539496" y="1993392"/>
            <a:ext cx="3264408" cy="232257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Mã số SV, họ tên, ngày sinh, lớp/khoa.</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Loại giấy xác nhận &amp; số bản cần cấp.</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Mục đích sử dụng cụ thể.</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Email nhận thông báo &amp; tệp minh chứng kèm theo (tùy loại giấy).</a:t>
            </a:r>
            <a:endParaRPr lang="en-US" sz="1400" dirty="0"/>
          </a:p>
        </p:txBody>
      </p:sp>
      <p:sp>
        <p:nvSpPr>
          <p:cNvPr id="17" name="Shape 14"/>
          <p:cNvSpPr/>
          <p:nvPr/>
        </p:nvSpPr>
        <p:spPr>
          <a:xfrm>
            <a:off x="4114800" y="1554480"/>
            <a:ext cx="3931920" cy="2834640"/>
          </a:xfrm>
          <a:prstGeom prst="roundRect">
            <a:avLst>
              <a:gd name="adj" fmla="val 1935"/>
            </a:avLst>
          </a:prstGeom>
          <a:solidFill>
            <a:srgbClr val="FFFFFF"/>
          </a:solidFill>
          <a:ln w="12700">
            <a:solidFill>
              <a:srgbClr val="CBD5E1"/>
            </a:solidFill>
            <a:prstDash val="solid"/>
          </a:ln>
        </p:spPr>
      </p:sp>
      <p:sp>
        <p:nvSpPr>
          <p:cNvPr id="18" name="Shape 15"/>
          <p:cNvSpPr/>
          <p:nvPr/>
        </p:nvSpPr>
        <p:spPr>
          <a:xfrm>
            <a:off x="4114800" y="1554480"/>
            <a:ext cx="3931920" cy="384048"/>
          </a:xfrm>
          <a:prstGeom prst="roundRect">
            <a:avLst>
              <a:gd name="adj" fmla="val 14286"/>
            </a:avLst>
          </a:prstGeom>
          <a:solidFill>
            <a:srgbClr val="0F766E"/>
          </a:solidFill>
          <a:ln w="12700">
            <a:solidFill>
              <a:srgbClr val="0F766E"/>
            </a:solidFill>
            <a:prstDash val="solid"/>
          </a:ln>
        </p:spPr>
      </p:sp>
      <p:sp>
        <p:nvSpPr>
          <p:cNvPr id="19" name="Text 16"/>
          <p:cNvSpPr/>
          <p:nvPr/>
        </p:nvSpPr>
        <p:spPr>
          <a:xfrm>
            <a:off x="4242816" y="1554480"/>
            <a:ext cx="367588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Luồng xử lý &amp; Quy ước giờ làm việc</a:t>
            </a:r>
            <a:endParaRPr lang="en-US" sz="1500" dirty="0"/>
          </a:p>
        </p:txBody>
      </p:sp>
      <p:sp>
        <p:nvSpPr>
          <p:cNvPr id="20" name="Text 17"/>
          <p:cNvSpPr/>
          <p:nvPr/>
        </p:nvSpPr>
        <p:spPr>
          <a:xfrm>
            <a:off x="4242816" y="1993392"/>
            <a:ext cx="3675888" cy="232257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Nộp yêu cầu → Tiếp nhận &amp; kiểm tra → Duyệt ký → Đóng dấu → Thông báo kết quả.</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Giờ làm việc: Thứ Hai – Thứ Sáu (07:30–11:30 &amp; 13:30–17:00, 450 phút/ngày).</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Hạn bổ sung hồ sơ: 7 ngày làm việc; ngưỡng quá hạn toàn trình: tham số 5 ngày LV.</a:t>
            </a:r>
            <a:endParaRPr lang="en-US" sz="1400" dirty="0"/>
          </a:p>
        </p:txBody>
      </p:sp>
      <p:sp>
        <p:nvSpPr>
          <p:cNvPr id="21" name="Shape 18"/>
          <p:cNvSpPr/>
          <p:nvPr/>
        </p:nvSpPr>
        <p:spPr>
          <a:xfrm>
            <a:off x="8229600" y="1554480"/>
            <a:ext cx="3547872" cy="2834640"/>
          </a:xfrm>
          <a:prstGeom prst="roundRect">
            <a:avLst>
              <a:gd name="adj" fmla="val 1935"/>
            </a:avLst>
          </a:prstGeom>
          <a:solidFill>
            <a:srgbClr val="FFFFFF"/>
          </a:solidFill>
          <a:ln w="12700">
            <a:solidFill>
              <a:srgbClr val="CBD5E1"/>
            </a:solidFill>
            <a:prstDash val="solid"/>
          </a:ln>
        </p:spPr>
      </p:sp>
      <p:sp>
        <p:nvSpPr>
          <p:cNvPr id="22" name="Shape 19"/>
          <p:cNvSpPr/>
          <p:nvPr/>
        </p:nvSpPr>
        <p:spPr>
          <a:xfrm>
            <a:off x="8229600" y="1554480"/>
            <a:ext cx="3547872" cy="384048"/>
          </a:xfrm>
          <a:prstGeom prst="roundRect">
            <a:avLst>
              <a:gd name="adj" fmla="val 14286"/>
            </a:avLst>
          </a:prstGeom>
          <a:solidFill>
            <a:srgbClr val="1D4ED8"/>
          </a:solidFill>
          <a:ln w="12700">
            <a:solidFill>
              <a:srgbClr val="1D4ED8"/>
            </a:solidFill>
            <a:prstDash val="solid"/>
          </a:ln>
        </p:spPr>
      </p:sp>
      <p:sp>
        <p:nvSpPr>
          <p:cNvPr id="23" name="Text 20"/>
          <p:cNvSpPr/>
          <p:nvPr/>
        </p:nvSpPr>
        <p:spPr>
          <a:xfrm>
            <a:off x="8357616" y="1554480"/>
            <a:ext cx="3291840"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Đầu ra &amp; 3 Kết cục rõ ràng</a:t>
            </a:r>
            <a:endParaRPr lang="en-US" sz="1500" dirty="0"/>
          </a:p>
        </p:txBody>
      </p:sp>
      <p:sp>
        <p:nvSpPr>
          <p:cNvPr id="24" name="Text 21"/>
          <p:cNvSpPr/>
          <p:nvPr/>
        </p:nvSpPr>
        <p:spPr>
          <a:xfrm>
            <a:off x="8357616" y="1993392"/>
            <a:ext cx="3291840" cy="232257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Kết cục 1 (E1): Sinh viên nhận giấy đã ký và đóng dấu.</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Kết cục 2 (E2): Từ chối cấp kèm lý do bắt buộc.</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Kết cục 3 (E3): Đóng hồ sơ do quá hạn bổ sung.</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Lưu vết sổ tiếp nhận / nhật ký sự kiện (Event Log).</a:t>
            </a:r>
            <a:endParaRPr lang="en-US" sz="1400" dirty="0"/>
          </a:p>
        </p:txBody>
      </p:sp>
      <p:sp>
        <p:nvSpPr>
          <p:cNvPr id="25" name="Shape 22"/>
          <p:cNvSpPr/>
          <p:nvPr/>
        </p:nvSpPr>
        <p:spPr>
          <a:xfrm>
            <a:off x="411480" y="4553712"/>
            <a:ext cx="11368735" cy="1755648"/>
          </a:xfrm>
          <a:prstGeom prst="roundRect">
            <a:avLst>
              <a:gd name="adj" fmla="val 3125"/>
            </a:avLst>
          </a:prstGeom>
          <a:solidFill>
            <a:srgbClr val="FFFFFF"/>
          </a:solidFill>
          <a:ln w="19050">
            <a:solidFill>
              <a:srgbClr val="0F766E"/>
            </a:solidFill>
            <a:prstDash val="solid"/>
          </a:ln>
        </p:spPr>
      </p:sp>
      <p:sp>
        <p:nvSpPr>
          <p:cNvPr id="26" name="Text 23"/>
          <p:cNvSpPr/>
          <p:nvPr/>
        </p:nvSpPr>
        <p:spPr>
          <a:xfrm>
            <a:off x="594360" y="4645152"/>
            <a:ext cx="10972800" cy="329184"/>
          </a:xfrm>
          <a:prstGeom prst="rect">
            <a:avLst/>
          </a:prstGeom>
          <a:noFill/>
          <a:ln/>
        </p:spPr>
        <p:txBody>
          <a:bodyPr wrap="square" lIns="0" tIns="0" rIns="0" bIns="0" rtlCol="0" anchor="ctr"/>
          <a:lstStyle/>
          <a:p>
            <a:pPr indent="0" marL="0">
              <a:buNone/>
            </a:pPr>
            <a:r>
              <a:rPr lang="en-US" sz="1600" b="1" dirty="0">
                <a:solidFill>
                  <a:srgbClr val="0F766E"/>
                </a:solidFill>
                <a:latin typeface="Arial" pitchFamily="34" charset="0"/>
                <a:ea typeface="Arial" pitchFamily="34" charset="-122"/>
                <a:cs typeface="Arial" pitchFamily="34" charset="-120"/>
              </a:rPr>
              <a:t>Ranh giới hai thước đo thời gian tách biệt (Tránh nhập nhằng trách nhiệm)</a:t>
            </a:r>
            <a:endParaRPr lang="en-US" sz="1600" dirty="0"/>
          </a:p>
        </p:txBody>
      </p:sp>
      <p:sp>
        <p:nvSpPr>
          <p:cNvPr id="27" name="Shape 24"/>
          <p:cNvSpPr/>
          <p:nvPr/>
        </p:nvSpPr>
        <p:spPr>
          <a:xfrm>
            <a:off x="594360" y="5029200"/>
            <a:ext cx="5349240" cy="1143000"/>
          </a:xfrm>
          <a:prstGeom prst="roundRect">
            <a:avLst>
              <a:gd name="adj" fmla="val 4000"/>
            </a:avLst>
          </a:prstGeom>
          <a:solidFill>
            <a:srgbClr val="F0FDFA"/>
          </a:solidFill>
          <a:ln w="12700">
            <a:solidFill>
              <a:srgbClr val="0F766E"/>
            </a:solidFill>
            <a:prstDash val="solid"/>
          </a:ln>
        </p:spPr>
      </p:sp>
      <p:sp>
        <p:nvSpPr>
          <p:cNvPr id="28" name="Text 25"/>
          <p:cNvSpPr/>
          <p:nvPr/>
        </p:nvSpPr>
        <p:spPr>
          <a:xfrm>
            <a:off x="731520" y="5084064"/>
            <a:ext cx="5074920" cy="1024128"/>
          </a:xfrm>
          <a:prstGeom prst="rect">
            <a:avLst/>
          </a:prstGeom>
          <a:noFill/>
          <a:ln/>
        </p:spPr>
        <p:txBody>
          <a:bodyPr wrap="square" lIns="0" tIns="0" rIns="0" bIns="0" rtlCol="0" anchor="ctr"/>
          <a:lstStyle/>
          <a:p>
            <a:pPr indent="0" marL="0">
              <a:buNone/>
            </a:pPr>
            <a:r>
              <a:rPr lang="en-US" sz="1400" b="1" dirty="0">
                <a:solidFill>
                  <a:srgbClr val="0F766E"/>
                </a:solidFill>
                <a:latin typeface="Arial" pitchFamily="34" charset="0"/>
                <a:ea typeface="Arial" pitchFamily="34" charset="-122"/>
                <a:cs typeface="Arial" pitchFamily="34" charset="-120"/>
              </a:rPr>
              <a:t>1. Thời gian phía trường (T_trường):
</a:t>
            </a:r>
            <a:pPr indent="0" marL="0">
              <a:buNone/>
            </a:pPr>
            <a:r>
              <a:rPr lang="en-US" sz="1400" dirty="0">
                <a:solidFill>
                  <a:srgbClr val="1E293B"/>
                </a:solidFill>
                <a:latin typeface="Arial" pitchFamily="34" charset="0"/>
                <a:ea typeface="Arial" pitchFamily="34" charset="-122"/>
                <a:cs typeface="Arial" pitchFamily="34" charset="-120"/>
              </a:rPr>
              <a:t>Tính từ lúc nộp yêu cầu đến khi hoàn tất thông báo kết quả (báo có giấy, báo từ chối, hoặc đóng quá hạn). Có bản Ròng (Net) trừ thời gian chờ SV bổ sung.</a:t>
            </a:r>
            <a:endParaRPr lang="en-US" sz="1400" dirty="0"/>
          </a:p>
        </p:txBody>
      </p:sp>
      <p:sp>
        <p:nvSpPr>
          <p:cNvPr id="29" name="Shape 26"/>
          <p:cNvSpPr/>
          <p:nvPr/>
        </p:nvSpPr>
        <p:spPr>
          <a:xfrm>
            <a:off x="6172200" y="5029200"/>
            <a:ext cx="5394960" cy="1143000"/>
          </a:xfrm>
          <a:prstGeom prst="roundRect">
            <a:avLst>
              <a:gd name="adj" fmla="val 4000"/>
            </a:avLst>
          </a:prstGeom>
          <a:solidFill>
            <a:srgbClr val="EFF6FF"/>
          </a:solidFill>
          <a:ln w="12700">
            <a:solidFill>
              <a:srgbClr val="1D4ED8"/>
            </a:solidFill>
            <a:prstDash val="solid"/>
          </a:ln>
        </p:spPr>
      </p:sp>
      <p:sp>
        <p:nvSpPr>
          <p:cNvPr id="30" name="Text 27"/>
          <p:cNvSpPr/>
          <p:nvPr/>
        </p:nvSpPr>
        <p:spPr>
          <a:xfrm>
            <a:off x="6309360" y="5084064"/>
            <a:ext cx="5120640" cy="1024128"/>
          </a:xfrm>
          <a:prstGeom prst="rect">
            <a:avLst/>
          </a:prstGeom>
          <a:noFill/>
          <a:ln/>
        </p:spPr>
        <p:txBody>
          <a:bodyPr wrap="square" lIns="0" tIns="0" rIns="0" bIns="0" rtlCol="0" anchor="ctr"/>
          <a:lstStyle/>
          <a:p>
            <a:pPr indent="0" marL="0">
              <a:buNone/>
            </a:pPr>
            <a:r>
              <a:rPr lang="en-US" sz="1400" b="1" dirty="0">
                <a:solidFill>
                  <a:srgbClr val="1D4ED8"/>
                </a:solidFill>
                <a:latin typeface="Arial" pitchFamily="34" charset="0"/>
                <a:ea typeface="Arial" pitchFamily="34" charset="-122"/>
                <a:cs typeface="Arial" pitchFamily="34" charset="-120"/>
              </a:rPr>
              <a:t>2. Tổng thời gian phía sinh viên (T_SV):
</a:t>
            </a:r>
            <a:pPr indent="0" marL="0">
              <a:buNone/>
            </a:pPr>
            <a:r>
              <a:rPr lang="en-US" sz="1400" dirty="0">
                <a:solidFill>
                  <a:srgbClr val="1E293B"/>
                </a:solidFill>
                <a:latin typeface="Arial" pitchFamily="34" charset="0"/>
                <a:ea typeface="Arial" pitchFamily="34" charset="-122"/>
                <a:cs typeface="Arial" pitchFamily="34" charset="-120"/>
              </a:rPr>
              <a:t>Tính từ lúc nộp đến khi SV thực sự nhận giấy. Hồ sơ "đã cấp nhưng chưa nhận" là dữ liệu bị cắt (censored): tách riêng số lượng &amp; tuổi tồn, không gộp vào T_SV.</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sp>
      <p:sp>
        <p:nvSpPr>
          <p:cNvPr id="3" name="Shape 1"/>
          <p:cNvSpPr/>
          <p:nvPr/>
        </p:nvSpPr>
        <p:spPr>
          <a:xfrm>
            <a:off x="411480" y="182880"/>
            <a:ext cx="2468880" cy="310896"/>
          </a:xfrm>
          <a:prstGeom prst="roundRect">
            <a:avLst>
              <a:gd name="adj" fmla="val 14706"/>
            </a:avLst>
          </a:prstGeom>
          <a:solidFill>
            <a:srgbClr val="CCFBF1"/>
          </a:solidFill>
          <a:ln w="6350">
            <a:solidFill>
              <a:srgbClr val="0F766E"/>
            </a:solidFill>
            <a:prstDash val="solid"/>
          </a:ln>
        </p:spPr>
      </p:sp>
      <p:sp>
        <p:nvSpPr>
          <p:cNvPr id="4" name="Text 2"/>
          <p:cNvSpPr/>
          <p:nvPr/>
        </p:nvSpPr>
        <p:spPr>
          <a:xfrm>
            <a:off x="411480" y="182880"/>
            <a:ext cx="2468880" cy="310896"/>
          </a:xfrm>
          <a:prstGeom prst="rect">
            <a:avLst/>
          </a:prstGeom>
          <a:noFill/>
          <a:ln/>
        </p:spPr>
        <p:txBody>
          <a:bodyPr wrap="square" lIns="0" tIns="0" rIns="0" bIns="0" rtlCol="0" anchor="ctr"/>
          <a:lstStyle/>
          <a:p>
            <a:pPr algn="ctr" indent="0" marL="0">
              <a:buNone/>
            </a:pPr>
            <a:r>
              <a:rPr lang="en-US" sz="1400" b="1" dirty="0">
                <a:solidFill>
                  <a:srgbClr val="0F766E"/>
                </a:solidFill>
                <a:latin typeface="Arial" pitchFamily="34" charset="0"/>
                <a:ea typeface="Arial" pitchFamily="34" charset="-122"/>
                <a:cs typeface="Arial" pitchFamily="34" charset="-120"/>
              </a:rPr>
              <a:t>QUY TRÌNH AS-IS</a:t>
            </a:r>
            <a:endParaRPr lang="en-US" sz="1400" dirty="0"/>
          </a:p>
        </p:txBody>
      </p:sp>
      <p:sp>
        <p:nvSpPr>
          <p:cNvPr id="5" name="Text 3"/>
          <p:cNvSpPr/>
          <p:nvPr/>
        </p:nvSpPr>
        <p:spPr>
          <a:xfrm>
            <a:off x="411480" y="530352"/>
            <a:ext cx="11338560" cy="420624"/>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Quy trình hiện tại (Giả định) – Mô hình BPMN 4 làn</a:t>
            </a:r>
            <a:endParaRPr lang="en-US" sz="2200" dirty="0"/>
          </a:p>
        </p:txBody>
      </p:sp>
      <p:sp>
        <p:nvSpPr>
          <p:cNvPr id="6" name="Shape 4"/>
          <p:cNvSpPr/>
          <p:nvPr/>
        </p:nvSpPr>
        <p:spPr>
          <a:xfrm>
            <a:off x="411480" y="987552"/>
            <a:ext cx="11368735" cy="438912"/>
          </a:xfrm>
          <a:prstGeom prst="roundRect">
            <a:avLst>
              <a:gd name="adj" fmla="val 10417"/>
            </a:avLst>
          </a:prstGeom>
          <a:solidFill>
            <a:srgbClr val="FFFFFF"/>
          </a:solidFill>
          <a:ln w="15240">
            <a:solidFill>
              <a:srgbClr val="0F766E"/>
            </a:solidFill>
            <a:prstDash val="solid"/>
          </a:ln>
        </p:spPr>
      </p:sp>
      <p:sp>
        <p:nvSpPr>
          <p:cNvPr id="7" name="Shape 5"/>
          <p:cNvSpPr/>
          <p:nvPr/>
        </p:nvSpPr>
        <p:spPr>
          <a:xfrm>
            <a:off x="411480" y="987552"/>
            <a:ext cx="109728" cy="438912"/>
          </a:xfrm>
          <a:prstGeom prst="rect">
            <a:avLst/>
          </a:prstGeom>
          <a:solidFill>
            <a:srgbClr val="0F766E"/>
          </a:solidFill>
          <a:ln w="12700">
            <a:solidFill>
              <a:srgbClr val="0F766E"/>
            </a:solidFill>
            <a:prstDash val="solid"/>
          </a:ln>
        </p:spPr>
      </p:sp>
      <p:sp>
        <p:nvSpPr>
          <p:cNvPr id="8" name="Text 6"/>
          <p:cNvSpPr/>
          <p:nvPr/>
        </p:nvSpPr>
        <p:spPr>
          <a:xfrm>
            <a:off x="621792" y="987552"/>
            <a:ext cx="11064240" cy="438912"/>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Thông điệp: Quy trình hiện tại đi qua 4 vai trò với nhiều thao tác ghi sổ thủ công, vòng lặp bổ sung và rà hạn vào chiều thứ Sáu.</a:t>
            </a:r>
            <a:endParaRPr lang="en-US" sz="1400" dirty="0"/>
          </a:p>
        </p:txBody>
      </p:sp>
      <p:sp>
        <p:nvSpPr>
          <p:cNvPr id="9" name="Shape 7"/>
          <p:cNvSpPr/>
          <p:nvPr/>
        </p:nvSpPr>
        <p:spPr>
          <a:xfrm>
            <a:off x="411480" y="6473952"/>
            <a:ext cx="11368735" cy="0"/>
          </a:xfrm>
          <a:prstGeom prst="line">
            <a:avLst/>
          </a:prstGeom>
          <a:noFill/>
          <a:ln w="9525">
            <a:solidFill>
              <a:srgbClr val="CBD5E1"/>
            </a:solidFill>
            <a:prstDash val="solid"/>
          </a:ln>
        </p:spPr>
      </p:sp>
      <p:sp>
        <p:nvSpPr>
          <p:cNvPr id="10" name="Text 8"/>
          <p:cNvSpPr/>
          <p:nvPr/>
        </p:nvSpPr>
        <p:spPr>
          <a:xfrm>
            <a:off x="411480" y="6510528"/>
            <a:ext cx="8686800" cy="274320"/>
          </a:xfrm>
          <a:prstGeom prst="rect">
            <a:avLst/>
          </a:prstGeom>
          <a:noFill/>
          <a:ln/>
        </p:spPr>
        <p:txBody>
          <a:bodyPr wrap="square" lIns="0" tIns="0" rIns="0" bIns="0" rtlCol="0" anchor="ctr"/>
          <a:lstStyle/>
          <a:p>
            <a:pPr indent="0" marL="0">
              <a:buNone/>
            </a:pPr>
            <a:r>
              <a:rPr lang="en-US" sz="1400" dirty="0">
                <a:solidFill>
                  <a:srgbClr val="475569"/>
                </a:solidFill>
                <a:latin typeface="Arial" pitchFamily="34" charset="0"/>
                <a:ea typeface="Arial" pitchFamily="34" charset="-122"/>
                <a:cs typeface="Arial" pitchFamily="34" charset="-120"/>
              </a:rPr>
              <a:t>Cấp giấy xác nhận sinh viên – Trường Cao đẳng Y Dược (Prototype học thuật)</a:t>
            </a:r>
            <a:endParaRPr lang="en-US" sz="1400" dirty="0"/>
          </a:p>
        </p:txBody>
      </p:sp>
      <p:sp>
        <p:nvSpPr>
          <p:cNvPr id="11" name="Text 9"/>
          <p:cNvSpPr/>
          <p:nvPr/>
        </p:nvSpPr>
        <p:spPr>
          <a:xfrm>
            <a:off x="9601200" y="6510528"/>
            <a:ext cx="2179015" cy="274320"/>
          </a:xfrm>
          <a:prstGeom prst="rect">
            <a:avLst/>
          </a:prstGeom>
          <a:noFill/>
          <a:ln/>
        </p:spPr>
        <p:txBody>
          <a:bodyPr wrap="square" lIns="0" tIns="0" rIns="0" bIns="0" rtlCol="0" anchor="ctr"/>
          <a:lstStyle/>
          <a:p>
            <a:pPr algn="r" indent="0" marL="0">
              <a:buNone/>
            </a:pPr>
            <a:r>
              <a:rPr lang="en-US" sz="1400" b="1" dirty="0">
                <a:solidFill>
                  <a:srgbClr val="0F766E"/>
                </a:solidFill>
                <a:latin typeface="Arial" pitchFamily="34" charset="0"/>
                <a:ea typeface="Arial" pitchFamily="34" charset="-122"/>
                <a:cs typeface="Arial" pitchFamily="34" charset="-120"/>
              </a:rPr>
              <a:t>Slide 4/14</a:t>
            </a:r>
            <a:endParaRPr lang="en-US" sz="1400" dirty="0"/>
          </a:p>
        </p:txBody>
      </p:sp>
      <p:sp>
        <p:nvSpPr>
          <p:cNvPr id="13" name="Shape 10"/>
          <p:cNvSpPr/>
          <p:nvPr/>
        </p:nvSpPr>
        <p:spPr>
          <a:xfrm>
            <a:off x="411480" y="1508760"/>
            <a:ext cx="11368735" cy="3291840"/>
          </a:xfrm>
          <a:prstGeom prst="roundRect">
            <a:avLst>
              <a:gd name="adj" fmla="val 1667"/>
            </a:avLst>
          </a:prstGeom>
          <a:solidFill>
            <a:srgbClr val="FFFFFF"/>
          </a:solidFill>
          <a:ln w="12700">
            <a:solidFill>
              <a:srgbClr val="CBD5E1"/>
            </a:solidFill>
            <a:prstDash val="solid"/>
          </a:ln>
        </p:spPr>
      </p:sp>
      <p:pic>
        <p:nvPicPr>
          <p:cNvPr id="14" name="Image 0" descr="inputs/images/as-is.png">    </p:cNvPr>
          <p:cNvPicPr>
            <a:picLocks noChangeAspect="1"/>
          </p:cNvPicPr>
          <p:nvPr/>
        </p:nvPicPr>
        <p:blipFill>
          <a:blip r:embed="rId1"/>
          <a:stretch>
            <a:fillRect/>
          </a:stretch>
        </p:blipFill>
        <p:spPr>
          <a:xfrm>
            <a:off x="619245" y="1581912"/>
            <a:ext cx="10953206" cy="3145536"/>
          </a:xfrm>
          <a:prstGeom prst="rect">
            <a:avLst/>
          </a:prstGeom>
        </p:spPr>
      </p:pic>
      <p:sp>
        <p:nvSpPr>
          <p:cNvPr id="15" name="Shape 11"/>
          <p:cNvSpPr/>
          <p:nvPr/>
        </p:nvSpPr>
        <p:spPr>
          <a:xfrm>
            <a:off x="411480" y="4919472"/>
            <a:ext cx="3657600" cy="1417320"/>
          </a:xfrm>
          <a:prstGeom prst="roundRect">
            <a:avLst>
              <a:gd name="adj" fmla="val 3871"/>
            </a:avLst>
          </a:prstGeom>
          <a:solidFill>
            <a:srgbClr val="FFFFFF"/>
          </a:solidFill>
          <a:ln w="12700">
            <a:solidFill>
              <a:srgbClr val="CBD5E1"/>
            </a:solidFill>
            <a:prstDash val="solid"/>
          </a:ln>
        </p:spPr>
      </p:sp>
      <p:sp>
        <p:nvSpPr>
          <p:cNvPr id="16" name="Shape 12"/>
          <p:cNvSpPr/>
          <p:nvPr/>
        </p:nvSpPr>
        <p:spPr>
          <a:xfrm>
            <a:off x="411480" y="4919472"/>
            <a:ext cx="3657600" cy="384048"/>
          </a:xfrm>
          <a:prstGeom prst="roundRect">
            <a:avLst>
              <a:gd name="adj" fmla="val 14286"/>
            </a:avLst>
          </a:prstGeom>
          <a:solidFill>
            <a:srgbClr val="0F172A"/>
          </a:solidFill>
          <a:ln w="12700">
            <a:solidFill>
              <a:srgbClr val="0F172A"/>
            </a:solidFill>
            <a:prstDash val="solid"/>
          </a:ln>
        </p:spPr>
      </p:sp>
      <p:sp>
        <p:nvSpPr>
          <p:cNvPr id="17" name="Text 13"/>
          <p:cNvSpPr/>
          <p:nvPr/>
        </p:nvSpPr>
        <p:spPr>
          <a:xfrm>
            <a:off x="539496" y="4919472"/>
            <a:ext cx="340156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Luồng xử lý qua 4 làn vai trò</a:t>
            </a:r>
            <a:endParaRPr lang="en-US" sz="1500" dirty="0"/>
          </a:p>
        </p:txBody>
      </p:sp>
      <p:sp>
        <p:nvSpPr>
          <p:cNvPr id="18" name="Text 14"/>
          <p:cNvSpPr/>
          <p:nvPr/>
        </p:nvSpPr>
        <p:spPr>
          <a:xfrm>
            <a:off x="539496" y="5358384"/>
            <a:ext cx="3401568" cy="90525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SV nộp đơn giấy/form → Cán bộ ghi sổ, kiểm tra &amp; soạn giấy → Lãnh đạo ký → Văn thư đóng dấu.</a:t>
            </a:r>
            <a:endParaRPr lang="en-US" sz="1400" dirty="0"/>
          </a:p>
        </p:txBody>
      </p:sp>
      <p:sp>
        <p:nvSpPr>
          <p:cNvPr id="19" name="Shape 15"/>
          <p:cNvSpPr/>
          <p:nvPr/>
        </p:nvSpPr>
        <p:spPr>
          <a:xfrm>
            <a:off x="4251960" y="4919472"/>
            <a:ext cx="3749040" cy="1417320"/>
          </a:xfrm>
          <a:prstGeom prst="roundRect">
            <a:avLst>
              <a:gd name="adj" fmla="val 3871"/>
            </a:avLst>
          </a:prstGeom>
          <a:solidFill>
            <a:srgbClr val="FFFFFF"/>
          </a:solidFill>
          <a:ln w="12700">
            <a:solidFill>
              <a:srgbClr val="CBD5E1"/>
            </a:solidFill>
            <a:prstDash val="solid"/>
          </a:ln>
        </p:spPr>
      </p:sp>
      <p:sp>
        <p:nvSpPr>
          <p:cNvPr id="20" name="Shape 16"/>
          <p:cNvSpPr/>
          <p:nvPr/>
        </p:nvSpPr>
        <p:spPr>
          <a:xfrm>
            <a:off x="4251960" y="4919472"/>
            <a:ext cx="3749040" cy="384048"/>
          </a:xfrm>
          <a:prstGeom prst="roundRect">
            <a:avLst>
              <a:gd name="adj" fmla="val 14286"/>
            </a:avLst>
          </a:prstGeom>
          <a:solidFill>
            <a:srgbClr val="0F766E"/>
          </a:solidFill>
          <a:ln w="12700">
            <a:solidFill>
              <a:srgbClr val="0F766E"/>
            </a:solidFill>
            <a:prstDash val="solid"/>
          </a:ln>
        </p:spPr>
      </p:sp>
      <p:sp>
        <p:nvSpPr>
          <p:cNvPr id="21" name="Text 17"/>
          <p:cNvSpPr/>
          <p:nvPr/>
        </p:nvSpPr>
        <p:spPr>
          <a:xfrm>
            <a:off x="4379976" y="4919472"/>
            <a:ext cx="349300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Ba nhánh rẽ sau bước kiểm tra</a:t>
            </a:r>
            <a:endParaRPr lang="en-US" sz="1500" dirty="0"/>
          </a:p>
        </p:txBody>
      </p:sp>
      <p:sp>
        <p:nvSpPr>
          <p:cNvPr id="22" name="Text 18"/>
          <p:cNvSpPr/>
          <p:nvPr/>
        </p:nvSpPr>
        <p:spPr>
          <a:xfrm>
            <a:off x="4379976" y="5358384"/>
            <a:ext cx="3493008" cy="90525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Đủ điều kiện (soạn giấy); Thiếu/sai (yêu cầu bổ sung, không giới hạn số vòng); Không đủ tư cách (trình lãnh đạo từ chối).</a:t>
            </a:r>
            <a:endParaRPr lang="en-US" sz="1400" dirty="0"/>
          </a:p>
        </p:txBody>
      </p:sp>
      <p:sp>
        <p:nvSpPr>
          <p:cNvPr id="23" name="Shape 19"/>
          <p:cNvSpPr/>
          <p:nvPr/>
        </p:nvSpPr>
        <p:spPr>
          <a:xfrm>
            <a:off x="8183880" y="4919472"/>
            <a:ext cx="3596335" cy="1417320"/>
          </a:xfrm>
          <a:prstGeom prst="roundRect">
            <a:avLst>
              <a:gd name="adj" fmla="val 3871"/>
            </a:avLst>
          </a:prstGeom>
          <a:solidFill>
            <a:srgbClr val="FEF3C7"/>
          </a:solidFill>
          <a:ln w="12700">
            <a:solidFill>
              <a:srgbClr val="F59E0B"/>
            </a:solidFill>
            <a:prstDash val="solid"/>
          </a:ln>
        </p:spPr>
      </p:sp>
      <p:sp>
        <p:nvSpPr>
          <p:cNvPr id="24" name="Shape 20"/>
          <p:cNvSpPr/>
          <p:nvPr/>
        </p:nvSpPr>
        <p:spPr>
          <a:xfrm>
            <a:off x="8183880" y="4919472"/>
            <a:ext cx="3596335" cy="384048"/>
          </a:xfrm>
          <a:prstGeom prst="roundRect">
            <a:avLst>
              <a:gd name="adj" fmla="val 14286"/>
            </a:avLst>
          </a:prstGeom>
          <a:solidFill>
            <a:srgbClr val="B45309"/>
          </a:solidFill>
          <a:ln w="12700">
            <a:solidFill>
              <a:srgbClr val="B45309"/>
            </a:solidFill>
            <a:prstDash val="solid"/>
          </a:ln>
        </p:spPr>
      </p:sp>
      <p:sp>
        <p:nvSpPr>
          <p:cNvPr id="25" name="Text 21"/>
          <p:cNvSpPr/>
          <p:nvPr/>
        </p:nvSpPr>
        <p:spPr>
          <a:xfrm>
            <a:off x="8311896" y="4919472"/>
            <a:ext cx="3340303"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Rà soát quá hạn thủ công</a:t>
            </a:r>
            <a:endParaRPr lang="en-US" sz="1500" dirty="0"/>
          </a:p>
        </p:txBody>
      </p:sp>
      <p:sp>
        <p:nvSpPr>
          <p:cNvPr id="26" name="Text 22"/>
          <p:cNvSpPr/>
          <p:nvPr/>
        </p:nvSpPr>
        <p:spPr>
          <a:xfrm>
            <a:off x="8311896" y="5358384"/>
            <a:ext cx="3340303" cy="90525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Hạn bổ sung là 7 ngày làm việc, nhưng chỉ rà sổ vào chiều thứ Sáu để đóng hồ sơ quá hạn.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sp>
      <p:sp>
        <p:nvSpPr>
          <p:cNvPr id="3" name="Shape 1"/>
          <p:cNvSpPr/>
          <p:nvPr/>
        </p:nvSpPr>
        <p:spPr>
          <a:xfrm>
            <a:off x="411480" y="182880"/>
            <a:ext cx="2468880" cy="310896"/>
          </a:xfrm>
          <a:prstGeom prst="roundRect">
            <a:avLst>
              <a:gd name="adj" fmla="val 14706"/>
            </a:avLst>
          </a:prstGeom>
          <a:solidFill>
            <a:srgbClr val="CCFBF1"/>
          </a:solidFill>
          <a:ln w="6350">
            <a:solidFill>
              <a:srgbClr val="0F766E"/>
            </a:solidFill>
            <a:prstDash val="solid"/>
          </a:ln>
        </p:spPr>
      </p:sp>
      <p:sp>
        <p:nvSpPr>
          <p:cNvPr id="4" name="Text 2"/>
          <p:cNvSpPr/>
          <p:nvPr/>
        </p:nvSpPr>
        <p:spPr>
          <a:xfrm>
            <a:off x="411480" y="182880"/>
            <a:ext cx="2468880" cy="310896"/>
          </a:xfrm>
          <a:prstGeom prst="rect">
            <a:avLst/>
          </a:prstGeom>
          <a:noFill/>
          <a:ln/>
        </p:spPr>
        <p:txBody>
          <a:bodyPr wrap="square" lIns="0" tIns="0" rIns="0" bIns="0" rtlCol="0" anchor="ctr"/>
          <a:lstStyle/>
          <a:p>
            <a:pPr algn="ctr" indent="0" marL="0">
              <a:buNone/>
            </a:pPr>
            <a:r>
              <a:rPr lang="en-US" sz="1400" b="1" dirty="0">
                <a:solidFill>
                  <a:srgbClr val="0F766E"/>
                </a:solidFill>
                <a:latin typeface="Arial" pitchFamily="34" charset="0"/>
                <a:ea typeface="Arial" pitchFamily="34" charset="-122"/>
                <a:cs typeface="Arial" pitchFamily="34" charset="-120"/>
              </a:rPr>
              <a:t>GIẢ THUYẾT ĐIỂM NGHẼN</a:t>
            </a:r>
            <a:endParaRPr lang="en-US" sz="1400" dirty="0"/>
          </a:p>
        </p:txBody>
      </p:sp>
      <p:sp>
        <p:nvSpPr>
          <p:cNvPr id="5" name="Text 3"/>
          <p:cNvSpPr/>
          <p:nvPr/>
        </p:nvSpPr>
        <p:spPr>
          <a:xfrm>
            <a:off x="411480" y="530352"/>
            <a:ext cx="11338560" cy="420624"/>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Bốn ứng viên điểm nghẽn &amp; Tiêu chí xác nhận trước thực nghiệm</a:t>
            </a:r>
            <a:endParaRPr lang="en-US" sz="2200" dirty="0"/>
          </a:p>
        </p:txBody>
      </p:sp>
      <p:sp>
        <p:nvSpPr>
          <p:cNvPr id="6" name="Shape 4"/>
          <p:cNvSpPr/>
          <p:nvPr/>
        </p:nvSpPr>
        <p:spPr>
          <a:xfrm>
            <a:off x="411480" y="987552"/>
            <a:ext cx="11368735" cy="438912"/>
          </a:xfrm>
          <a:prstGeom prst="roundRect">
            <a:avLst>
              <a:gd name="adj" fmla="val 10417"/>
            </a:avLst>
          </a:prstGeom>
          <a:solidFill>
            <a:srgbClr val="FFFFFF"/>
          </a:solidFill>
          <a:ln w="15240">
            <a:solidFill>
              <a:srgbClr val="0F766E"/>
            </a:solidFill>
            <a:prstDash val="solid"/>
          </a:ln>
        </p:spPr>
      </p:sp>
      <p:sp>
        <p:nvSpPr>
          <p:cNvPr id="7" name="Shape 5"/>
          <p:cNvSpPr/>
          <p:nvPr/>
        </p:nvSpPr>
        <p:spPr>
          <a:xfrm>
            <a:off x="411480" y="987552"/>
            <a:ext cx="109728" cy="438912"/>
          </a:xfrm>
          <a:prstGeom prst="rect">
            <a:avLst/>
          </a:prstGeom>
          <a:solidFill>
            <a:srgbClr val="0F766E"/>
          </a:solidFill>
          <a:ln w="12700">
            <a:solidFill>
              <a:srgbClr val="0F766E"/>
            </a:solidFill>
            <a:prstDash val="solid"/>
          </a:ln>
        </p:spPr>
      </p:sp>
      <p:sp>
        <p:nvSpPr>
          <p:cNvPr id="8" name="Text 6"/>
          <p:cNvSpPr/>
          <p:nvPr/>
        </p:nvSpPr>
        <p:spPr>
          <a:xfrm>
            <a:off x="621792" y="987552"/>
            <a:ext cx="11064240" cy="438912"/>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Thông điệp: Bốn vị trí có nguy cơ gây trễ được đặt làm giả thuyết ngang hàng để kiểm chứng khách quan bằng dữ liệu.</a:t>
            </a:r>
            <a:endParaRPr lang="en-US" sz="1400" dirty="0"/>
          </a:p>
        </p:txBody>
      </p:sp>
      <p:sp>
        <p:nvSpPr>
          <p:cNvPr id="9" name="Shape 7"/>
          <p:cNvSpPr/>
          <p:nvPr/>
        </p:nvSpPr>
        <p:spPr>
          <a:xfrm>
            <a:off x="411480" y="6473952"/>
            <a:ext cx="11368735" cy="0"/>
          </a:xfrm>
          <a:prstGeom prst="line">
            <a:avLst/>
          </a:prstGeom>
          <a:noFill/>
          <a:ln w="9525">
            <a:solidFill>
              <a:srgbClr val="CBD5E1"/>
            </a:solidFill>
            <a:prstDash val="solid"/>
          </a:ln>
        </p:spPr>
      </p:sp>
      <p:sp>
        <p:nvSpPr>
          <p:cNvPr id="10" name="Text 8"/>
          <p:cNvSpPr/>
          <p:nvPr/>
        </p:nvSpPr>
        <p:spPr>
          <a:xfrm>
            <a:off x="411480" y="6510528"/>
            <a:ext cx="8686800" cy="274320"/>
          </a:xfrm>
          <a:prstGeom prst="rect">
            <a:avLst/>
          </a:prstGeom>
          <a:noFill/>
          <a:ln/>
        </p:spPr>
        <p:txBody>
          <a:bodyPr wrap="square" lIns="0" tIns="0" rIns="0" bIns="0" rtlCol="0" anchor="ctr"/>
          <a:lstStyle/>
          <a:p>
            <a:pPr indent="0" marL="0">
              <a:buNone/>
            </a:pPr>
            <a:r>
              <a:rPr lang="en-US" sz="1400" dirty="0">
                <a:solidFill>
                  <a:srgbClr val="475569"/>
                </a:solidFill>
                <a:latin typeface="Arial" pitchFamily="34" charset="0"/>
                <a:ea typeface="Arial" pitchFamily="34" charset="-122"/>
                <a:cs typeface="Arial" pitchFamily="34" charset="-120"/>
              </a:rPr>
              <a:t>Cấp giấy xác nhận sinh viên – Trường Cao đẳng Y Dược (Prototype học thuật)</a:t>
            </a:r>
            <a:endParaRPr lang="en-US" sz="1400" dirty="0"/>
          </a:p>
        </p:txBody>
      </p:sp>
      <p:sp>
        <p:nvSpPr>
          <p:cNvPr id="11" name="Text 9"/>
          <p:cNvSpPr/>
          <p:nvPr/>
        </p:nvSpPr>
        <p:spPr>
          <a:xfrm>
            <a:off x="9601200" y="6510528"/>
            <a:ext cx="2179015" cy="274320"/>
          </a:xfrm>
          <a:prstGeom prst="rect">
            <a:avLst/>
          </a:prstGeom>
          <a:noFill/>
          <a:ln/>
        </p:spPr>
        <p:txBody>
          <a:bodyPr wrap="square" lIns="0" tIns="0" rIns="0" bIns="0" rtlCol="0" anchor="ctr"/>
          <a:lstStyle/>
          <a:p>
            <a:pPr algn="r" indent="0" marL="0">
              <a:buNone/>
            </a:pPr>
            <a:r>
              <a:rPr lang="en-US" sz="1400" b="1" dirty="0">
                <a:solidFill>
                  <a:srgbClr val="0F766E"/>
                </a:solidFill>
                <a:latin typeface="Arial" pitchFamily="34" charset="0"/>
                <a:ea typeface="Arial" pitchFamily="34" charset="-122"/>
                <a:cs typeface="Arial" pitchFamily="34" charset="-120"/>
              </a:rPr>
              <a:t>Slide 5/14</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536192"/>
          <a:ext cx="11368735" cy="914400"/>
        </p:xfrm>
        <a:graphic>
          <a:graphicData uri="http://schemas.openxmlformats.org/drawingml/2006/table">
            <a:tbl>
              <a:tblPr/>
              <a:tblGrid>
                <a:gridCol w="1600200"/>
                <a:gridCol w="2971800"/>
                <a:gridCol w="3520440"/>
                <a:gridCol w="3276295"/>
              </a:tblGrid>
              <a:tr h="384048">
                <a:tc>
                  <a:txBody>
                    <a:bodyPr/>
                    <a:lstStyle/>
                    <a:p>
                      <a:pPr indent="0" marL="0">
                        <a:buNone/>
                      </a:pPr>
                      <a:r>
                        <a:rPr lang="en-US" sz="1400" b="1" dirty="0">
                          <a:solidFill>
                            <a:srgbClr val="FFFFFF"/>
                          </a:solidFill>
                          <a:latin typeface="Arial" pitchFamily="34" charset="0"/>
                          <a:ea typeface="Arial" pitchFamily="34" charset="-122"/>
                          <a:cs typeface="Arial" pitchFamily="34" charset="-120"/>
                        </a:rPr>
                        <a:t>Giả thuyết</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Vị trí trên quy trình</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Nguyên nhân giả định</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Ảnh hưởng tới tiến độ</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r>
              <a:tr h="566928">
                <a:tc>
                  <a:txBody>
                    <a:bodyPr/>
                    <a:lstStyle/>
                    <a:p>
                      <a:pPr indent="0" marL="0">
                        <a:buNone/>
                      </a:pPr>
                      <a:r>
                        <a:rPr lang="en-US" sz="1400" b="1" dirty="0">
                          <a:solidFill>
                            <a:srgbClr val="B91C1C"/>
                          </a:solidFill>
                          <a:latin typeface="Arial" pitchFamily="34" charset="0"/>
                          <a:ea typeface="Arial" pitchFamily="34" charset="-122"/>
                          <a:cs typeface="Arial" pitchFamily="34" charset="-120"/>
                        </a:rPr>
                        <a:t>Ứng viên H1</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E293B"/>
                          </a:solidFill>
                          <a:latin typeface="Arial" pitchFamily="34" charset="0"/>
                          <a:ea typeface="Arial" pitchFamily="34" charset="-122"/>
                          <a:cs typeface="Arial" pitchFamily="34" charset="-120"/>
                        </a:rPr>
                        <a:t>Chờ trình ký (Soạn giấy → Duyệt ký)</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Trình ký theo lô, lãnh đạo bận/vắng</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Kéo dài T_trường, sinh viên hỏi lại nhiều lần</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B45309"/>
                          </a:solidFill>
                          <a:latin typeface="Arial" pitchFamily="34" charset="0"/>
                          <a:ea typeface="Arial" pitchFamily="34" charset="-122"/>
                          <a:cs typeface="Arial" pitchFamily="34" charset="-120"/>
                        </a:rPr>
                        <a:t>Ứng viên H2</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b="1" dirty="0">
                          <a:solidFill>
                            <a:srgbClr val="1E293B"/>
                          </a:solidFill>
                          <a:latin typeface="Arial" pitchFamily="34" charset="0"/>
                          <a:ea typeface="Arial" pitchFamily="34" charset="-122"/>
                          <a:cs typeface="Arial" pitchFamily="34" charset="-120"/>
                        </a:rPr>
                        <a:t>Vòng lặp yêu cầu bổ sung hồ sơ</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Biểu mẫu chưa nêu rõ mục cần nộp; báo thiếu mơ hồ</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Phát sinh làm lại nhiều vòng, tăng tỷ lệ đóng quá hạn</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r h="566928">
                <a:tc>
                  <a:txBody>
                    <a:bodyPr/>
                    <a:lstStyle/>
                    <a:p>
                      <a:pPr indent="0" marL="0">
                        <a:buNone/>
                      </a:pPr>
                      <a:r>
                        <a:rPr lang="en-US" sz="1400" b="1" dirty="0">
                          <a:solidFill>
                            <a:srgbClr val="B45309"/>
                          </a:solidFill>
                          <a:latin typeface="Arial" pitchFamily="34" charset="0"/>
                          <a:ea typeface="Arial" pitchFamily="34" charset="-122"/>
                          <a:cs typeface="Arial" pitchFamily="34" charset="-120"/>
                        </a:rPr>
                        <a:t>Ứng viên H3</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E293B"/>
                          </a:solidFill>
                          <a:latin typeface="Arial" pitchFamily="34" charset="0"/>
                          <a:ea typeface="Arial" pitchFamily="34" charset="-122"/>
                          <a:cs typeface="Arial" pitchFamily="34" charset="-120"/>
                        </a:rPr>
                        <a:t>Chờ kiểm tra đầu vào (Tiếp nhận → Kiểm tra)</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1 cán bộ tiếp nhận kiêm nhiệm, tra cứu thủ công</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Tồn đọng hồ sơ đầu vào, tăng tuổi hồ sơ đang xử lý</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B45309"/>
                          </a:solidFill>
                          <a:latin typeface="Arial" pitchFamily="34" charset="0"/>
                          <a:ea typeface="Arial" pitchFamily="34" charset="-122"/>
                          <a:cs typeface="Arial" pitchFamily="34" charset="-120"/>
                        </a:rPr>
                        <a:t>Ứng viên H4</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b="1" dirty="0">
                          <a:solidFill>
                            <a:srgbClr val="1E293B"/>
                          </a:solidFill>
                          <a:latin typeface="Arial" pitchFamily="34" charset="0"/>
                          <a:ea typeface="Arial" pitchFamily="34" charset="-122"/>
                          <a:cs typeface="Arial" pitchFamily="34" charset="-120"/>
                        </a:rPr>
                        <a:t>Chờ chuyển đóng dấu (Duyệt ký → Văn thư)</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Giấy đã ký chờ gom chuyển theo lô sang văn thư</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Tăng T_trường âm thầm trước khi báo cho sinh viên</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bl>
          </a:graphicData>
        </a:graphic>
      </p:graphicFrame>
      <p:sp>
        <p:nvSpPr>
          <p:cNvPr id="14" name="Shape 10"/>
          <p:cNvSpPr/>
          <p:nvPr/>
        </p:nvSpPr>
        <p:spPr>
          <a:xfrm>
            <a:off x="411480" y="4407408"/>
            <a:ext cx="7040880" cy="1920240"/>
          </a:xfrm>
          <a:prstGeom prst="roundRect">
            <a:avLst>
              <a:gd name="adj" fmla="val 2857"/>
            </a:avLst>
          </a:prstGeom>
          <a:solidFill>
            <a:srgbClr val="F0FDFA"/>
          </a:solidFill>
          <a:ln w="12700">
            <a:solidFill>
              <a:srgbClr val="0F766E"/>
            </a:solidFill>
            <a:prstDash val="solid"/>
          </a:ln>
        </p:spPr>
      </p:sp>
      <p:sp>
        <p:nvSpPr>
          <p:cNvPr id="15" name="Shape 11"/>
          <p:cNvSpPr/>
          <p:nvPr/>
        </p:nvSpPr>
        <p:spPr>
          <a:xfrm>
            <a:off x="411480" y="4407408"/>
            <a:ext cx="7040880" cy="384048"/>
          </a:xfrm>
          <a:prstGeom prst="roundRect">
            <a:avLst>
              <a:gd name="adj" fmla="val 14286"/>
            </a:avLst>
          </a:prstGeom>
          <a:solidFill>
            <a:srgbClr val="0F766E"/>
          </a:solidFill>
          <a:ln w="12700">
            <a:solidFill>
              <a:srgbClr val="0F766E"/>
            </a:solidFill>
            <a:prstDash val="solid"/>
          </a:ln>
        </p:spPr>
      </p:sp>
      <p:sp>
        <p:nvSpPr>
          <p:cNvPr id="16" name="Text 12"/>
          <p:cNvSpPr/>
          <p:nvPr/>
        </p:nvSpPr>
        <p:spPr>
          <a:xfrm>
            <a:off x="539496" y="4407408"/>
            <a:ext cx="678484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Tiêu chí xác nhận điểm nghẽn (Công bố trước khi sinh dữ liệu)</a:t>
            </a:r>
            <a:endParaRPr lang="en-US" sz="1500" dirty="0"/>
          </a:p>
        </p:txBody>
      </p:sp>
      <p:sp>
        <p:nvSpPr>
          <p:cNvPr id="17" name="Text 13"/>
          <p:cNvSpPr/>
          <p:nvPr/>
        </p:nvSpPr>
        <p:spPr>
          <a:xfrm>
            <a:off x="539496" y="4846320"/>
            <a:ext cx="6784848" cy="140817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(a) Trung vị thời gian chờ thuộc nhóm 3 bước chuyển tiếp cao nhất.</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(b) Từ 50% số ca trở lên vượt ngưỡng (1 ngày làm việc = 450 phút); đối chiếu P90.</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(c) Có bằng chứng nguyên nhân (lịch ký, cỡ lô, mã lý do) &amp; chỉ tính giờ làm việc.</a:t>
            </a:r>
            <a:endParaRPr lang="en-US" sz="1400" dirty="0"/>
          </a:p>
        </p:txBody>
      </p:sp>
      <p:sp>
        <p:nvSpPr>
          <p:cNvPr id="18" name="Shape 14"/>
          <p:cNvSpPr/>
          <p:nvPr/>
        </p:nvSpPr>
        <p:spPr>
          <a:xfrm>
            <a:off x="7635240" y="4407408"/>
            <a:ext cx="4144975" cy="1920240"/>
          </a:xfrm>
          <a:prstGeom prst="roundRect">
            <a:avLst>
              <a:gd name="adj" fmla="val 2857"/>
            </a:avLst>
          </a:prstGeom>
          <a:solidFill>
            <a:srgbClr val="FFFFFF"/>
          </a:solidFill>
          <a:ln w="12700">
            <a:solidFill>
              <a:srgbClr val="CBD5E1"/>
            </a:solidFill>
            <a:prstDash val="solid"/>
          </a:ln>
        </p:spPr>
      </p:sp>
      <p:sp>
        <p:nvSpPr>
          <p:cNvPr id="19" name="Shape 15"/>
          <p:cNvSpPr/>
          <p:nvPr/>
        </p:nvSpPr>
        <p:spPr>
          <a:xfrm>
            <a:off x="7635240" y="4407408"/>
            <a:ext cx="4144975" cy="384048"/>
          </a:xfrm>
          <a:prstGeom prst="roundRect">
            <a:avLst>
              <a:gd name="adj" fmla="val 14286"/>
            </a:avLst>
          </a:prstGeom>
          <a:solidFill>
            <a:srgbClr val="0F172A"/>
          </a:solidFill>
          <a:ln w="12700">
            <a:solidFill>
              <a:srgbClr val="0F172A"/>
            </a:solidFill>
            <a:prstDash val="solid"/>
          </a:ln>
        </p:spPr>
      </p:sp>
      <p:sp>
        <p:nvSpPr>
          <p:cNvPr id="20" name="Text 16"/>
          <p:cNvSpPr/>
          <p:nvPr/>
        </p:nvSpPr>
        <p:spPr>
          <a:xfrm>
            <a:off x="7763256" y="4407408"/>
            <a:ext cx="3888943"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Lưu ý loại trừ sai lệch phép đo</a:t>
            </a:r>
            <a:endParaRPr lang="en-US" sz="1500" dirty="0"/>
          </a:p>
        </p:txBody>
      </p:sp>
      <p:sp>
        <p:nvSpPr>
          <p:cNvPr id="21" name="Text 17"/>
          <p:cNvSpPr/>
          <p:nvPr/>
        </p:nvSpPr>
        <p:spPr>
          <a:xfrm>
            <a:off x="7763256" y="4846320"/>
            <a:ext cx="3888943" cy="140817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Chờ dài chỉ do nghỉ trưa hoặc cuối tuần không được tính là nghẽn.</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Đoạn "Báo có giấy → SV nhận giấy" chỉ dùng để tách T_SV, không phải nghẽn của trường.</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sp>
      <p:sp>
        <p:nvSpPr>
          <p:cNvPr id="3" name="Shape 1"/>
          <p:cNvSpPr/>
          <p:nvPr/>
        </p:nvSpPr>
        <p:spPr>
          <a:xfrm>
            <a:off x="411480" y="182880"/>
            <a:ext cx="2468880" cy="310896"/>
          </a:xfrm>
          <a:prstGeom prst="roundRect">
            <a:avLst>
              <a:gd name="adj" fmla="val 14706"/>
            </a:avLst>
          </a:prstGeom>
          <a:solidFill>
            <a:srgbClr val="CCFBF1"/>
          </a:solidFill>
          <a:ln w="6350">
            <a:solidFill>
              <a:srgbClr val="0F766E"/>
            </a:solidFill>
            <a:prstDash val="solid"/>
          </a:ln>
        </p:spPr>
      </p:sp>
      <p:sp>
        <p:nvSpPr>
          <p:cNvPr id="4" name="Text 2"/>
          <p:cNvSpPr/>
          <p:nvPr/>
        </p:nvSpPr>
        <p:spPr>
          <a:xfrm>
            <a:off x="411480" y="182880"/>
            <a:ext cx="2468880" cy="310896"/>
          </a:xfrm>
          <a:prstGeom prst="rect">
            <a:avLst/>
          </a:prstGeom>
          <a:noFill/>
          <a:ln/>
        </p:spPr>
        <p:txBody>
          <a:bodyPr wrap="square" lIns="0" tIns="0" rIns="0" bIns="0" rtlCol="0" anchor="ctr"/>
          <a:lstStyle/>
          <a:p>
            <a:pPr algn="ctr" indent="0" marL="0">
              <a:buNone/>
            </a:pPr>
            <a:r>
              <a:rPr lang="en-US" sz="1400" b="1" dirty="0">
                <a:solidFill>
                  <a:srgbClr val="0F766E"/>
                </a:solidFill>
                <a:latin typeface="Arial" pitchFamily="34" charset="0"/>
                <a:ea typeface="Arial" pitchFamily="34" charset="-122"/>
                <a:cs typeface="Arial" pitchFamily="34" charset="-120"/>
              </a:rPr>
              <a:t>THIẾT KẾ MÔ PHỎNG</a:t>
            </a:r>
            <a:endParaRPr lang="en-US" sz="1400" dirty="0"/>
          </a:p>
        </p:txBody>
      </p:sp>
      <p:sp>
        <p:nvSpPr>
          <p:cNvPr id="5" name="Shape 3"/>
          <p:cNvSpPr/>
          <p:nvPr/>
        </p:nvSpPr>
        <p:spPr>
          <a:xfrm>
            <a:off x="9448495" y="182880"/>
            <a:ext cx="2331720" cy="347472"/>
          </a:xfrm>
          <a:prstGeom prst="roundRect">
            <a:avLst>
              <a:gd name="adj" fmla="val 15789"/>
            </a:avLst>
          </a:prstGeom>
          <a:solidFill>
            <a:srgbClr val="FEF3C7"/>
          </a:solidFill>
          <a:ln w="19050">
            <a:solidFill>
              <a:srgbClr val="F59E0B"/>
            </a:solidFill>
            <a:prstDash val="solid"/>
          </a:ln>
        </p:spPr>
      </p:sp>
      <p:sp>
        <p:nvSpPr>
          <p:cNvPr id="6" name="Text 4"/>
          <p:cNvSpPr/>
          <p:nvPr/>
        </p:nvSpPr>
        <p:spPr>
          <a:xfrm>
            <a:off x="9448495" y="182880"/>
            <a:ext cx="2331720" cy="347472"/>
          </a:xfrm>
          <a:prstGeom prst="rect">
            <a:avLst/>
          </a:prstGeom>
          <a:noFill/>
          <a:ln/>
        </p:spPr>
        <p:txBody>
          <a:bodyPr wrap="square" lIns="0" tIns="0" rIns="0" bIns="0" rtlCol="0" anchor="ctr"/>
          <a:lstStyle/>
          <a:p>
            <a:pPr algn="ctr" indent="0" marL="0">
              <a:buNone/>
            </a:pPr>
            <a:r>
              <a:rPr lang="en-US" sz="1400" b="1" dirty="0">
                <a:solidFill>
                  <a:srgbClr val="B45309"/>
                </a:solidFill>
                <a:latin typeface="Arial" pitchFamily="34" charset="0"/>
                <a:ea typeface="Arial" pitchFamily="34" charset="-122"/>
                <a:cs typeface="Arial" pitchFamily="34" charset="-120"/>
              </a:rPr>
              <a:t>Dữ liệu mô phỏng</a:t>
            </a:r>
            <a:endParaRPr lang="en-US" sz="1400" dirty="0"/>
          </a:p>
        </p:txBody>
      </p:sp>
      <p:sp>
        <p:nvSpPr>
          <p:cNvPr id="7" name="Text 5"/>
          <p:cNvSpPr/>
          <p:nvPr/>
        </p:nvSpPr>
        <p:spPr>
          <a:xfrm>
            <a:off x="411480" y="530352"/>
            <a:ext cx="8503920" cy="420624"/>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Thiết kế dữ liệu mô phỏng ghép cặp (Common Random Numbers)</a:t>
            </a:r>
            <a:endParaRPr lang="en-US" sz="2200" dirty="0"/>
          </a:p>
        </p:txBody>
      </p:sp>
      <p:sp>
        <p:nvSpPr>
          <p:cNvPr id="8" name="Shape 6"/>
          <p:cNvSpPr/>
          <p:nvPr/>
        </p:nvSpPr>
        <p:spPr>
          <a:xfrm>
            <a:off x="411480" y="987552"/>
            <a:ext cx="11368735" cy="438912"/>
          </a:xfrm>
          <a:prstGeom prst="roundRect">
            <a:avLst>
              <a:gd name="adj" fmla="val 10417"/>
            </a:avLst>
          </a:prstGeom>
          <a:solidFill>
            <a:srgbClr val="FFFFFF"/>
          </a:solidFill>
          <a:ln w="15240">
            <a:solidFill>
              <a:srgbClr val="0F766E"/>
            </a:solidFill>
            <a:prstDash val="solid"/>
          </a:ln>
        </p:spPr>
      </p:sp>
      <p:sp>
        <p:nvSpPr>
          <p:cNvPr id="9" name="Shape 7"/>
          <p:cNvSpPr/>
          <p:nvPr/>
        </p:nvSpPr>
        <p:spPr>
          <a:xfrm>
            <a:off x="411480" y="987552"/>
            <a:ext cx="109728" cy="438912"/>
          </a:xfrm>
          <a:prstGeom prst="rect">
            <a:avLst/>
          </a:prstGeom>
          <a:solidFill>
            <a:srgbClr val="0F766E"/>
          </a:solidFill>
          <a:ln w="12700">
            <a:solidFill>
              <a:srgbClr val="0F766E"/>
            </a:solidFill>
            <a:prstDash val="solid"/>
          </a:ln>
        </p:spPr>
      </p:sp>
      <p:sp>
        <p:nvSpPr>
          <p:cNvPr id="10" name="Text 8"/>
          <p:cNvSpPr/>
          <p:nvPr/>
        </p:nvSpPr>
        <p:spPr>
          <a:xfrm>
            <a:off x="621792" y="987552"/>
            <a:ext cx="11064240" cy="438912"/>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Thông điệp: Các kịch bản hiện tại và đề xuất được mô phỏng trên cùng cơ sở ngẫu nhiên để so sánh công bằng.</a:t>
            </a:r>
            <a:endParaRPr lang="en-US" sz="1400" dirty="0"/>
          </a:p>
        </p:txBody>
      </p:sp>
      <p:sp>
        <p:nvSpPr>
          <p:cNvPr id="11" name="Shape 9"/>
          <p:cNvSpPr/>
          <p:nvPr/>
        </p:nvSpPr>
        <p:spPr>
          <a:xfrm>
            <a:off x="411480" y="6473952"/>
            <a:ext cx="11368735" cy="0"/>
          </a:xfrm>
          <a:prstGeom prst="line">
            <a:avLst/>
          </a:prstGeom>
          <a:noFill/>
          <a:ln w="9525">
            <a:solidFill>
              <a:srgbClr val="CBD5E1"/>
            </a:solidFill>
            <a:prstDash val="solid"/>
          </a:ln>
        </p:spPr>
      </p:sp>
      <p:sp>
        <p:nvSpPr>
          <p:cNvPr id="12" name="Text 10"/>
          <p:cNvSpPr/>
          <p:nvPr/>
        </p:nvSpPr>
        <p:spPr>
          <a:xfrm>
            <a:off x="411480" y="6510528"/>
            <a:ext cx="8686800" cy="274320"/>
          </a:xfrm>
          <a:prstGeom prst="rect">
            <a:avLst/>
          </a:prstGeom>
          <a:noFill/>
          <a:ln/>
        </p:spPr>
        <p:txBody>
          <a:bodyPr wrap="square" lIns="0" tIns="0" rIns="0" bIns="0" rtlCol="0" anchor="ctr"/>
          <a:lstStyle/>
          <a:p>
            <a:pPr indent="0" marL="0">
              <a:buNone/>
            </a:pPr>
            <a:r>
              <a:rPr lang="en-US" sz="1400" dirty="0">
                <a:solidFill>
                  <a:srgbClr val="475569"/>
                </a:solidFill>
                <a:latin typeface="Arial" pitchFamily="34" charset="0"/>
                <a:ea typeface="Arial" pitchFamily="34" charset="-122"/>
                <a:cs typeface="Arial" pitchFamily="34" charset="-120"/>
              </a:rPr>
              <a:t>Cấp giấy xác nhận sinh viên – Trường Cao đẳng Y Dược (Prototype học thuật)</a:t>
            </a:r>
            <a:endParaRPr lang="en-US" sz="1400" dirty="0"/>
          </a:p>
        </p:txBody>
      </p:sp>
      <p:sp>
        <p:nvSpPr>
          <p:cNvPr id="13" name="Text 11"/>
          <p:cNvSpPr/>
          <p:nvPr/>
        </p:nvSpPr>
        <p:spPr>
          <a:xfrm>
            <a:off x="9601200" y="6510528"/>
            <a:ext cx="2179015" cy="274320"/>
          </a:xfrm>
          <a:prstGeom prst="rect">
            <a:avLst/>
          </a:prstGeom>
          <a:noFill/>
          <a:ln/>
        </p:spPr>
        <p:txBody>
          <a:bodyPr wrap="square" lIns="0" tIns="0" rIns="0" bIns="0" rtlCol="0" anchor="ctr"/>
          <a:lstStyle/>
          <a:p>
            <a:pPr algn="r" indent="0" marL="0">
              <a:buNone/>
            </a:pPr>
            <a:r>
              <a:rPr lang="en-US" sz="1400" b="1" dirty="0">
                <a:solidFill>
                  <a:srgbClr val="0F766E"/>
                </a:solidFill>
                <a:latin typeface="Arial" pitchFamily="34" charset="0"/>
                <a:ea typeface="Arial" pitchFamily="34" charset="-122"/>
                <a:cs typeface="Arial" pitchFamily="34" charset="-120"/>
              </a:rPr>
              <a:t>Slide 6/14</a:t>
            </a:r>
            <a:endParaRPr lang="en-US" sz="1400" dirty="0"/>
          </a:p>
        </p:txBody>
      </p:sp>
      <p:sp>
        <p:nvSpPr>
          <p:cNvPr id="15" name="Shape 12"/>
          <p:cNvSpPr/>
          <p:nvPr/>
        </p:nvSpPr>
        <p:spPr>
          <a:xfrm>
            <a:off x="411480" y="1536192"/>
            <a:ext cx="3666744" cy="960120"/>
          </a:xfrm>
          <a:prstGeom prst="roundRect">
            <a:avLst>
              <a:gd name="adj" fmla="val 5714"/>
            </a:avLst>
          </a:prstGeom>
          <a:solidFill>
            <a:srgbClr val="FFFFFF"/>
          </a:solidFill>
          <a:ln w="19050">
            <a:solidFill>
              <a:srgbClr val="0F766E"/>
            </a:solidFill>
            <a:prstDash val="solid"/>
          </a:ln>
        </p:spPr>
      </p:sp>
      <p:sp>
        <p:nvSpPr>
          <p:cNvPr id="16" name="Text 13"/>
          <p:cNvSpPr/>
          <p:nvPr/>
        </p:nvSpPr>
        <p:spPr>
          <a:xfrm>
            <a:off x="548640" y="1609344"/>
            <a:ext cx="3383280" cy="411480"/>
          </a:xfrm>
          <a:prstGeom prst="rect">
            <a:avLst/>
          </a:prstGeom>
          <a:noFill/>
          <a:ln/>
        </p:spPr>
        <p:txBody>
          <a:bodyPr wrap="square" lIns="0" tIns="0" rIns="0" bIns="0" rtlCol="0" anchor="ctr"/>
          <a:lstStyle/>
          <a:p>
            <a:pPr algn="ctr" indent="0" marL="0">
              <a:buNone/>
            </a:pPr>
            <a:r>
              <a:rPr lang="en-US" sz="2000" b="1" dirty="0">
                <a:solidFill>
                  <a:srgbClr val="0F766E"/>
                </a:solidFill>
                <a:latin typeface="Arial" pitchFamily="34" charset="0"/>
                <a:ea typeface="Arial" pitchFamily="34" charset="-122"/>
                <a:cs typeface="Arial" pitchFamily="34" charset="-120"/>
              </a:rPr>
              <a:t>400 hồ sơ / kịch bản</a:t>
            </a:r>
            <a:endParaRPr lang="en-US" sz="2000" dirty="0"/>
          </a:p>
        </p:txBody>
      </p:sp>
      <p:sp>
        <p:nvSpPr>
          <p:cNvPr id="17" name="Text 14"/>
          <p:cNvSpPr/>
          <p:nvPr/>
        </p:nvSpPr>
        <p:spPr>
          <a:xfrm>
            <a:off x="548640" y="2029968"/>
            <a:ext cx="3383280" cy="365760"/>
          </a:xfrm>
          <a:prstGeom prst="rect">
            <a:avLst/>
          </a:prstGeom>
          <a:noFill/>
          <a:ln/>
        </p:spPr>
        <p:txBody>
          <a:bodyPr wrap="square" lIns="0" tIns="0" rIns="0" bIns="0" rtlCol="0" anchor="ctr"/>
          <a:lstStyle/>
          <a:p>
            <a:pPr algn="ctr" indent="0" marL="0">
              <a:buNone/>
            </a:pPr>
            <a:r>
              <a:rPr lang="en-US" sz="1400" dirty="0">
                <a:solidFill>
                  <a:srgbClr val="475569"/>
                </a:solidFill>
                <a:latin typeface="Arial" pitchFamily="34" charset="0"/>
                <a:ea typeface="Arial" pitchFamily="34" charset="-122"/>
                <a:cs typeface="Arial" pitchFamily="34" charset="-120"/>
              </a:rPr>
              <a:t>12 tuần nhận đơn + 8 tuần xả hàng tồn</a:t>
            </a:r>
            <a:endParaRPr lang="en-US" sz="1400" dirty="0"/>
          </a:p>
        </p:txBody>
      </p:sp>
      <p:sp>
        <p:nvSpPr>
          <p:cNvPr id="18" name="Shape 15"/>
          <p:cNvSpPr/>
          <p:nvPr/>
        </p:nvSpPr>
        <p:spPr>
          <a:xfrm>
            <a:off x="4261104" y="1536192"/>
            <a:ext cx="3666744" cy="960120"/>
          </a:xfrm>
          <a:prstGeom prst="roundRect">
            <a:avLst>
              <a:gd name="adj" fmla="val 5714"/>
            </a:avLst>
          </a:prstGeom>
          <a:solidFill>
            <a:srgbClr val="FFFFFF"/>
          </a:solidFill>
          <a:ln w="19050">
            <a:solidFill>
              <a:srgbClr val="1D4ED8"/>
            </a:solidFill>
            <a:prstDash val="solid"/>
          </a:ln>
        </p:spPr>
      </p:sp>
      <p:sp>
        <p:nvSpPr>
          <p:cNvPr id="19" name="Text 16"/>
          <p:cNvSpPr/>
          <p:nvPr/>
        </p:nvSpPr>
        <p:spPr>
          <a:xfrm>
            <a:off x="4398264" y="1609344"/>
            <a:ext cx="3383280" cy="411480"/>
          </a:xfrm>
          <a:prstGeom prst="rect">
            <a:avLst/>
          </a:prstGeom>
          <a:noFill/>
          <a:ln/>
        </p:spPr>
        <p:txBody>
          <a:bodyPr wrap="square" lIns="0" tIns="0" rIns="0" bIns="0" rtlCol="0" anchor="ctr"/>
          <a:lstStyle/>
          <a:p>
            <a:pPr algn="ctr" indent="0" marL="0">
              <a:buNone/>
            </a:pPr>
            <a:r>
              <a:rPr lang="en-US" sz="2000" b="1" dirty="0">
                <a:solidFill>
                  <a:srgbClr val="1D4ED8"/>
                </a:solidFill>
                <a:latin typeface="Arial" pitchFamily="34" charset="0"/>
                <a:ea typeface="Arial" pitchFamily="34" charset="-122"/>
                <a:cs typeface="Arial" pitchFamily="34" charset="-120"/>
              </a:rPr>
              <a:t>20 Seed độc lập</a:t>
            </a:r>
            <a:endParaRPr lang="en-US" sz="2000" dirty="0"/>
          </a:p>
        </p:txBody>
      </p:sp>
      <p:sp>
        <p:nvSpPr>
          <p:cNvPr id="20" name="Text 17"/>
          <p:cNvSpPr/>
          <p:nvPr/>
        </p:nvSpPr>
        <p:spPr>
          <a:xfrm>
            <a:off x="4398264" y="2029968"/>
            <a:ext cx="3383280" cy="365760"/>
          </a:xfrm>
          <a:prstGeom prst="rect">
            <a:avLst/>
          </a:prstGeom>
          <a:noFill/>
          <a:ln/>
        </p:spPr>
        <p:txBody>
          <a:bodyPr wrap="square" lIns="0" tIns="0" rIns="0" bIns="0" rtlCol="0" anchor="ctr"/>
          <a:lstStyle/>
          <a:p>
            <a:pPr algn="ctr" indent="0" marL="0">
              <a:buNone/>
            </a:pPr>
            <a:r>
              <a:rPr lang="en-US" sz="1400" dirty="0">
                <a:solidFill>
                  <a:srgbClr val="475569"/>
                </a:solidFill>
                <a:latin typeface="Arial" pitchFamily="34" charset="0"/>
                <a:ea typeface="Arial" pitchFamily="34" charset="-122"/>
                <a:cs typeface="Arial" pitchFamily="34" charset="-120"/>
              </a:rPr>
              <a:t>Ghép cặp từng hồ sơ cùng luồng ngẫu nhiên</a:t>
            </a:r>
            <a:endParaRPr lang="en-US" sz="1400" dirty="0"/>
          </a:p>
        </p:txBody>
      </p:sp>
      <p:sp>
        <p:nvSpPr>
          <p:cNvPr id="21" name="Shape 18"/>
          <p:cNvSpPr/>
          <p:nvPr/>
        </p:nvSpPr>
        <p:spPr>
          <a:xfrm>
            <a:off x="8110728" y="1536192"/>
            <a:ext cx="3666744" cy="960120"/>
          </a:xfrm>
          <a:prstGeom prst="roundRect">
            <a:avLst>
              <a:gd name="adj" fmla="val 5714"/>
            </a:avLst>
          </a:prstGeom>
          <a:solidFill>
            <a:srgbClr val="FFFFFF"/>
          </a:solidFill>
          <a:ln w="19050">
            <a:solidFill>
              <a:srgbClr val="0F172A"/>
            </a:solidFill>
            <a:prstDash val="solid"/>
          </a:ln>
        </p:spPr>
      </p:sp>
      <p:sp>
        <p:nvSpPr>
          <p:cNvPr id="22" name="Text 19"/>
          <p:cNvSpPr/>
          <p:nvPr/>
        </p:nvSpPr>
        <p:spPr>
          <a:xfrm>
            <a:off x="8247888" y="1609344"/>
            <a:ext cx="3383280" cy="411480"/>
          </a:xfrm>
          <a:prstGeom prst="rect">
            <a:avLst/>
          </a:prstGeom>
          <a:noFill/>
          <a:ln/>
        </p:spPr>
        <p:txBody>
          <a:bodyPr wrap="square" lIns="0" tIns="0" rIns="0" bIns="0" rtlCol="0" anchor="ctr"/>
          <a:lstStyle/>
          <a:p>
            <a:pPr algn="ctr" indent="0" marL="0">
              <a:buNone/>
            </a:pPr>
            <a:r>
              <a:rPr lang="en-US" sz="2000" b="1" dirty="0">
                <a:solidFill>
                  <a:srgbClr val="0F172A"/>
                </a:solidFill>
                <a:latin typeface="Arial" pitchFamily="34" charset="0"/>
                <a:ea typeface="Arial" pitchFamily="34" charset="-122"/>
                <a:cs typeface="Arial" pitchFamily="34" charset="-120"/>
              </a:rPr>
              <a:t>450 phút / ngày LV</a:t>
            </a:r>
            <a:endParaRPr lang="en-US" sz="2000" dirty="0"/>
          </a:p>
        </p:txBody>
      </p:sp>
      <p:sp>
        <p:nvSpPr>
          <p:cNvPr id="23" name="Text 20"/>
          <p:cNvSpPr/>
          <p:nvPr/>
        </p:nvSpPr>
        <p:spPr>
          <a:xfrm>
            <a:off x="8247888" y="2029968"/>
            <a:ext cx="3383280" cy="365760"/>
          </a:xfrm>
          <a:prstGeom prst="rect">
            <a:avLst/>
          </a:prstGeom>
          <a:noFill/>
          <a:ln/>
        </p:spPr>
        <p:txBody>
          <a:bodyPr wrap="square" lIns="0" tIns="0" rIns="0" bIns="0" rtlCol="0" anchor="ctr"/>
          <a:lstStyle/>
          <a:p>
            <a:pPr algn="ctr" indent="0" marL="0">
              <a:buNone/>
            </a:pPr>
            <a:r>
              <a:rPr lang="en-US" sz="1400" dirty="0">
                <a:solidFill>
                  <a:srgbClr val="475569"/>
                </a:solidFill>
                <a:latin typeface="Arial" pitchFamily="34" charset="0"/>
                <a:ea typeface="Arial" pitchFamily="34" charset="-122"/>
                <a:cs typeface="Arial" pitchFamily="34" charset="-120"/>
              </a:rPr>
              <a:t>Thứ Hai – Thứ Sáu (07:30–11:30, 13:30–17:00)</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2651760"/>
          <a:ext cx="11368735" cy="914400"/>
        </p:xfrm>
        <a:graphic>
          <a:graphicData uri="http://schemas.openxmlformats.org/drawingml/2006/table">
            <a:tbl>
              <a:tblPr/>
              <a:tblGrid>
                <a:gridCol w="2468880"/>
                <a:gridCol w="4297680"/>
                <a:gridCol w="4602175"/>
              </a:tblGrid>
              <a:tr h="384048">
                <a:tc>
                  <a:txBody>
                    <a:bodyPr/>
                    <a:lstStyle/>
                    <a:p>
                      <a:pPr indent="0" marL="0">
                        <a:buNone/>
                      </a:pPr>
                      <a:r>
                        <a:rPr lang="en-US" sz="1400" b="1" dirty="0">
                          <a:solidFill>
                            <a:srgbClr val="FFFFFF"/>
                          </a:solidFill>
                          <a:latin typeface="Arial" pitchFamily="34" charset="0"/>
                          <a:ea typeface="Arial" pitchFamily="34" charset="-122"/>
                          <a:cs typeface="Arial" pitchFamily="34" charset="-120"/>
                        </a:rPr>
                        <a:t>Nhóm tham số</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Kịch bản hiện tại (AS-IS)</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Kịch bản đề xuất (TO-BE S0 &amp; S1)</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868680">
                <a:tc>
                  <a:txBody>
                    <a:bodyPr/>
                    <a:lstStyle/>
                    <a:p>
                      <a:pPr indent="0" marL="0">
                        <a:buNone/>
                      </a:pPr>
                      <a:r>
                        <a:rPr lang="en-US" sz="1400" b="1" dirty="0">
                          <a:solidFill>
                            <a:srgbClr val="0F172A"/>
                          </a:solidFill>
                          <a:latin typeface="Arial" pitchFamily="34" charset="0"/>
                          <a:ea typeface="Arial" pitchFamily="34" charset="-122"/>
                          <a:cs typeface="Arial" pitchFamily="34" charset="-120"/>
                        </a:rPr>
                        <a:t>Tham số giữ cố định</a:t>
                      </a:r>
                      <a:endParaRPr lang="en-US" sz="1400" dirty="0">
                        <a:latin typeface="Arial" charset="0"/>
                        <a:ea typeface="Arial" charset="0"/>
                        <a:cs typeface="Arial" charset="0"/>
                      </a:endParaRPr>
                    </a:p>
                    <a:p>
                      <a:pPr indent="0" marL="0">
                        <a:buNone/>
                      </a:pPr>
                      <a:r>
                        <a:rPr lang="en-US" sz="1400" b="1" dirty="0">
                          <a:solidFill>
                            <a:srgbClr val="0F172A"/>
                          </a:solidFill>
                          <a:latin typeface="Arial" pitchFamily="34" charset="0"/>
                          <a:ea typeface="Arial" pitchFamily="34" charset="-122"/>
                          <a:cs typeface="Arial" pitchFamily="34" charset="-120"/>
                        </a:rPr>
                        <a:t>(Đảm bảo công bằng)</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 Tỷ lệ 4 loại giấy, dòng hồ sơ đến, tư cách SV.</a:t>
                      </a:r>
                      <a:endParaRPr lang="en-US" sz="1400" dirty="0">
                        <a:latin typeface="Arial" charset="0"/>
                        <a:ea typeface="Arial" charset="0"/>
                        <a:cs typeface="Arial" charset="0"/>
                      </a:endParaRPr>
                    </a:p>
                    <a:p>
                      <a:pPr indent="0" marL="0">
                        <a:buNone/>
                      </a:pPr>
                      <a:r>
                        <a:rPr lang="en-US" sz="1400" dirty="0">
                          <a:solidFill>
                            <a:srgbClr val="1E293B"/>
                          </a:solidFill>
                          <a:latin typeface="Arial" pitchFamily="34" charset="0"/>
                          <a:ea typeface="Arial" pitchFamily="34" charset="-122"/>
                          <a:cs typeface="Arial" pitchFamily="34" charset="-120"/>
                        </a:rPr>
                        <a:t>• Thời gian SV phản hồi bổ sung &amp; đến nhận giấy.</a:t>
                      </a:r>
                      <a:endParaRPr lang="en-US" sz="1400" dirty="0">
                        <a:latin typeface="Arial" charset="0"/>
                        <a:ea typeface="Arial" charset="0"/>
                        <a:cs typeface="Arial" charset="0"/>
                      </a:endParaRPr>
                    </a:p>
                    <a:p>
                      <a:pPr indent="0" marL="0">
                        <a:buNone/>
                      </a:pPr>
                      <a:r>
                        <a:rPr lang="en-US" sz="1400" dirty="0">
                          <a:solidFill>
                            <a:srgbClr val="1E293B"/>
                          </a:solidFill>
                          <a:latin typeface="Arial" pitchFamily="34" charset="0"/>
                          <a:ea typeface="Arial" pitchFamily="34" charset="-122"/>
                          <a:cs typeface="Arial" pitchFamily="34" charset="-120"/>
                        </a:rPr>
                        <a:t>• 1 cán bộ tiếp nhận, 1 lãnh đạo ký, hạn bổ sung 7 ngày LV.</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 Giữ nguyên hoàn toàn như AS-IS trên từng seed.</a:t>
                      </a:r>
                      <a:endParaRPr lang="en-US" sz="1400" dirty="0">
                        <a:latin typeface="Arial" charset="0"/>
                        <a:ea typeface="Arial" charset="0"/>
                        <a:cs typeface="Arial" charset="0"/>
                      </a:endParaRPr>
                    </a:p>
                    <a:p>
                      <a:pPr indent="0" marL="0">
                        <a:buNone/>
                      </a:pPr>
                      <a:r>
                        <a:rPr lang="en-US" sz="1400" dirty="0">
                          <a:solidFill>
                            <a:srgbClr val="1E293B"/>
                          </a:solidFill>
                          <a:latin typeface="Arial" pitchFamily="34" charset="0"/>
                          <a:ea typeface="Arial" pitchFamily="34" charset="-122"/>
                          <a:cs typeface="Arial" pitchFamily="34" charset="-120"/>
                        </a:rPr>
                        <a:t>• Ghép cặp từng hồ sơ để loại trừ nhiễu ngẫu nhiên.</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0F766E"/>
                          </a:solidFill>
                          <a:latin typeface="Arial" pitchFamily="34" charset="0"/>
                          <a:ea typeface="Arial" pitchFamily="34" charset="-122"/>
                          <a:cs typeface="Arial" pitchFamily="34" charset="-120"/>
                        </a:rPr>
                        <a:t>Thao tác &amp; Rà hạn</a:t>
                      </a:r>
                      <a:endParaRPr lang="en-US" sz="1400" dirty="0">
                        <a:latin typeface="Arial" charset="0"/>
                        <a:ea typeface="Arial" charset="0"/>
                        <a:cs typeface="Arial" charset="0"/>
                      </a:endParaRPr>
                    </a:p>
                    <a:p>
                      <a:pPr indent="0" marL="0">
                        <a:buNone/>
                      </a:pPr>
                      <a:r>
                        <a:rPr lang="en-US" sz="1400" b="1" dirty="0">
                          <a:solidFill>
                            <a:srgbClr val="0F766E"/>
                          </a:solidFill>
                          <a:latin typeface="Arial" pitchFamily="34" charset="0"/>
                          <a:ea typeface="Arial" pitchFamily="34" charset="-122"/>
                          <a:cs typeface="Arial" pitchFamily="34" charset="-120"/>
                        </a:rPr>
                        <a:t>(Tự động hóa)</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 Ghi sổ, soạn giấy, báo kết quả thủ công.</a:t>
                      </a:r>
                      <a:endParaRPr lang="en-US" sz="1400" dirty="0">
                        <a:latin typeface="Arial" charset="0"/>
                        <a:ea typeface="Arial" charset="0"/>
                        <a:cs typeface="Arial" charset="0"/>
                      </a:endParaRPr>
                    </a:p>
                    <a:p>
                      <a:pPr indent="0" marL="0">
                        <a:buNone/>
                      </a:pPr>
                      <a:r>
                        <a:rPr lang="en-US" sz="1400" dirty="0">
                          <a:solidFill>
                            <a:srgbClr val="1E293B"/>
                          </a:solidFill>
                          <a:latin typeface="Arial" pitchFamily="34" charset="0"/>
                          <a:ea typeface="Arial" pitchFamily="34" charset="-122"/>
                          <a:cs typeface="Arial" pitchFamily="34" charset="-120"/>
                        </a:rPr>
                        <a:t>• Rà sổ quá hạn bổ sung vào chiều thứ Sáu.</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 Kiểm tra định dạng form, cấp mã, sinh bản thảo tự động.</a:t>
                      </a:r>
                      <a:endParaRPr lang="en-US" sz="1400" dirty="0">
                        <a:latin typeface="Arial" charset="0"/>
                        <a:ea typeface="Arial" charset="0"/>
                        <a:cs typeface="Arial" charset="0"/>
                      </a:endParaRPr>
                    </a:p>
                    <a:p>
                      <a:pPr indent="0" marL="0">
                        <a:buNone/>
                      </a:pPr>
                      <a:r>
                        <a:rPr lang="en-US" sz="1400" dirty="0">
                          <a:solidFill>
                            <a:srgbClr val="1E293B"/>
                          </a:solidFill>
                          <a:latin typeface="Arial" pitchFamily="34" charset="0"/>
                          <a:ea typeface="Arial" pitchFamily="34" charset="-122"/>
                          <a:cs typeface="Arial" pitchFamily="34" charset="-120"/>
                        </a:rPr>
                        <a:t>• Timer nhắc hạn (còn 2 ngày LV) &amp; đóng đúng thời điểm quá hạn.</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r h="777240">
                <a:tc>
                  <a:txBody>
                    <a:bodyPr/>
                    <a:lstStyle/>
                    <a:p>
                      <a:pPr indent="0" marL="0">
                        <a:buNone/>
                      </a:pPr>
                      <a:r>
                        <a:rPr lang="en-US" sz="1400" b="1" dirty="0">
                          <a:solidFill>
                            <a:srgbClr val="1D4ED8"/>
                          </a:solidFill>
                          <a:latin typeface="Arial" pitchFamily="34" charset="0"/>
                          <a:ea typeface="Arial" pitchFamily="34" charset="-122"/>
                          <a:cs typeface="Arial" pitchFamily="34" charset="-120"/>
                        </a:rPr>
                        <a:t>Lịch trình ký</a:t>
                      </a:r>
                      <a:endParaRPr lang="en-US" sz="1400" dirty="0">
                        <a:latin typeface="Arial" charset="0"/>
                        <a:ea typeface="Arial" charset="0"/>
                        <a:cs typeface="Arial" charset="0"/>
                      </a:endParaRPr>
                    </a:p>
                    <a:p>
                      <a:pPr indent="0" marL="0">
                        <a:buNone/>
                      </a:pPr>
                      <a:r>
                        <a:rPr lang="en-US" sz="1400" b="1" dirty="0">
                          <a:solidFill>
                            <a:srgbClr val="1D4ED8"/>
                          </a:solidFill>
                          <a:latin typeface="Arial" pitchFamily="34" charset="0"/>
                          <a:ea typeface="Arial" pitchFamily="34" charset="-122"/>
                          <a:cs typeface="Arial" pitchFamily="34" charset="-120"/>
                        </a:rPr>
                        <a:t>(Tách S0 và S1)</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 Trình ký gom theo lô (batch).</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 TO-BE S0: Tự động hóa nhưng VẪN ký theo lô.</a:t>
                      </a:r>
                      <a:endParaRPr lang="en-US" sz="1400" dirty="0">
                        <a:latin typeface="Arial" charset="0"/>
                        <a:ea typeface="Arial" charset="0"/>
                        <a:cs typeface="Arial" charset="0"/>
                      </a:endParaRPr>
                    </a:p>
                    <a:p>
                      <a:pPr indent="0" marL="0">
                        <a:buNone/>
                      </a:pPr>
                      <a:r>
                        <a:rPr lang="en-US" sz="1400" dirty="0">
                          <a:solidFill>
                            <a:srgbClr val="1E293B"/>
                          </a:solidFill>
                          <a:latin typeface="Arial" pitchFamily="34" charset="0"/>
                          <a:ea typeface="Arial" pitchFamily="34" charset="-122"/>
                          <a:cs typeface="Arial" pitchFamily="34" charset="-120"/>
                        </a:rPr>
                        <a:t>• TO-BE S1: Đổi sang lịch ký 2 khung cố định/ngày (10:30 &amp; 16:00).</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B45309"/>
                          </a:solidFill>
                          <a:latin typeface="Arial" pitchFamily="34" charset="0"/>
                          <a:ea typeface="Arial" pitchFamily="34" charset="-122"/>
                          <a:cs typeface="Arial" pitchFamily="34" charset="-120"/>
                        </a:rPr>
                        <a:t>Tỷ lệ phải bổ sung (p)</a:t>
                      </a:r>
                      <a:endParaRPr lang="en-US" sz="1400" dirty="0">
                        <a:latin typeface="Arial" charset="0"/>
                        <a:ea typeface="Arial" charset="0"/>
                        <a:cs typeface="Arial" charset="0"/>
                      </a:endParaRPr>
                    </a:p>
                    <a:p>
                      <a:pPr indent="0" marL="0">
                        <a:buNone/>
                      </a:pPr>
                      <a:r>
                        <a:rPr lang="en-US" sz="1400" b="1" dirty="0">
                          <a:solidFill>
                            <a:srgbClr val="B45309"/>
                          </a:solidFill>
                          <a:latin typeface="Arial" pitchFamily="34" charset="0"/>
                          <a:ea typeface="Arial" pitchFamily="34" charset="-122"/>
                          <a:cs typeface="Arial" pitchFamily="34" charset="-120"/>
                        </a:rPr>
                        <a:t>(Kiểm tra độ nhạy)</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 Tỷ lệ phải bổ sung đầu vào: 30,1%.</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 Giả định giảm còn 15,6% nhờ checklist form web.</a:t>
                      </a:r>
                      <a:endParaRPr lang="en-US" sz="1400" dirty="0">
                        <a:latin typeface="Arial" charset="0"/>
                        <a:ea typeface="Arial" charset="0"/>
                        <a:cs typeface="Arial" charset="0"/>
                      </a:endParaRPr>
                    </a:p>
                    <a:p>
                      <a:pPr indent="0" marL="0">
                        <a:buNone/>
                      </a:pPr>
                      <a:r>
                        <a:rPr lang="en-US" sz="1400" dirty="0">
                          <a:solidFill>
                            <a:srgbClr val="1E293B"/>
                          </a:solidFill>
                          <a:latin typeface="Arial" pitchFamily="34" charset="0"/>
                          <a:ea typeface="Arial" pitchFamily="34" charset="-122"/>
                          <a:cs typeface="Arial" pitchFamily="34" charset="-120"/>
                        </a:rPr>
                        <a:t>• Chạy thêm cấu hình "S1, p không giảm (30,1%)" để kiểm tra độc lập.</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sp>
      <p:sp>
        <p:nvSpPr>
          <p:cNvPr id="3" name="Shape 1"/>
          <p:cNvSpPr/>
          <p:nvPr/>
        </p:nvSpPr>
        <p:spPr>
          <a:xfrm>
            <a:off x="411480" y="182880"/>
            <a:ext cx="2468880" cy="310896"/>
          </a:xfrm>
          <a:prstGeom prst="roundRect">
            <a:avLst>
              <a:gd name="adj" fmla="val 14706"/>
            </a:avLst>
          </a:prstGeom>
          <a:solidFill>
            <a:srgbClr val="CCFBF1"/>
          </a:solidFill>
          <a:ln w="6350">
            <a:solidFill>
              <a:srgbClr val="0F766E"/>
            </a:solidFill>
            <a:prstDash val="solid"/>
          </a:ln>
        </p:spPr>
      </p:sp>
      <p:sp>
        <p:nvSpPr>
          <p:cNvPr id="4" name="Text 2"/>
          <p:cNvSpPr/>
          <p:nvPr/>
        </p:nvSpPr>
        <p:spPr>
          <a:xfrm>
            <a:off x="411480" y="182880"/>
            <a:ext cx="2468880" cy="310896"/>
          </a:xfrm>
          <a:prstGeom prst="rect">
            <a:avLst/>
          </a:prstGeom>
          <a:noFill/>
          <a:ln/>
        </p:spPr>
        <p:txBody>
          <a:bodyPr wrap="square" lIns="0" tIns="0" rIns="0" bIns="0" rtlCol="0" anchor="ctr"/>
          <a:lstStyle/>
          <a:p>
            <a:pPr algn="ctr" indent="0" marL="0">
              <a:buNone/>
            </a:pPr>
            <a:r>
              <a:rPr lang="en-US" sz="1400" b="1" dirty="0">
                <a:solidFill>
                  <a:srgbClr val="0F766E"/>
                </a:solidFill>
                <a:latin typeface="Arial" pitchFamily="34" charset="0"/>
                <a:ea typeface="Arial" pitchFamily="34" charset="-122"/>
                <a:cs typeface="Arial" pitchFamily="34" charset="-120"/>
              </a:rPr>
              <a:t>KHAI PHÁ QUY TRÌNH</a:t>
            </a:r>
            <a:endParaRPr lang="en-US" sz="1400" dirty="0"/>
          </a:p>
        </p:txBody>
      </p:sp>
      <p:sp>
        <p:nvSpPr>
          <p:cNvPr id="5" name="Shape 3"/>
          <p:cNvSpPr/>
          <p:nvPr/>
        </p:nvSpPr>
        <p:spPr>
          <a:xfrm>
            <a:off x="9448495" y="182880"/>
            <a:ext cx="2331720" cy="347472"/>
          </a:xfrm>
          <a:prstGeom prst="roundRect">
            <a:avLst>
              <a:gd name="adj" fmla="val 15789"/>
            </a:avLst>
          </a:prstGeom>
          <a:solidFill>
            <a:srgbClr val="FEF3C7"/>
          </a:solidFill>
          <a:ln w="19050">
            <a:solidFill>
              <a:srgbClr val="F59E0B"/>
            </a:solidFill>
            <a:prstDash val="solid"/>
          </a:ln>
        </p:spPr>
      </p:sp>
      <p:sp>
        <p:nvSpPr>
          <p:cNvPr id="6" name="Text 4"/>
          <p:cNvSpPr/>
          <p:nvPr/>
        </p:nvSpPr>
        <p:spPr>
          <a:xfrm>
            <a:off x="9448495" y="182880"/>
            <a:ext cx="2331720" cy="347472"/>
          </a:xfrm>
          <a:prstGeom prst="rect">
            <a:avLst/>
          </a:prstGeom>
          <a:noFill/>
          <a:ln/>
        </p:spPr>
        <p:txBody>
          <a:bodyPr wrap="square" lIns="0" tIns="0" rIns="0" bIns="0" rtlCol="0" anchor="ctr"/>
          <a:lstStyle/>
          <a:p>
            <a:pPr algn="ctr" indent="0" marL="0">
              <a:buNone/>
            </a:pPr>
            <a:r>
              <a:rPr lang="en-US" sz="1400" b="1" dirty="0">
                <a:solidFill>
                  <a:srgbClr val="B45309"/>
                </a:solidFill>
                <a:latin typeface="Arial" pitchFamily="34" charset="0"/>
                <a:ea typeface="Arial" pitchFamily="34" charset="-122"/>
                <a:cs typeface="Arial" pitchFamily="34" charset="-120"/>
              </a:rPr>
              <a:t>Dữ liệu mô phỏng</a:t>
            </a:r>
            <a:endParaRPr lang="en-US" sz="1400" dirty="0"/>
          </a:p>
        </p:txBody>
      </p:sp>
      <p:sp>
        <p:nvSpPr>
          <p:cNvPr id="7" name="Text 5"/>
          <p:cNvSpPr/>
          <p:nvPr/>
        </p:nvSpPr>
        <p:spPr>
          <a:xfrm>
            <a:off x="411480" y="530352"/>
            <a:ext cx="8503920" cy="420624"/>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Kết quả khai phá quy trình: Bản đồ luồng trực tiếp (DFG)</a:t>
            </a:r>
            <a:endParaRPr lang="en-US" sz="2200" dirty="0"/>
          </a:p>
        </p:txBody>
      </p:sp>
      <p:sp>
        <p:nvSpPr>
          <p:cNvPr id="8" name="Shape 6"/>
          <p:cNvSpPr/>
          <p:nvPr/>
        </p:nvSpPr>
        <p:spPr>
          <a:xfrm>
            <a:off x="411480" y="987552"/>
            <a:ext cx="11368735" cy="438912"/>
          </a:xfrm>
          <a:prstGeom prst="roundRect">
            <a:avLst>
              <a:gd name="adj" fmla="val 10417"/>
            </a:avLst>
          </a:prstGeom>
          <a:solidFill>
            <a:srgbClr val="FFFFFF"/>
          </a:solidFill>
          <a:ln w="15240">
            <a:solidFill>
              <a:srgbClr val="0F766E"/>
            </a:solidFill>
            <a:prstDash val="solid"/>
          </a:ln>
        </p:spPr>
      </p:sp>
      <p:sp>
        <p:nvSpPr>
          <p:cNvPr id="9" name="Shape 7"/>
          <p:cNvSpPr/>
          <p:nvPr/>
        </p:nvSpPr>
        <p:spPr>
          <a:xfrm>
            <a:off x="411480" y="987552"/>
            <a:ext cx="109728" cy="438912"/>
          </a:xfrm>
          <a:prstGeom prst="rect">
            <a:avLst/>
          </a:prstGeom>
          <a:solidFill>
            <a:srgbClr val="0F766E"/>
          </a:solidFill>
          <a:ln w="12700">
            <a:solidFill>
              <a:srgbClr val="0F766E"/>
            </a:solidFill>
            <a:prstDash val="solid"/>
          </a:ln>
        </p:spPr>
      </p:sp>
      <p:sp>
        <p:nvSpPr>
          <p:cNvPr id="10" name="Text 8"/>
          <p:cNvSpPr/>
          <p:nvPr/>
        </p:nvSpPr>
        <p:spPr>
          <a:xfrm>
            <a:off x="621792" y="987552"/>
            <a:ext cx="11064240" cy="438912"/>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Thông điệp: Chờ trình ký (A06→A07) là ứng viên nghẽn duy nhất đạt đủ tiêu chí ở AS-IS; sang TO-BE S1 không còn cạnh đỏ.</a:t>
            </a:r>
            <a:endParaRPr lang="en-US" sz="1400" dirty="0"/>
          </a:p>
        </p:txBody>
      </p:sp>
      <p:sp>
        <p:nvSpPr>
          <p:cNvPr id="11" name="Shape 9"/>
          <p:cNvSpPr/>
          <p:nvPr/>
        </p:nvSpPr>
        <p:spPr>
          <a:xfrm>
            <a:off x="411480" y="6473952"/>
            <a:ext cx="11368735" cy="0"/>
          </a:xfrm>
          <a:prstGeom prst="line">
            <a:avLst/>
          </a:prstGeom>
          <a:noFill/>
          <a:ln w="9525">
            <a:solidFill>
              <a:srgbClr val="CBD5E1"/>
            </a:solidFill>
            <a:prstDash val="solid"/>
          </a:ln>
        </p:spPr>
      </p:sp>
      <p:sp>
        <p:nvSpPr>
          <p:cNvPr id="12" name="Text 10"/>
          <p:cNvSpPr/>
          <p:nvPr/>
        </p:nvSpPr>
        <p:spPr>
          <a:xfrm>
            <a:off x="411480" y="6510528"/>
            <a:ext cx="8686800" cy="274320"/>
          </a:xfrm>
          <a:prstGeom prst="rect">
            <a:avLst/>
          </a:prstGeom>
          <a:noFill/>
          <a:ln/>
        </p:spPr>
        <p:txBody>
          <a:bodyPr wrap="square" lIns="0" tIns="0" rIns="0" bIns="0" rtlCol="0" anchor="ctr"/>
          <a:lstStyle/>
          <a:p>
            <a:pPr indent="0" marL="0">
              <a:buNone/>
            </a:pPr>
            <a:r>
              <a:rPr lang="en-US" sz="1400" dirty="0">
                <a:solidFill>
                  <a:srgbClr val="475569"/>
                </a:solidFill>
                <a:latin typeface="Arial" pitchFamily="34" charset="0"/>
                <a:ea typeface="Arial" pitchFamily="34" charset="-122"/>
                <a:cs typeface="Arial" pitchFamily="34" charset="-120"/>
              </a:rPr>
              <a:t>Cấp giấy xác nhận sinh viên – Trường Cao đẳng Y Dược (Prototype học thuật)</a:t>
            </a:r>
            <a:endParaRPr lang="en-US" sz="1400" dirty="0"/>
          </a:p>
        </p:txBody>
      </p:sp>
      <p:sp>
        <p:nvSpPr>
          <p:cNvPr id="13" name="Text 11"/>
          <p:cNvSpPr/>
          <p:nvPr/>
        </p:nvSpPr>
        <p:spPr>
          <a:xfrm>
            <a:off x="9601200" y="6510528"/>
            <a:ext cx="2179015" cy="274320"/>
          </a:xfrm>
          <a:prstGeom prst="rect">
            <a:avLst/>
          </a:prstGeom>
          <a:noFill/>
          <a:ln/>
        </p:spPr>
        <p:txBody>
          <a:bodyPr wrap="square" lIns="0" tIns="0" rIns="0" bIns="0" rtlCol="0" anchor="ctr"/>
          <a:lstStyle/>
          <a:p>
            <a:pPr algn="r" indent="0" marL="0">
              <a:buNone/>
            </a:pPr>
            <a:r>
              <a:rPr lang="en-US" sz="1400" b="1" dirty="0">
                <a:solidFill>
                  <a:srgbClr val="0F766E"/>
                </a:solidFill>
                <a:latin typeface="Arial" pitchFamily="34" charset="0"/>
                <a:ea typeface="Arial" pitchFamily="34" charset="-122"/>
                <a:cs typeface="Arial" pitchFamily="34" charset="-120"/>
              </a:rPr>
              <a:t>Slide 7/14</a:t>
            </a:r>
            <a:endParaRPr lang="en-US" sz="1400" dirty="0"/>
          </a:p>
        </p:txBody>
      </p:sp>
      <p:sp>
        <p:nvSpPr>
          <p:cNvPr id="15" name="Text 12"/>
          <p:cNvSpPr/>
          <p:nvPr/>
        </p:nvSpPr>
        <p:spPr>
          <a:xfrm>
            <a:off x="411480" y="1508760"/>
            <a:ext cx="5577840" cy="310896"/>
          </a:xfrm>
          <a:prstGeom prst="rect">
            <a:avLst/>
          </a:prstGeom>
          <a:noFill/>
          <a:ln/>
        </p:spPr>
        <p:txBody>
          <a:bodyPr wrap="square" lIns="0" tIns="0" rIns="0" bIns="0" rtlCol="0" anchor="ctr"/>
          <a:lstStyle/>
          <a:p>
            <a:pPr indent="0" marL="0">
              <a:buNone/>
            </a:pPr>
            <a:r>
              <a:rPr lang="en-US" sz="1400" b="1" dirty="0">
                <a:solidFill>
                  <a:srgbClr val="B91C1C"/>
                </a:solidFill>
                <a:latin typeface="Arial" pitchFamily="34" charset="0"/>
                <a:ea typeface="Arial" pitchFamily="34" charset="-122"/>
                <a:cs typeface="Arial" pitchFamily="34" charset="-120"/>
              </a:rPr>
              <a:t>Bản đồ DFG hiện tại (AS-IS) – Cạnh đỏ: A06→A07 chờ trung vị 621 phút LV</a:t>
            </a:r>
            <a:endParaRPr lang="en-US" sz="1400" dirty="0"/>
          </a:p>
        </p:txBody>
      </p:sp>
      <p:sp>
        <p:nvSpPr>
          <p:cNvPr id="16" name="Shape 13"/>
          <p:cNvSpPr/>
          <p:nvPr/>
        </p:nvSpPr>
        <p:spPr>
          <a:xfrm>
            <a:off x="411480" y="1847088"/>
            <a:ext cx="5577840" cy="2880360"/>
          </a:xfrm>
          <a:prstGeom prst="roundRect">
            <a:avLst>
              <a:gd name="adj" fmla="val 1905"/>
            </a:avLst>
          </a:prstGeom>
          <a:solidFill>
            <a:srgbClr val="FFFFFF"/>
          </a:solidFill>
          <a:ln w="12700">
            <a:solidFill>
              <a:srgbClr val="CBD5E1"/>
            </a:solidFill>
            <a:prstDash val="solid"/>
          </a:ln>
        </p:spPr>
      </p:sp>
      <p:pic>
        <p:nvPicPr>
          <p:cNvPr id="17" name="Image 0" descr="inputs/images/dfg_AS-IS.png">    </p:cNvPr>
          <p:cNvPicPr>
            <a:picLocks noChangeAspect="1"/>
          </p:cNvPicPr>
          <p:nvPr/>
        </p:nvPicPr>
        <p:blipFill>
          <a:blip r:embed="rId1"/>
          <a:stretch>
            <a:fillRect/>
          </a:stretch>
        </p:blipFill>
        <p:spPr>
          <a:xfrm>
            <a:off x="484632" y="2063906"/>
            <a:ext cx="5431536" cy="2446723"/>
          </a:xfrm>
          <a:prstGeom prst="rect">
            <a:avLst/>
          </a:prstGeom>
        </p:spPr>
      </p:pic>
      <p:sp>
        <p:nvSpPr>
          <p:cNvPr id="18" name="Text 14"/>
          <p:cNvSpPr/>
          <p:nvPr/>
        </p:nvSpPr>
        <p:spPr>
          <a:xfrm>
            <a:off x="6199632" y="1508760"/>
            <a:ext cx="5577840" cy="310896"/>
          </a:xfrm>
          <a:prstGeom prst="rect">
            <a:avLst/>
          </a:prstGeom>
          <a:noFill/>
          <a:ln/>
        </p:spPr>
        <p:txBody>
          <a:bodyPr wrap="square" lIns="0" tIns="0" rIns="0" bIns="0" rtlCol="0" anchor="ctr"/>
          <a:lstStyle/>
          <a:p>
            <a:pPr indent="0" marL="0">
              <a:buNone/>
            </a:pPr>
            <a:r>
              <a:rPr lang="en-US" sz="1400" b="1" dirty="0">
                <a:solidFill>
                  <a:srgbClr val="0F766E"/>
                </a:solidFill>
                <a:latin typeface="Arial" pitchFamily="34" charset="0"/>
                <a:ea typeface="Arial" pitchFamily="34" charset="-122"/>
                <a:cs typeface="Arial" pitchFamily="34" charset="-120"/>
              </a:rPr>
              <a:t>Bản đồ DFG đề xuất (TO-BE S1) – Không còn cạnh đỏ, chờ ký còn 123 phút LV</a:t>
            </a:r>
            <a:endParaRPr lang="en-US" sz="1400" dirty="0"/>
          </a:p>
        </p:txBody>
      </p:sp>
      <p:sp>
        <p:nvSpPr>
          <p:cNvPr id="19" name="Shape 15"/>
          <p:cNvSpPr/>
          <p:nvPr/>
        </p:nvSpPr>
        <p:spPr>
          <a:xfrm>
            <a:off x="6199632" y="1847088"/>
            <a:ext cx="5577840" cy="2880360"/>
          </a:xfrm>
          <a:prstGeom prst="roundRect">
            <a:avLst>
              <a:gd name="adj" fmla="val 1905"/>
            </a:avLst>
          </a:prstGeom>
          <a:solidFill>
            <a:srgbClr val="FFFFFF"/>
          </a:solidFill>
          <a:ln w="12700">
            <a:solidFill>
              <a:srgbClr val="CBD5E1"/>
            </a:solidFill>
            <a:prstDash val="solid"/>
          </a:ln>
        </p:spPr>
      </p:sp>
      <p:pic>
        <p:nvPicPr>
          <p:cNvPr id="20" name="Image 1" descr="inputs/images/dfg_TB-S1-p15.png">    </p:cNvPr>
          <p:cNvPicPr>
            <a:picLocks noChangeAspect="1"/>
          </p:cNvPicPr>
          <p:nvPr/>
        </p:nvPicPr>
        <p:blipFill>
          <a:blip r:embed="rId2"/>
          <a:stretch>
            <a:fillRect/>
          </a:stretch>
        </p:blipFill>
        <p:spPr>
          <a:xfrm>
            <a:off x="6272784" y="2063906"/>
            <a:ext cx="5431536" cy="2446723"/>
          </a:xfrm>
          <a:prstGeom prst="rect">
            <a:avLst/>
          </a:prstGeom>
        </p:spPr>
      </p:pic>
      <p:sp>
        <p:nvSpPr>
          <p:cNvPr id="21" name="Shape 16"/>
          <p:cNvSpPr/>
          <p:nvPr/>
        </p:nvSpPr>
        <p:spPr>
          <a:xfrm>
            <a:off x="411480" y="4846320"/>
            <a:ext cx="3794760" cy="1508760"/>
          </a:xfrm>
          <a:prstGeom prst="roundRect">
            <a:avLst>
              <a:gd name="adj" fmla="val 3636"/>
            </a:avLst>
          </a:prstGeom>
          <a:solidFill>
            <a:srgbClr val="FEE2E2"/>
          </a:solidFill>
          <a:ln w="12700">
            <a:solidFill>
              <a:srgbClr val="EF4444"/>
            </a:solidFill>
            <a:prstDash val="solid"/>
          </a:ln>
        </p:spPr>
      </p:sp>
      <p:sp>
        <p:nvSpPr>
          <p:cNvPr id="22" name="Shape 17"/>
          <p:cNvSpPr/>
          <p:nvPr/>
        </p:nvSpPr>
        <p:spPr>
          <a:xfrm>
            <a:off x="411480" y="4846320"/>
            <a:ext cx="3794760" cy="384048"/>
          </a:xfrm>
          <a:prstGeom prst="roundRect">
            <a:avLst>
              <a:gd name="adj" fmla="val 14286"/>
            </a:avLst>
          </a:prstGeom>
          <a:solidFill>
            <a:srgbClr val="B91C1C"/>
          </a:solidFill>
          <a:ln w="12700">
            <a:solidFill>
              <a:srgbClr val="B91C1C"/>
            </a:solidFill>
            <a:prstDash val="solid"/>
          </a:ln>
        </p:spPr>
      </p:sp>
      <p:sp>
        <p:nvSpPr>
          <p:cNvPr id="23" name="Text 18"/>
          <p:cNvSpPr/>
          <p:nvPr/>
        </p:nvSpPr>
        <p:spPr>
          <a:xfrm>
            <a:off x="539496" y="4846320"/>
            <a:ext cx="353872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Xác nhận điểm nghẽn tại A06→A07 (AS-IS)</a:t>
            </a:r>
            <a:endParaRPr lang="en-US" sz="1500" dirty="0"/>
          </a:p>
        </p:txBody>
      </p:sp>
      <p:sp>
        <p:nvSpPr>
          <p:cNvPr id="24" name="Text 19"/>
          <p:cNvSpPr/>
          <p:nvPr/>
        </p:nvSpPr>
        <p:spPr>
          <a:xfrm>
            <a:off x="539496" y="5285232"/>
            <a:ext cx="3538728" cy="99669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Trung vị chờ 621 phút LV (P90: 1.201 phút); 63% số ca chờ &gt; 1 ngày LV (369/400 ca).</a:t>
            </a:r>
            <a:endParaRPr lang="en-US" sz="1400" dirty="0"/>
          </a:p>
        </p:txBody>
      </p:sp>
      <p:sp>
        <p:nvSpPr>
          <p:cNvPr id="25" name="Shape 20"/>
          <p:cNvSpPr/>
          <p:nvPr/>
        </p:nvSpPr>
        <p:spPr>
          <a:xfrm>
            <a:off x="4343400" y="4846320"/>
            <a:ext cx="3794760" cy="1508760"/>
          </a:xfrm>
          <a:prstGeom prst="roundRect">
            <a:avLst>
              <a:gd name="adj" fmla="val 3636"/>
            </a:avLst>
          </a:prstGeom>
          <a:solidFill>
            <a:srgbClr val="FFFFFF"/>
          </a:solidFill>
          <a:ln w="12700">
            <a:solidFill>
              <a:srgbClr val="CBD5E1"/>
            </a:solidFill>
            <a:prstDash val="solid"/>
          </a:ln>
        </p:spPr>
      </p:sp>
      <p:sp>
        <p:nvSpPr>
          <p:cNvPr id="26" name="Shape 21"/>
          <p:cNvSpPr/>
          <p:nvPr/>
        </p:nvSpPr>
        <p:spPr>
          <a:xfrm>
            <a:off x="4343400" y="4846320"/>
            <a:ext cx="3794760" cy="384048"/>
          </a:xfrm>
          <a:prstGeom prst="roundRect">
            <a:avLst>
              <a:gd name="adj" fmla="val 14286"/>
            </a:avLst>
          </a:prstGeom>
          <a:solidFill>
            <a:srgbClr val="0F172A"/>
          </a:solidFill>
          <a:ln w="12700">
            <a:solidFill>
              <a:srgbClr val="0F172A"/>
            </a:solidFill>
            <a:prstDash val="solid"/>
          </a:ln>
        </p:spPr>
      </p:sp>
      <p:sp>
        <p:nvSpPr>
          <p:cNvPr id="27" name="Text 22"/>
          <p:cNvSpPr/>
          <p:nvPr/>
        </p:nvSpPr>
        <p:spPr>
          <a:xfrm>
            <a:off x="4471416" y="4846320"/>
            <a:ext cx="353872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Biến thể quy trình &amp; Vòng lặp bổ sung</a:t>
            </a:r>
            <a:endParaRPr lang="en-US" sz="1500" dirty="0"/>
          </a:p>
        </p:txBody>
      </p:sp>
      <p:sp>
        <p:nvSpPr>
          <p:cNvPr id="28" name="Text 23"/>
          <p:cNvSpPr/>
          <p:nvPr/>
        </p:nvSpPr>
        <p:spPr>
          <a:xfrm>
            <a:off x="4471416" y="5285232"/>
            <a:ext cx="3538728" cy="99669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Hồ sơ đi thẳng tăng từ 62,3% lên 75,5%. Tỷ lệ bổ sung 30,1% → 15,6% là giả định đầu vào p.</a:t>
            </a:r>
            <a:endParaRPr lang="en-US" sz="1400" dirty="0"/>
          </a:p>
        </p:txBody>
      </p:sp>
      <p:sp>
        <p:nvSpPr>
          <p:cNvPr id="29" name="Shape 24"/>
          <p:cNvSpPr/>
          <p:nvPr/>
        </p:nvSpPr>
        <p:spPr>
          <a:xfrm>
            <a:off x="8275320" y="4846320"/>
            <a:ext cx="3504895" cy="1508760"/>
          </a:xfrm>
          <a:prstGeom prst="roundRect">
            <a:avLst>
              <a:gd name="adj" fmla="val 3636"/>
            </a:avLst>
          </a:prstGeom>
          <a:solidFill>
            <a:srgbClr val="FEF3C7"/>
          </a:solidFill>
          <a:ln w="12700">
            <a:solidFill>
              <a:srgbClr val="F59E0B"/>
            </a:solidFill>
            <a:prstDash val="solid"/>
          </a:ln>
        </p:spPr>
      </p:sp>
      <p:sp>
        <p:nvSpPr>
          <p:cNvPr id="30" name="Shape 25"/>
          <p:cNvSpPr/>
          <p:nvPr/>
        </p:nvSpPr>
        <p:spPr>
          <a:xfrm>
            <a:off x="8275320" y="4846320"/>
            <a:ext cx="3504895" cy="384048"/>
          </a:xfrm>
          <a:prstGeom prst="roundRect">
            <a:avLst>
              <a:gd name="adj" fmla="val 14286"/>
            </a:avLst>
          </a:prstGeom>
          <a:solidFill>
            <a:srgbClr val="B45309"/>
          </a:solidFill>
          <a:ln w="12700">
            <a:solidFill>
              <a:srgbClr val="B45309"/>
            </a:solidFill>
            <a:prstDash val="solid"/>
          </a:ln>
        </p:spPr>
      </p:sp>
      <p:sp>
        <p:nvSpPr>
          <p:cNvPr id="31" name="Text 26"/>
          <p:cNvSpPr/>
          <p:nvPr/>
        </p:nvSpPr>
        <p:spPr>
          <a:xfrm>
            <a:off x="8403336" y="4846320"/>
            <a:ext cx="3248863"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Quy tắc tô màu &amp; Lưu ý quy ước</a:t>
            </a:r>
            <a:endParaRPr lang="en-US" sz="1500" dirty="0"/>
          </a:p>
        </p:txBody>
      </p:sp>
      <p:sp>
        <p:nvSpPr>
          <p:cNvPr id="32" name="Text 27"/>
          <p:cNvSpPr/>
          <p:nvPr/>
        </p:nvSpPr>
        <p:spPr>
          <a:xfrm>
            <a:off x="8403336" y="5285232"/>
            <a:ext cx="3248863" cy="99669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Đỏ: Top 3 chờ lâu nhất + ≥50% ca &gt; 450 phút + ≥10% tổng ca. A01→A02 (249') do quy ước 07:30.</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sp>
      <p:sp>
        <p:nvSpPr>
          <p:cNvPr id="3" name="Shape 1"/>
          <p:cNvSpPr/>
          <p:nvPr/>
        </p:nvSpPr>
        <p:spPr>
          <a:xfrm>
            <a:off x="411480" y="182880"/>
            <a:ext cx="2468880" cy="310896"/>
          </a:xfrm>
          <a:prstGeom prst="roundRect">
            <a:avLst>
              <a:gd name="adj" fmla="val 14706"/>
            </a:avLst>
          </a:prstGeom>
          <a:solidFill>
            <a:srgbClr val="CCFBF1"/>
          </a:solidFill>
          <a:ln w="6350">
            <a:solidFill>
              <a:srgbClr val="0F766E"/>
            </a:solidFill>
            <a:prstDash val="solid"/>
          </a:ln>
        </p:spPr>
      </p:sp>
      <p:sp>
        <p:nvSpPr>
          <p:cNvPr id="4" name="Text 2"/>
          <p:cNvSpPr/>
          <p:nvPr/>
        </p:nvSpPr>
        <p:spPr>
          <a:xfrm>
            <a:off x="411480" y="182880"/>
            <a:ext cx="2468880" cy="310896"/>
          </a:xfrm>
          <a:prstGeom prst="rect">
            <a:avLst/>
          </a:prstGeom>
          <a:noFill/>
          <a:ln/>
        </p:spPr>
        <p:txBody>
          <a:bodyPr wrap="square" lIns="0" tIns="0" rIns="0" bIns="0" rtlCol="0" anchor="ctr"/>
          <a:lstStyle/>
          <a:p>
            <a:pPr algn="ctr" indent="0" marL="0">
              <a:buNone/>
            </a:pPr>
            <a:r>
              <a:rPr lang="en-US" sz="1400" b="1" dirty="0">
                <a:solidFill>
                  <a:srgbClr val="0F766E"/>
                </a:solidFill>
                <a:latin typeface="Arial" pitchFamily="34" charset="0"/>
                <a:ea typeface="Arial" pitchFamily="34" charset="-122"/>
                <a:cs typeface="Arial" pitchFamily="34" charset="-120"/>
              </a:rPr>
              <a:t>KIỂM CHỨNG CÔNG THỨC</a:t>
            </a:r>
            <a:endParaRPr lang="en-US" sz="1400" dirty="0"/>
          </a:p>
        </p:txBody>
      </p:sp>
      <p:sp>
        <p:nvSpPr>
          <p:cNvPr id="5" name="Shape 3"/>
          <p:cNvSpPr/>
          <p:nvPr/>
        </p:nvSpPr>
        <p:spPr>
          <a:xfrm>
            <a:off x="9448495" y="182880"/>
            <a:ext cx="2331720" cy="347472"/>
          </a:xfrm>
          <a:prstGeom prst="roundRect">
            <a:avLst>
              <a:gd name="adj" fmla="val 15789"/>
            </a:avLst>
          </a:prstGeom>
          <a:solidFill>
            <a:srgbClr val="FEF3C7"/>
          </a:solidFill>
          <a:ln w="19050">
            <a:solidFill>
              <a:srgbClr val="F59E0B"/>
            </a:solidFill>
            <a:prstDash val="solid"/>
          </a:ln>
        </p:spPr>
      </p:sp>
      <p:sp>
        <p:nvSpPr>
          <p:cNvPr id="6" name="Text 4"/>
          <p:cNvSpPr/>
          <p:nvPr/>
        </p:nvSpPr>
        <p:spPr>
          <a:xfrm>
            <a:off x="9448495" y="182880"/>
            <a:ext cx="2331720" cy="347472"/>
          </a:xfrm>
          <a:prstGeom prst="rect">
            <a:avLst/>
          </a:prstGeom>
          <a:noFill/>
          <a:ln/>
        </p:spPr>
        <p:txBody>
          <a:bodyPr wrap="square" lIns="0" tIns="0" rIns="0" bIns="0" rtlCol="0" anchor="ctr"/>
          <a:lstStyle/>
          <a:p>
            <a:pPr algn="ctr" indent="0" marL="0">
              <a:buNone/>
            </a:pPr>
            <a:r>
              <a:rPr lang="en-US" sz="1400" b="1" dirty="0">
                <a:solidFill>
                  <a:srgbClr val="B45309"/>
                </a:solidFill>
                <a:latin typeface="Arial" pitchFamily="34" charset="0"/>
                <a:ea typeface="Arial" pitchFamily="34" charset="-122"/>
                <a:cs typeface="Arial" pitchFamily="34" charset="-120"/>
              </a:rPr>
              <a:t>Dữ liệu mô phỏng</a:t>
            </a:r>
            <a:endParaRPr lang="en-US" sz="1400" dirty="0"/>
          </a:p>
        </p:txBody>
      </p:sp>
      <p:sp>
        <p:nvSpPr>
          <p:cNvPr id="7" name="Text 5"/>
          <p:cNvSpPr/>
          <p:nvPr/>
        </p:nvSpPr>
        <p:spPr>
          <a:xfrm>
            <a:off x="411480" y="530352"/>
            <a:ext cx="8503920" cy="420624"/>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Tách thời gian chờ – xử lý &amp; Kiểm chứng bằng tính tay</a:t>
            </a:r>
            <a:endParaRPr lang="en-US" sz="2200" dirty="0"/>
          </a:p>
        </p:txBody>
      </p:sp>
      <p:sp>
        <p:nvSpPr>
          <p:cNvPr id="8" name="Shape 6"/>
          <p:cNvSpPr/>
          <p:nvPr/>
        </p:nvSpPr>
        <p:spPr>
          <a:xfrm>
            <a:off x="411480" y="987552"/>
            <a:ext cx="11368735" cy="438912"/>
          </a:xfrm>
          <a:prstGeom prst="roundRect">
            <a:avLst>
              <a:gd name="adj" fmla="val 10417"/>
            </a:avLst>
          </a:prstGeom>
          <a:solidFill>
            <a:srgbClr val="FFFFFF"/>
          </a:solidFill>
          <a:ln w="15240">
            <a:solidFill>
              <a:srgbClr val="0F766E"/>
            </a:solidFill>
            <a:prstDash val="solid"/>
          </a:ln>
        </p:spPr>
      </p:sp>
      <p:sp>
        <p:nvSpPr>
          <p:cNvPr id="9" name="Shape 7"/>
          <p:cNvSpPr/>
          <p:nvPr/>
        </p:nvSpPr>
        <p:spPr>
          <a:xfrm>
            <a:off x="411480" y="987552"/>
            <a:ext cx="109728" cy="438912"/>
          </a:xfrm>
          <a:prstGeom prst="rect">
            <a:avLst/>
          </a:prstGeom>
          <a:solidFill>
            <a:srgbClr val="0F766E"/>
          </a:solidFill>
          <a:ln w="12700">
            <a:solidFill>
              <a:srgbClr val="0F766E"/>
            </a:solidFill>
            <a:prstDash val="solid"/>
          </a:ln>
        </p:spPr>
      </p:sp>
      <p:sp>
        <p:nvSpPr>
          <p:cNvPr id="10" name="Text 8"/>
          <p:cNvSpPr/>
          <p:nvPr/>
        </p:nvSpPr>
        <p:spPr>
          <a:xfrm>
            <a:off x="621792" y="987552"/>
            <a:ext cx="11064240" cy="438912"/>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Thông điệp: Số liệu thời gian do công cụ tính khớp hoàn toàn với kết quả tính tay trên tập hồ sơ mẫu.</a:t>
            </a:r>
            <a:endParaRPr lang="en-US" sz="1400" dirty="0"/>
          </a:p>
        </p:txBody>
      </p:sp>
      <p:sp>
        <p:nvSpPr>
          <p:cNvPr id="11" name="Shape 9"/>
          <p:cNvSpPr/>
          <p:nvPr/>
        </p:nvSpPr>
        <p:spPr>
          <a:xfrm>
            <a:off x="411480" y="6473952"/>
            <a:ext cx="11368735" cy="0"/>
          </a:xfrm>
          <a:prstGeom prst="line">
            <a:avLst/>
          </a:prstGeom>
          <a:noFill/>
          <a:ln w="9525">
            <a:solidFill>
              <a:srgbClr val="CBD5E1"/>
            </a:solidFill>
            <a:prstDash val="solid"/>
          </a:ln>
        </p:spPr>
      </p:sp>
      <p:sp>
        <p:nvSpPr>
          <p:cNvPr id="12" name="Text 10"/>
          <p:cNvSpPr/>
          <p:nvPr/>
        </p:nvSpPr>
        <p:spPr>
          <a:xfrm>
            <a:off x="411480" y="6510528"/>
            <a:ext cx="8686800" cy="274320"/>
          </a:xfrm>
          <a:prstGeom prst="rect">
            <a:avLst/>
          </a:prstGeom>
          <a:noFill/>
          <a:ln/>
        </p:spPr>
        <p:txBody>
          <a:bodyPr wrap="square" lIns="0" tIns="0" rIns="0" bIns="0" rtlCol="0" anchor="ctr"/>
          <a:lstStyle/>
          <a:p>
            <a:pPr indent="0" marL="0">
              <a:buNone/>
            </a:pPr>
            <a:r>
              <a:rPr lang="en-US" sz="1400" dirty="0">
                <a:solidFill>
                  <a:srgbClr val="475569"/>
                </a:solidFill>
                <a:latin typeface="Arial" pitchFamily="34" charset="0"/>
                <a:ea typeface="Arial" pitchFamily="34" charset="-122"/>
                <a:cs typeface="Arial" pitchFamily="34" charset="-120"/>
              </a:rPr>
              <a:t>Cấp giấy xác nhận sinh viên – Trường Cao đẳng Y Dược (Prototype học thuật)</a:t>
            </a:r>
            <a:endParaRPr lang="en-US" sz="1400" dirty="0"/>
          </a:p>
        </p:txBody>
      </p:sp>
      <p:sp>
        <p:nvSpPr>
          <p:cNvPr id="13" name="Text 11"/>
          <p:cNvSpPr/>
          <p:nvPr/>
        </p:nvSpPr>
        <p:spPr>
          <a:xfrm>
            <a:off x="9601200" y="6510528"/>
            <a:ext cx="2179015" cy="274320"/>
          </a:xfrm>
          <a:prstGeom prst="rect">
            <a:avLst/>
          </a:prstGeom>
          <a:noFill/>
          <a:ln/>
        </p:spPr>
        <p:txBody>
          <a:bodyPr wrap="square" lIns="0" tIns="0" rIns="0" bIns="0" rtlCol="0" anchor="ctr"/>
          <a:lstStyle/>
          <a:p>
            <a:pPr algn="r" indent="0" marL="0">
              <a:buNone/>
            </a:pPr>
            <a:r>
              <a:rPr lang="en-US" sz="1400" b="1" dirty="0">
                <a:solidFill>
                  <a:srgbClr val="0F766E"/>
                </a:solidFill>
                <a:latin typeface="Arial" pitchFamily="34" charset="0"/>
                <a:ea typeface="Arial" pitchFamily="34" charset="-122"/>
                <a:cs typeface="Arial" pitchFamily="34" charset="-120"/>
              </a:rPr>
              <a:t>Slide 8/14</a:t>
            </a:r>
            <a:endParaRPr lang="en-US" sz="1400" dirty="0"/>
          </a:p>
        </p:txBody>
      </p:sp>
      <p:sp>
        <p:nvSpPr>
          <p:cNvPr id="15" name="Text 12"/>
          <p:cNvSpPr/>
          <p:nvPr/>
        </p:nvSpPr>
        <p:spPr>
          <a:xfrm>
            <a:off x="411480" y="1508760"/>
            <a:ext cx="5623560" cy="310896"/>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Tách thời gian chờ và xử lý theo bước (Seed 20260302)</a:t>
            </a:r>
            <a:endParaRPr lang="en-US" sz="1500" dirty="0"/>
          </a:p>
        </p:txBody>
      </p:sp>
      <p:sp>
        <p:nvSpPr>
          <p:cNvPr id="16" name="Shape 13"/>
          <p:cNvSpPr/>
          <p:nvPr/>
        </p:nvSpPr>
        <p:spPr>
          <a:xfrm>
            <a:off x="411480" y="1847088"/>
            <a:ext cx="5623560" cy="3017520"/>
          </a:xfrm>
          <a:prstGeom prst="roundRect">
            <a:avLst>
              <a:gd name="adj" fmla="val 1818"/>
            </a:avLst>
          </a:prstGeom>
          <a:solidFill>
            <a:srgbClr val="FFFFFF"/>
          </a:solidFill>
          <a:ln w="12700">
            <a:solidFill>
              <a:srgbClr val="CBD5E1"/>
            </a:solidFill>
            <a:prstDash val="solid"/>
          </a:ln>
        </p:spPr>
      </p:sp>
      <p:pic>
        <p:nvPicPr>
          <p:cNvPr id="17" name="Image 0" descr="inputs/images/wait_process.png">    </p:cNvPr>
          <p:cNvPicPr>
            <a:picLocks noChangeAspect="1"/>
          </p:cNvPicPr>
          <p:nvPr/>
        </p:nvPicPr>
        <p:blipFill>
          <a:blip r:embed="rId1"/>
          <a:stretch>
            <a:fillRect/>
          </a:stretch>
        </p:blipFill>
        <p:spPr>
          <a:xfrm>
            <a:off x="484632" y="2486711"/>
            <a:ext cx="5477256" cy="1738274"/>
          </a:xfrm>
          <a:prstGeom prst="rect">
            <a:avLst/>
          </a:prstGeom>
        </p:spPr>
      </p:pic>
      <p:sp>
        <p:nvSpPr>
          <p:cNvPr id="18" name="Shape 14"/>
          <p:cNvSpPr/>
          <p:nvPr/>
        </p:nvSpPr>
        <p:spPr>
          <a:xfrm>
            <a:off x="411480" y="4956048"/>
            <a:ext cx="5623560" cy="1371600"/>
          </a:xfrm>
          <a:prstGeom prst="roundRect">
            <a:avLst>
              <a:gd name="adj" fmla="val 4000"/>
            </a:avLst>
          </a:prstGeom>
          <a:solidFill>
            <a:srgbClr val="F0FDFA"/>
          </a:solidFill>
          <a:ln w="12700">
            <a:solidFill>
              <a:srgbClr val="0F766E"/>
            </a:solidFill>
            <a:prstDash val="solid"/>
          </a:ln>
        </p:spPr>
      </p:sp>
      <p:sp>
        <p:nvSpPr>
          <p:cNvPr id="19" name="Shape 15"/>
          <p:cNvSpPr/>
          <p:nvPr/>
        </p:nvSpPr>
        <p:spPr>
          <a:xfrm>
            <a:off x="411480" y="4956048"/>
            <a:ext cx="5623560" cy="384048"/>
          </a:xfrm>
          <a:prstGeom prst="roundRect">
            <a:avLst>
              <a:gd name="adj" fmla="val 14286"/>
            </a:avLst>
          </a:prstGeom>
          <a:solidFill>
            <a:srgbClr val="0F766E"/>
          </a:solidFill>
          <a:ln w="12700">
            <a:solidFill>
              <a:srgbClr val="0F766E"/>
            </a:solidFill>
            <a:prstDash val="solid"/>
          </a:ln>
        </p:spPr>
      </p:sp>
      <p:sp>
        <p:nvSpPr>
          <p:cNvPr id="20" name="Text 16"/>
          <p:cNvSpPr/>
          <p:nvPr/>
        </p:nvSpPr>
        <p:spPr>
          <a:xfrm>
            <a:off x="539496" y="4956048"/>
            <a:ext cx="536752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Xác nhận độ chính xác của công cụ đo</a:t>
            </a:r>
            <a:endParaRPr lang="en-US" sz="1500" dirty="0"/>
          </a:p>
        </p:txBody>
      </p:sp>
      <p:sp>
        <p:nvSpPr>
          <p:cNvPr id="21" name="Text 17"/>
          <p:cNvSpPr/>
          <p:nvPr/>
        </p:nvSpPr>
        <p:spPr>
          <a:xfrm>
            <a:off x="539496" y="5394960"/>
            <a:ext cx="5367528" cy="85953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Trừ chính xác giờ nghỉ trưa (11:30–13:30) và ngày nghỉ cuối tuần.</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Tách đúng thời gian chờ sinh viên bổ sung ra khỏi T_trường_net; kiểm trực tiếp hàm tính KPI trên ca C001 (12/12 test tự động đạt).</a:t>
            </a:r>
            <a:endParaRPr lang="en-US" sz="1400" dirty="0"/>
          </a:p>
        </p:txBody>
      </p:sp>
      <p:sp>
        <p:nvSpPr>
          <p:cNvPr id="22" name="Text 18"/>
          <p:cNvSpPr/>
          <p:nvPr/>
        </p:nvSpPr>
        <p:spPr>
          <a:xfrm>
            <a:off x="6217920" y="1508760"/>
            <a:ext cx="5559552" cy="310896"/>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Đối chiếu tính tay và mã nguồn trên tập hồ sơ mẫu (Phút LV)</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217920" y="1847088"/>
          <a:ext cx="5559552" cy="914400"/>
        </p:xfrm>
        <a:graphic>
          <a:graphicData uri="http://schemas.openxmlformats.org/drawingml/2006/table">
            <a:tbl>
              <a:tblPr/>
              <a:tblGrid>
                <a:gridCol w="2542032"/>
                <a:gridCol w="1005840"/>
                <a:gridCol w="1005840"/>
                <a:gridCol w="1005840"/>
              </a:tblGrid>
              <a:tr h="402336">
                <a:tc>
                  <a:txBody>
                    <a:bodyPr/>
                    <a:lstStyle/>
                    <a:p>
                      <a:pPr indent="0" marL="0">
                        <a:buNone/>
                      </a:pPr>
                      <a:r>
                        <a:rPr lang="en-US" sz="1400" b="1" dirty="0">
                          <a:solidFill>
                            <a:srgbClr val="FFFFFF"/>
                          </a:solidFill>
                          <a:latin typeface="Arial" pitchFamily="34" charset="0"/>
                          <a:ea typeface="Arial" pitchFamily="34" charset="-122"/>
                          <a:cs typeface="Arial" pitchFamily="34" charset="-120"/>
                        </a:rPr>
                        <a:t>Hồ sơ / Đại lượng kiểm chứng</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Tính tay</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Mã nguồn</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Kết quả</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5803D"/>
                    </a:solidFill>
                  </a:tcPr>
                </a:tc>
              </a:tr>
              <a:tr h="512064">
                <a:tc>
                  <a:txBody>
                    <a:bodyPr/>
                    <a:lstStyle/>
                    <a:p>
                      <a:pPr indent="0" marL="0">
                        <a:buNone/>
                      </a:pPr>
                      <a:r>
                        <a:rPr lang="en-US" sz="1400" b="1" dirty="0">
                          <a:solidFill>
                            <a:srgbClr val="1E293B"/>
                          </a:solidFill>
                          <a:latin typeface="Arial" pitchFamily="34" charset="0"/>
                          <a:ea typeface="Arial" pitchFamily="34" charset="-122"/>
                          <a:cs typeface="Arial" pitchFamily="34" charset="-120"/>
                        </a:rPr>
                        <a:t>C001 (AS-IS – Luồng đi thẳng chuẩn)</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843 phút</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843 phút</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5803D"/>
                          </a:solidFill>
                          <a:latin typeface="Arial" pitchFamily="34" charset="0"/>
                          <a:ea typeface="Arial" pitchFamily="34" charset="-122"/>
                          <a:cs typeface="Arial" pitchFamily="34" charset="-120"/>
                        </a:rPr>
                        <a:t>Khớp 100%</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1E293B"/>
                          </a:solidFill>
                          <a:latin typeface="Arial" pitchFamily="34" charset="0"/>
                          <a:ea typeface="Arial" pitchFamily="34" charset="-122"/>
                          <a:cs typeface="Arial" pitchFamily="34" charset="-120"/>
                        </a:rPr>
                        <a:t>C002 (AS-IS – Có chờ qua ngày làm việc)</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1.693 phút</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1.693 phút</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b="1" dirty="0">
                          <a:solidFill>
                            <a:srgbClr val="15803D"/>
                          </a:solidFill>
                          <a:latin typeface="Arial" pitchFamily="34" charset="0"/>
                          <a:ea typeface="Arial" pitchFamily="34" charset="-122"/>
                          <a:cs typeface="Arial" pitchFamily="34" charset="-120"/>
                        </a:rPr>
                        <a:t>Khớp 100%</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r h="512064">
                <a:tc>
                  <a:txBody>
                    <a:bodyPr/>
                    <a:lstStyle/>
                    <a:p>
                      <a:pPr indent="0" marL="0">
                        <a:buNone/>
                      </a:pPr>
                      <a:r>
                        <a:rPr lang="en-US" sz="1400" b="1" dirty="0">
                          <a:solidFill>
                            <a:srgbClr val="1E293B"/>
                          </a:solidFill>
                          <a:latin typeface="Arial" pitchFamily="34" charset="0"/>
                          <a:ea typeface="Arial" pitchFamily="34" charset="-122"/>
                          <a:cs typeface="Arial" pitchFamily="34" charset="-120"/>
                        </a:rPr>
                        <a:t>C003 (AS-IS – Nhánh từ chối / kiểm tra)</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1.233 phút</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1.233 phút</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5803D"/>
                          </a:solidFill>
                          <a:latin typeface="Arial" pitchFamily="34" charset="0"/>
                          <a:ea typeface="Arial" pitchFamily="34" charset="-122"/>
                          <a:cs typeface="Arial" pitchFamily="34" charset="-120"/>
                        </a:rPr>
                        <a:t>Khớp 100%</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1E293B"/>
                          </a:solidFill>
                          <a:latin typeface="Arial" pitchFamily="34" charset="0"/>
                          <a:ea typeface="Arial" pitchFamily="34" charset="-122"/>
                          <a:cs typeface="Arial" pitchFamily="34" charset="-120"/>
                        </a:rPr>
                        <a:t>C004 (AS-IS – Tổng thời gian &amp; Tuổi net)</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5.740 / 95'</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5.740 / 95'</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b="1" dirty="0">
                          <a:solidFill>
                            <a:srgbClr val="15803D"/>
                          </a:solidFill>
                          <a:latin typeface="Arial" pitchFamily="34" charset="0"/>
                          <a:ea typeface="Arial" pitchFamily="34" charset="-122"/>
                          <a:cs typeface="Arial" pitchFamily="34" charset="-120"/>
                        </a:rPr>
                        <a:t>Khớp 100%</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r h="512064">
                <a:tc>
                  <a:txBody>
                    <a:bodyPr/>
                    <a:lstStyle/>
                    <a:p>
                      <a:pPr indent="0" marL="0">
                        <a:buNone/>
                      </a:pPr>
                      <a:r>
                        <a:rPr lang="en-US" sz="1400" b="1" dirty="0">
                          <a:solidFill>
                            <a:srgbClr val="1E293B"/>
                          </a:solidFill>
                          <a:latin typeface="Arial" pitchFamily="34" charset="0"/>
                          <a:ea typeface="Arial" pitchFamily="34" charset="-122"/>
                          <a:cs typeface="Arial" pitchFamily="34" charset="-120"/>
                        </a:rPr>
                        <a:t>Chờ trình ký mẫu (2 ca kiểm chứng)</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555 &amp; 585'</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555 &amp; 585'</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5803D"/>
                          </a:solidFill>
                          <a:latin typeface="Arial" pitchFamily="34" charset="0"/>
                          <a:ea typeface="Arial" pitchFamily="34" charset="-122"/>
                          <a:cs typeface="Arial" pitchFamily="34" charset="-120"/>
                        </a:rPr>
                        <a:t>Khớp 100%</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1E293B"/>
                          </a:solidFill>
                          <a:latin typeface="Arial" pitchFamily="34" charset="0"/>
                          <a:ea typeface="Arial" pitchFamily="34" charset="-122"/>
                          <a:cs typeface="Arial" pitchFamily="34" charset="-120"/>
                        </a:rPr>
                        <a:t>Độ trễ phát hiện quá hạn bổ sung (AS-IS)</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2.130 phút</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2.130 phút</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b="1" dirty="0">
                          <a:solidFill>
                            <a:srgbClr val="15803D"/>
                          </a:solidFill>
                          <a:latin typeface="Arial" pitchFamily="34" charset="0"/>
                          <a:ea typeface="Arial" pitchFamily="34" charset="-122"/>
                          <a:cs typeface="Arial" pitchFamily="34" charset="-120"/>
                        </a:rPr>
                        <a:t>Khớp 100%</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r h="512064">
                <a:tc>
                  <a:txBody>
                    <a:bodyPr/>
                    <a:lstStyle/>
                    <a:p>
                      <a:pPr indent="0" marL="0">
                        <a:buNone/>
                      </a:pPr>
                      <a:r>
                        <a:rPr lang="en-US" sz="1400" b="1" dirty="0">
                          <a:solidFill>
                            <a:srgbClr val="1E293B"/>
                          </a:solidFill>
                          <a:latin typeface="Arial" pitchFamily="34" charset="0"/>
                          <a:ea typeface="Arial" pitchFamily="34" charset="-122"/>
                          <a:cs typeface="Arial" pitchFamily="34" charset="-120"/>
                        </a:rPr>
                        <a:t>2 hồ sơ mẫu TO-BE (Đóng đúng hạn &amp; luồng mới)</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Trễ = 0 phút</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Trễ = 0 phút</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5803D"/>
                          </a:solidFill>
                          <a:latin typeface="Arial" pitchFamily="34" charset="0"/>
                          <a:ea typeface="Arial" pitchFamily="34" charset="-122"/>
                          <a:cs typeface="Arial" pitchFamily="34" charset="-120"/>
                        </a:rPr>
                        <a:t>Khớp 100%</a:t>
                      </a:r>
                      <a:endParaRPr lang="en-US" sz="1400" dirty="0">
                        <a:latin typeface="Arial" charset="0"/>
                        <a:ea typeface="Arial" charset="0"/>
                        <a:cs typeface="Arial" charset="0"/>
                      </a:endParaRPr>
                    </a:p>
                  </a:txBody>
                  <a:tcPr marL="63500" marR="635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sp>
      <p:sp>
        <p:nvSpPr>
          <p:cNvPr id="3" name="Shape 1"/>
          <p:cNvSpPr/>
          <p:nvPr/>
        </p:nvSpPr>
        <p:spPr>
          <a:xfrm>
            <a:off x="411480" y="182880"/>
            <a:ext cx="2468880" cy="310896"/>
          </a:xfrm>
          <a:prstGeom prst="roundRect">
            <a:avLst>
              <a:gd name="adj" fmla="val 14706"/>
            </a:avLst>
          </a:prstGeom>
          <a:solidFill>
            <a:srgbClr val="CCFBF1"/>
          </a:solidFill>
          <a:ln w="6350">
            <a:solidFill>
              <a:srgbClr val="0F766E"/>
            </a:solidFill>
            <a:prstDash val="solid"/>
          </a:ln>
        </p:spPr>
      </p:sp>
      <p:sp>
        <p:nvSpPr>
          <p:cNvPr id="4" name="Text 2"/>
          <p:cNvSpPr/>
          <p:nvPr/>
        </p:nvSpPr>
        <p:spPr>
          <a:xfrm>
            <a:off x="411480" y="182880"/>
            <a:ext cx="2468880" cy="310896"/>
          </a:xfrm>
          <a:prstGeom prst="rect">
            <a:avLst/>
          </a:prstGeom>
          <a:noFill/>
          <a:ln/>
        </p:spPr>
        <p:txBody>
          <a:bodyPr wrap="square" lIns="0" tIns="0" rIns="0" bIns="0" rtlCol="0" anchor="ctr"/>
          <a:lstStyle/>
          <a:p>
            <a:pPr algn="ctr" indent="0" marL="0">
              <a:buNone/>
            </a:pPr>
            <a:r>
              <a:rPr lang="en-US" sz="1400" b="1" dirty="0">
                <a:solidFill>
                  <a:srgbClr val="0F766E"/>
                </a:solidFill>
                <a:latin typeface="Arial" pitchFamily="34" charset="0"/>
                <a:ea typeface="Arial" pitchFamily="34" charset="-122"/>
                <a:cs typeface="Arial" pitchFamily="34" charset="-120"/>
              </a:rPr>
              <a:t>QUY TRÌNH TO-BE</a:t>
            </a:r>
            <a:endParaRPr lang="en-US" sz="1400" dirty="0"/>
          </a:p>
        </p:txBody>
      </p:sp>
      <p:sp>
        <p:nvSpPr>
          <p:cNvPr id="5" name="Text 3"/>
          <p:cNvSpPr/>
          <p:nvPr/>
        </p:nvSpPr>
        <p:spPr>
          <a:xfrm>
            <a:off x="411480" y="530352"/>
            <a:ext cx="11338560" cy="420624"/>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Quy trình đề xuất (TO-BE) – Mô hình BPMN 5 làn (Có làn Hệ thống)</a:t>
            </a:r>
            <a:endParaRPr lang="en-US" sz="2200" dirty="0"/>
          </a:p>
        </p:txBody>
      </p:sp>
      <p:sp>
        <p:nvSpPr>
          <p:cNvPr id="6" name="Shape 4"/>
          <p:cNvSpPr/>
          <p:nvPr/>
        </p:nvSpPr>
        <p:spPr>
          <a:xfrm>
            <a:off x="411480" y="987552"/>
            <a:ext cx="11368735" cy="438912"/>
          </a:xfrm>
          <a:prstGeom prst="roundRect">
            <a:avLst>
              <a:gd name="adj" fmla="val 10417"/>
            </a:avLst>
          </a:prstGeom>
          <a:solidFill>
            <a:srgbClr val="FFFFFF"/>
          </a:solidFill>
          <a:ln w="15240">
            <a:solidFill>
              <a:srgbClr val="0F766E"/>
            </a:solidFill>
            <a:prstDash val="solid"/>
          </a:ln>
        </p:spPr>
      </p:sp>
      <p:sp>
        <p:nvSpPr>
          <p:cNvPr id="7" name="Shape 5"/>
          <p:cNvSpPr/>
          <p:nvPr/>
        </p:nvSpPr>
        <p:spPr>
          <a:xfrm>
            <a:off x="411480" y="987552"/>
            <a:ext cx="109728" cy="438912"/>
          </a:xfrm>
          <a:prstGeom prst="rect">
            <a:avLst/>
          </a:prstGeom>
          <a:solidFill>
            <a:srgbClr val="0F766E"/>
          </a:solidFill>
          <a:ln w="12700">
            <a:solidFill>
              <a:srgbClr val="0F766E"/>
            </a:solidFill>
            <a:prstDash val="solid"/>
          </a:ln>
        </p:spPr>
      </p:sp>
      <p:sp>
        <p:nvSpPr>
          <p:cNvPr id="8" name="Text 6"/>
          <p:cNvSpPr/>
          <p:nvPr/>
        </p:nvSpPr>
        <p:spPr>
          <a:xfrm>
            <a:off x="621792" y="987552"/>
            <a:ext cx="11064240" cy="438912"/>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Thông điệp: Kiểm soát dữ liệu ngay từ biểu mẫu, tự động hóa sinh giấy và thông báo, giữ nguyên thẩm quyền ký và đóng dấu.</a:t>
            </a:r>
            <a:endParaRPr lang="en-US" sz="1400" dirty="0"/>
          </a:p>
        </p:txBody>
      </p:sp>
      <p:sp>
        <p:nvSpPr>
          <p:cNvPr id="9" name="Shape 7"/>
          <p:cNvSpPr/>
          <p:nvPr/>
        </p:nvSpPr>
        <p:spPr>
          <a:xfrm>
            <a:off x="411480" y="6473952"/>
            <a:ext cx="11368735" cy="0"/>
          </a:xfrm>
          <a:prstGeom prst="line">
            <a:avLst/>
          </a:prstGeom>
          <a:noFill/>
          <a:ln w="9525">
            <a:solidFill>
              <a:srgbClr val="CBD5E1"/>
            </a:solidFill>
            <a:prstDash val="solid"/>
          </a:ln>
        </p:spPr>
      </p:sp>
      <p:sp>
        <p:nvSpPr>
          <p:cNvPr id="10" name="Text 8"/>
          <p:cNvSpPr/>
          <p:nvPr/>
        </p:nvSpPr>
        <p:spPr>
          <a:xfrm>
            <a:off x="411480" y="6510528"/>
            <a:ext cx="8686800" cy="274320"/>
          </a:xfrm>
          <a:prstGeom prst="rect">
            <a:avLst/>
          </a:prstGeom>
          <a:noFill/>
          <a:ln/>
        </p:spPr>
        <p:txBody>
          <a:bodyPr wrap="square" lIns="0" tIns="0" rIns="0" bIns="0" rtlCol="0" anchor="ctr"/>
          <a:lstStyle/>
          <a:p>
            <a:pPr indent="0" marL="0">
              <a:buNone/>
            </a:pPr>
            <a:r>
              <a:rPr lang="en-US" sz="1400" dirty="0">
                <a:solidFill>
                  <a:srgbClr val="475569"/>
                </a:solidFill>
                <a:latin typeface="Arial" pitchFamily="34" charset="0"/>
                <a:ea typeface="Arial" pitchFamily="34" charset="-122"/>
                <a:cs typeface="Arial" pitchFamily="34" charset="-120"/>
              </a:rPr>
              <a:t>Cấp giấy xác nhận sinh viên – Trường Cao đẳng Y Dược (Prototype học thuật)</a:t>
            </a:r>
            <a:endParaRPr lang="en-US" sz="1400" dirty="0"/>
          </a:p>
        </p:txBody>
      </p:sp>
      <p:sp>
        <p:nvSpPr>
          <p:cNvPr id="11" name="Text 9"/>
          <p:cNvSpPr/>
          <p:nvPr/>
        </p:nvSpPr>
        <p:spPr>
          <a:xfrm>
            <a:off x="9601200" y="6510528"/>
            <a:ext cx="2179015" cy="274320"/>
          </a:xfrm>
          <a:prstGeom prst="rect">
            <a:avLst/>
          </a:prstGeom>
          <a:noFill/>
          <a:ln/>
        </p:spPr>
        <p:txBody>
          <a:bodyPr wrap="square" lIns="0" tIns="0" rIns="0" bIns="0" rtlCol="0" anchor="ctr"/>
          <a:lstStyle/>
          <a:p>
            <a:pPr algn="r" indent="0" marL="0">
              <a:buNone/>
            </a:pPr>
            <a:r>
              <a:rPr lang="en-US" sz="1400" b="1" dirty="0">
                <a:solidFill>
                  <a:srgbClr val="0F766E"/>
                </a:solidFill>
                <a:latin typeface="Arial" pitchFamily="34" charset="0"/>
                <a:ea typeface="Arial" pitchFamily="34" charset="-122"/>
                <a:cs typeface="Arial" pitchFamily="34" charset="-120"/>
              </a:rPr>
              <a:t>Slide 9/14</a:t>
            </a:r>
            <a:endParaRPr lang="en-US" sz="1400" dirty="0"/>
          </a:p>
        </p:txBody>
      </p:sp>
      <p:sp>
        <p:nvSpPr>
          <p:cNvPr id="13" name="Shape 10"/>
          <p:cNvSpPr/>
          <p:nvPr/>
        </p:nvSpPr>
        <p:spPr>
          <a:xfrm>
            <a:off x="411480" y="1508760"/>
            <a:ext cx="11368735" cy="3246120"/>
          </a:xfrm>
          <a:prstGeom prst="roundRect">
            <a:avLst>
              <a:gd name="adj" fmla="val 1690"/>
            </a:avLst>
          </a:prstGeom>
          <a:solidFill>
            <a:srgbClr val="FFFFFF"/>
          </a:solidFill>
          <a:ln w="12700">
            <a:solidFill>
              <a:srgbClr val="CBD5E1"/>
            </a:solidFill>
            <a:prstDash val="solid"/>
          </a:ln>
        </p:spPr>
      </p:sp>
      <p:pic>
        <p:nvPicPr>
          <p:cNvPr id="14" name="Image 0" descr="inputs/images/to-be.png">    </p:cNvPr>
          <p:cNvPicPr>
            <a:picLocks noChangeAspect="1"/>
          </p:cNvPicPr>
          <p:nvPr/>
        </p:nvPicPr>
        <p:blipFill>
          <a:blip r:embed="rId1"/>
          <a:stretch>
            <a:fillRect/>
          </a:stretch>
        </p:blipFill>
        <p:spPr>
          <a:xfrm>
            <a:off x="1446124" y="1581912"/>
            <a:ext cx="9299448" cy="3099816"/>
          </a:xfrm>
          <a:prstGeom prst="rect">
            <a:avLst/>
          </a:prstGeom>
        </p:spPr>
      </p:pic>
      <p:sp>
        <p:nvSpPr>
          <p:cNvPr id="15" name="Shape 11"/>
          <p:cNvSpPr/>
          <p:nvPr/>
        </p:nvSpPr>
        <p:spPr>
          <a:xfrm>
            <a:off x="411480" y="4864608"/>
            <a:ext cx="3703320" cy="1481328"/>
          </a:xfrm>
          <a:prstGeom prst="roundRect">
            <a:avLst>
              <a:gd name="adj" fmla="val 3704"/>
            </a:avLst>
          </a:prstGeom>
          <a:solidFill>
            <a:srgbClr val="FFFFFF"/>
          </a:solidFill>
          <a:ln w="12700">
            <a:solidFill>
              <a:srgbClr val="CBD5E1"/>
            </a:solidFill>
            <a:prstDash val="solid"/>
          </a:ln>
        </p:spPr>
      </p:sp>
      <p:sp>
        <p:nvSpPr>
          <p:cNvPr id="16" name="Shape 12"/>
          <p:cNvSpPr/>
          <p:nvPr/>
        </p:nvSpPr>
        <p:spPr>
          <a:xfrm>
            <a:off x="411480" y="4864608"/>
            <a:ext cx="3703320" cy="384048"/>
          </a:xfrm>
          <a:prstGeom prst="roundRect">
            <a:avLst>
              <a:gd name="adj" fmla="val 14286"/>
            </a:avLst>
          </a:prstGeom>
          <a:solidFill>
            <a:srgbClr val="0F766E"/>
          </a:solidFill>
          <a:ln w="12700">
            <a:solidFill>
              <a:srgbClr val="0F766E"/>
            </a:solidFill>
            <a:prstDash val="solid"/>
          </a:ln>
        </p:spPr>
      </p:sp>
      <p:sp>
        <p:nvSpPr>
          <p:cNvPr id="17" name="Text 13"/>
          <p:cNvSpPr/>
          <p:nvPr/>
        </p:nvSpPr>
        <p:spPr>
          <a:xfrm>
            <a:off x="539496" y="4864608"/>
            <a:ext cx="344728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1. Kiểm soát đầu vào &amp; Cấp mã</a:t>
            </a:r>
            <a:endParaRPr lang="en-US" sz="1500" dirty="0"/>
          </a:p>
        </p:txBody>
      </p:sp>
      <p:sp>
        <p:nvSpPr>
          <p:cNvPr id="18" name="Text 14"/>
          <p:cNvSpPr/>
          <p:nvPr/>
        </p:nvSpPr>
        <p:spPr>
          <a:xfrm>
            <a:off x="539496" y="5303520"/>
            <a:ext cx="3447288" cy="969264"/>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Kiểm tra định dạng tự động (A15) ngay khi nộp form checklist; tạo mã hồ sơ GXN và gửi email xác nhận.</a:t>
            </a:r>
            <a:endParaRPr lang="en-US" sz="1400" dirty="0"/>
          </a:p>
        </p:txBody>
      </p:sp>
      <p:sp>
        <p:nvSpPr>
          <p:cNvPr id="19" name="Shape 15"/>
          <p:cNvSpPr/>
          <p:nvPr/>
        </p:nvSpPr>
        <p:spPr>
          <a:xfrm>
            <a:off x="4251960" y="4864608"/>
            <a:ext cx="3794760" cy="1481328"/>
          </a:xfrm>
          <a:prstGeom prst="roundRect">
            <a:avLst>
              <a:gd name="adj" fmla="val 3704"/>
            </a:avLst>
          </a:prstGeom>
          <a:solidFill>
            <a:srgbClr val="FFFFFF"/>
          </a:solidFill>
          <a:ln w="12700">
            <a:solidFill>
              <a:srgbClr val="CBD5E1"/>
            </a:solidFill>
            <a:prstDash val="solid"/>
          </a:ln>
        </p:spPr>
      </p:sp>
      <p:sp>
        <p:nvSpPr>
          <p:cNvPr id="20" name="Shape 16"/>
          <p:cNvSpPr/>
          <p:nvPr/>
        </p:nvSpPr>
        <p:spPr>
          <a:xfrm>
            <a:off x="4251960" y="4864608"/>
            <a:ext cx="3794760" cy="384048"/>
          </a:xfrm>
          <a:prstGeom prst="roundRect">
            <a:avLst>
              <a:gd name="adj" fmla="val 14286"/>
            </a:avLst>
          </a:prstGeom>
          <a:solidFill>
            <a:srgbClr val="1D4ED8"/>
          </a:solidFill>
          <a:ln w="12700">
            <a:solidFill>
              <a:srgbClr val="1D4ED8"/>
            </a:solidFill>
            <a:prstDash val="solid"/>
          </a:ln>
        </p:spPr>
      </p:sp>
      <p:sp>
        <p:nvSpPr>
          <p:cNvPr id="21" name="Text 17"/>
          <p:cNvSpPr/>
          <p:nvPr/>
        </p:nvSpPr>
        <p:spPr>
          <a:xfrm>
            <a:off x="4379976" y="4864608"/>
            <a:ext cx="353872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2. Sinh bản thảo &amp; Tự động nhắc hạn</a:t>
            </a:r>
            <a:endParaRPr lang="en-US" sz="1500" dirty="0"/>
          </a:p>
        </p:txBody>
      </p:sp>
      <p:sp>
        <p:nvSpPr>
          <p:cNvPr id="22" name="Text 18"/>
          <p:cNvSpPr/>
          <p:nvPr/>
        </p:nvSpPr>
        <p:spPr>
          <a:xfrm>
            <a:off x="4379976" y="5303520"/>
            <a:ext cx="3538728" cy="969264"/>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Tự sinh bản thảo giấy (A06) để cán bộ rà (A17); tự động nhắc hạn (A16) và đóng hồ sơ đúng hạn (A13).</a:t>
            </a:r>
            <a:endParaRPr lang="en-US" sz="1400" dirty="0"/>
          </a:p>
        </p:txBody>
      </p:sp>
      <p:sp>
        <p:nvSpPr>
          <p:cNvPr id="23" name="Shape 19"/>
          <p:cNvSpPr/>
          <p:nvPr/>
        </p:nvSpPr>
        <p:spPr>
          <a:xfrm>
            <a:off x="8183880" y="4864608"/>
            <a:ext cx="3596335" cy="1481328"/>
          </a:xfrm>
          <a:prstGeom prst="roundRect">
            <a:avLst>
              <a:gd name="adj" fmla="val 3704"/>
            </a:avLst>
          </a:prstGeom>
          <a:solidFill>
            <a:srgbClr val="FFFFFF"/>
          </a:solidFill>
          <a:ln w="12700">
            <a:solidFill>
              <a:srgbClr val="CBD5E1"/>
            </a:solidFill>
            <a:prstDash val="solid"/>
          </a:ln>
        </p:spPr>
      </p:sp>
      <p:sp>
        <p:nvSpPr>
          <p:cNvPr id="24" name="Shape 20"/>
          <p:cNvSpPr/>
          <p:nvPr/>
        </p:nvSpPr>
        <p:spPr>
          <a:xfrm>
            <a:off x="8183880" y="4864608"/>
            <a:ext cx="3596335" cy="384048"/>
          </a:xfrm>
          <a:prstGeom prst="roundRect">
            <a:avLst>
              <a:gd name="adj" fmla="val 14286"/>
            </a:avLst>
          </a:prstGeom>
          <a:solidFill>
            <a:srgbClr val="0F172A"/>
          </a:solidFill>
          <a:ln w="12700">
            <a:solidFill>
              <a:srgbClr val="0F172A"/>
            </a:solidFill>
            <a:prstDash val="solid"/>
          </a:ln>
        </p:spPr>
      </p:sp>
      <p:sp>
        <p:nvSpPr>
          <p:cNvPr id="25" name="Text 21"/>
          <p:cNvSpPr/>
          <p:nvPr/>
        </p:nvSpPr>
        <p:spPr>
          <a:xfrm>
            <a:off x="8311896" y="4864608"/>
            <a:ext cx="3340303"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3. Giữ thẩm quyền &amp; Lưu vết thông báo</a:t>
            </a:r>
            <a:endParaRPr lang="en-US" sz="1500" dirty="0"/>
          </a:p>
        </p:txBody>
      </p:sp>
      <p:sp>
        <p:nvSpPr>
          <p:cNvPr id="26" name="Text 22"/>
          <p:cNvSpPr/>
          <p:nvPr/>
        </p:nvSpPr>
        <p:spPr>
          <a:xfrm>
            <a:off x="8311896" y="5303520"/>
            <a:ext cx="3340303" cy="969264"/>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Lãnh đạo duyệt ký (khung 10:30 &amp; 16:00), Văn thư đóng dấu; hệ thống gửi email lưu vết qua Mailpit.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sp>
      <p:sp>
        <p:nvSpPr>
          <p:cNvPr id="3" name="Shape 1"/>
          <p:cNvSpPr/>
          <p:nvPr/>
        </p:nvSpPr>
        <p:spPr>
          <a:xfrm>
            <a:off x="411480" y="182880"/>
            <a:ext cx="2468880" cy="310896"/>
          </a:xfrm>
          <a:prstGeom prst="roundRect">
            <a:avLst>
              <a:gd name="adj" fmla="val 14706"/>
            </a:avLst>
          </a:prstGeom>
          <a:solidFill>
            <a:srgbClr val="CCFBF1"/>
          </a:solidFill>
          <a:ln w="6350">
            <a:solidFill>
              <a:srgbClr val="0F766E"/>
            </a:solidFill>
            <a:prstDash val="solid"/>
          </a:ln>
        </p:spPr>
      </p:sp>
      <p:sp>
        <p:nvSpPr>
          <p:cNvPr id="4" name="Text 2"/>
          <p:cNvSpPr/>
          <p:nvPr/>
        </p:nvSpPr>
        <p:spPr>
          <a:xfrm>
            <a:off x="411480" y="182880"/>
            <a:ext cx="2468880" cy="310896"/>
          </a:xfrm>
          <a:prstGeom prst="rect">
            <a:avLst/>
          </a:prstGeom>
          <a:noFill/>
          <a:ln/>
        </p:spPr>
        <p:txBody>
          <a:bodyPr wrap="square" lIns="0" tIns="0" rIns="0" bIns="0" rtlCol="0" anchor="ctr"/>
          <a:lstStyle/>
          <a:p>
            <a:pPr algn="ctr" indent="0" marL="0">
              <a:buNone/>
            </a:pPr>
            <a:r>
              <a:rPr lang="en-US" sz="1400" b="1" dirty="0">
                <a:solidFill>
                  <a:srgbClr val="0F766E"/>
                </a:solidFill>
                <a:latin typeface="Arial" pitchFamily="34" charset="0"/>
                <a:ea typeface="Arial" pitchFamily="34" charset="-122"/>
                <a:cs typeface="Arial" pitchFamily="34" charset="-120"/>
              </a:rPr>
              <a:t>KIẾN TRÚC PROTOTYPE</a:t>
            </a:r>
            <a:endParaRPr lang="en-US" sz="1400" dirty="0"/>
          </a:p>
        </p:txBody>
      </p:sp>
      <p:sp>
        <p:nvSpPr>
          <p:cNvPr id="5" name="Text 3"/>
          <p:cNvSpPr/>
          <p:nvPr/>
        </p:nvSpPr>
        <p:spPr>
          <a:xfrm>
            <a:off x="411480" y="530352"/>
            <a:ext cx="11338560" cy="420624"/>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Kiến trúc Prototype tự động hóa (4 dịch vụ Docker Compose)</a:t>
            </a:r>
            <a:endParaRPr lang="en-US" sz="2200" dirty="0"/>
          </a:p>
        </p:txBody>
      </p:sp>
      <p:sp>
        <p:nvSpPr>
          <p:cNvPr id="6" name="Shape 4"/>
          <p:cNvSpPr/>
          <p:nvPr/>
        </p:nvSpPr>
        <p:spPr>
          <a:xfrm>
            <a:off x="411480" y="987552"/>
            <a:ext cx="11368735" cy="438912"/>
          </a:xfrm>
          <a:prstGeom prst="roundRect">
            <a:avLst>
              <a:gd name="adj" fmla="val 10417"/>
            </a:avLst>
          </a:prstGeom>
          <a:solidFill>
            <a:srgbClr val="FFFFFF"/>
          </a:solidFill>
          <a:ln w="15240">
            <a:solidFill>
              <a:srgbClr val="0F766E"/>
            </a:solidFill>
            <a:prstDash val="solid"/>
          </a:ln>
        </p:spPr>
      </p:sp>
      <p:sp>
        <p:nvSpPr>
          <p:cNvPr id="7" name="Shape 5"/>
          <p:cNvSpPr/>
          <p:nvPr/>
        </p:nvSpPr>
        <p:spPr>
          <a:xfrm>
            <a:off x="411480" y="987552"/>
            <a:ext cx="109728" cy="438912"/>
          </a:xfrm>
          <a:prstGeom prst="rect">
            <a:avLst/>
          </a:prstGeom>
          <a:solidFill>
            <a:srgbClr val="0F766E"/>
          </a:solidFill>
          <a:ln w="12700">
            <a:solidFill>
              <a:srgbClr val="0F766E"/>
            </a:solidFill>
            <a:prstDash val="solid"/>
          </a:ln>
        </p:spPr>
      </p:sp>
      <p:sp>
        <p:nvSpPr>
          <p:cNvPr id="8" name="Text 6"/>
          <p:cNvSpPr/>
          <p:nvPr/>
        </p:nvSpPr>
        <p:spPr>
          <a:xfrm>
            <a:off x="621792" y="987552"/>
            <a:ext cx="11064240" cy="438912"/>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Thông điệp: Ứng dụng FastAPI là bên duy nhất ghi trạng thái và nhật ký; n8n điều phối tiền kiểm, gửi thư và callback đồng bộ.</a:t>
            </a:r>
            <a:endParaRPr lang="en-US" sz="1400" dirty="0"/>
          </a:p>
        </p:txBody>
      </p:sp>
      <p:sp>
        <p:nvSpPr>
          <p:cNvPr id="9" name="Shape 7"/>
          <p:cNvSpPr/>
          <p:nvPr/>
        </p:nvSpPr>
        <p:spPr>
          <a:xfrm>
            <a:off x="411480" y="6473952"/>
            <a:ext cx="11368735" cy="0"/>
          </a:xfrm>
          <a:prstGeom prst="line">
            <a:avLst/>
          </a:prstGeom>
          <a:noFill/>
          <a:ln w="9525">
            <a:solidFill>
              <a:srgbClr val="CBD5E1"/>
            </a:solidFill>
            <a:prstDash val="solid"/>
          </a:ln>
        </p:spPr>
      </p:sp>
      <p:sp>
        <p:nvSpPr>
          <p:cNvPr id="10" name="Text 8"/>
          <p:cNvSpPr/>
          <p:nvPr/>
        </p:nvSpPr>
        <p:spPr>
          <a:xfrm>
            <a:off x="411480" y="6510528"/>
            <a:ext cx="8686800" cy="274320"/>
          </a:xfrm>
          <a:prstGeom prst="rect">
            <a:avLst/>
          </a:prstGeom>
          <a:noFill/>
          <a:ln/>
        </p:spPr>
        <p:txBody>
          <a:bodyPr wrap="square" lIns="0" tIns="0" rIns="0" bIns="0" rtlCol="0" anchor="ctr"/>
          <a:lstStyle/>
          <a:p>
            <a:pPr indent="0" marL="0">
              <a:buNone/>
            </a:pPr>
            <a:r>
              <a:rPr lang="en-US" sz="1400" dirty="0">
                <a:solidFill>
                  <a:srgbClr val="475569"/>
                </a:solidFill>
                <a:latin typeface="Arial" pitchFamily="34" charset="0"/>
                <a:ea typeface="Arial" pitchFamily="34" charset="-122"/>
                <a:cs typeface="Arial" pitchFamily="34" charset="-120"/>
              </a:rPr>
              <a:t>Cấp giấy xác nhận sinh viên – Trường Cao đẳng Y Dược (Prototype học thuật)</a:t>
            </a:r>
            <a:endParaRPr lang="en-US" sz="1400" dirty="0"/>
          </a:p>
        </p:txBody>
      </p:sp>
      <p:sp>
        <p:nvSpPr>
          <p:cNvPr id="11" name="Text 9"/>
          <p:cNvSpPr/>
          <p:nvPr/>
        </p:nvSpPr>
        <p:spPr>
          <a:xfrm>
            <a:off x="9601200" y="6510528"/>
            <a:ext cx="2179015" cy="274320"/>
          </a:xfrm>
          <a:prstGeom prst="rect">
            <a:avLst/>
          </a:prstGeom>
          <a:noFill/>
          <a:ln/>
        </p:spPr>
        <p:txBody>
          <a:bodyPr wrap="square" lIns="0" tIns="0" rIns="0" bIns="0" rtlCol="0" anchor="ctr"/>
          <a:lstStyle/>
          <a:p>
            <a:pPr algn="r" indent="0" marL="0">
              <a:buNone/>
            </a:pPr>
            <a:r>
              <a:rPr lang="en-US" sz="1400" b="1" dirty="0">
                <a:solidFill>
                  <a:srgbClr val="0F766E"/>
                </a:solidFill>
                <a:latin typeface="Arial" pitchFamily="34" charset="0"/>
                <a:ea typeface="Arial" pitchFamily="34" charset="-122"/>
                <a:cs typeface="Arial" pitchFamily="34" charset="-120"/>
              </a:rPr>
              <a:t>Slide 10/14</a:t>
            </a:r>
            <a:endParaRPr lang="en-US" sz="1400" dirty="0"/>
          </a:p>
        </p:txBody>
      </p:sp>
      <p:sp>
        <p:nvSpPr>
          <p:cNvPr id="13" name="Text 10"/>
          <p:cNvSpPr/>
          <p:nvPr/>
        </p:nvSpPr>
        <p:spPr>
          <a:xfrm>
            <a:off x="411480" y="1536192"/>
            <a:ext cx="6720840" cy="310896"/>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1. Kiến trúc 4 dịch vụ chạy Local (Docker Compose)</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883664"/>
          <a:ext cx="6720840" cy="914400"/>
        </p:xfrm>
        <a:graphic>
          <a:graphicData uri="http://schemas.openxmlformats.org/drawingml/2006/table">
            <a:tbl>
              <a:tblPr/>
              <a:tblGrid>
                <a:gridCol w="2057400"/>
                <a:gridCol w="3794760"/>
                <a:gridCol w="868680"/>
              </a:tblGrid>
              <a:tr h="384048">
                <a:tc>
                  <a:txBody>
                    <a:bodyPr/>
                    <a:lstStyle/>
                    <a:p>
                      <a:pPr indent="0" marL="0">
                        <a:buNone/>
                      </a:pPr>
                      <a:r>
                        <a:rPr lang="en-US" sz="1400" b="1" dirty="0">
                          <a:solidFill>
                            <a:srgbClr val="FFFFFF"/>
                          </a:solidFill>
                          <a:latin typeface="Arial" pitchFamily="34" charset="0"/>
                          <a:ea typeface="Arial" pitchFamily="34" charset="-122"/>
                          <a:cs typeface="Arial" pitchFamily="34" charset="-120"/>
                        </a:rPr>
                        <a:t>Dịch vụ</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Vai trò &amp; Trách nhiệm kỹ thuật</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Cổng</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777240">
                <a:tc>
                  <a:txBody>
                    <a:bodyPr/>
                    <a:lstStyle/>
                    <a:p>
                      <a:pPr indent="0" marL="0">
                        <a:buNone/>
                      </a:pPr>
                      <a:r>
                        <a:rPr lang="en-US" sz="1400" b="1" dirty="0">
                          <a:solidFill>
                            <a:srgbClr val="0F766E"/>
                          </a:solidFill>
                          <a:latin typeface="Arial" pitchFamily="34" charset="0"/>
                          <a:ea typeface="Arial" pitchFamily="34" charset="-122"/>
                          <a:cs typeface="Arial" pitchFamily="34" charset="-120"/>
                        </a:rPr>
                        <a:t>App Web &amp; API</a:t>
                      </a:r>
                      <a:endParaRPr lang="en-US" sz="1400" dirty="0">
                        <a:latin typeface="Arial" charset="0"/>
                        <a:ea typeface="Arial" charset="0"/>
                        <a:cs typeface="Arial" charset="0"/>
                      </a:endParaRPr>
                    </a:p>
                    <a:p>
                      <a:pPr indent="0" marL="0">
                        <a:buNone/>
                      </a:pPr>
                      <a:r>
                        <a:rPr lang="en-US" sz="1400" b="1" dirty="0">
                          <a:solidFill>
                            <a:srgbClr val="0F766E"/>
                          </a:solidFill>
                          <a:latin typeface="Arial" pitchFamily="34" charset="0"/>
                          <a:ea typeface="Arial" pitchFamily="34" charset="-122"/>
                          <a:cs typeface="Arial" pitchFamily="34" charset="-120"/>
                        </a:rPr>
                        <a:t>(FastAPI + Jinja + PM4Py)</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Giao diện SV, Cán bộ, Analytics; BÊN DUY NHẤT ghi trạng thái &amp; event log; kiểm tra vai trò, version, Idempotency-Key.</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E293B"/>
                          </a:solidFill>
                          <a:latin typeface="Arial" pitchFamily="34" charset="0"/>
                          <a:ea typeface="Arial" pitchFamily="34" charset="-122"/>
                          <a:cs typeface="Arial" pitchFamily="34" charset="-120"/>
                        </a:rPr>
                        <a:t>:8000</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rgbClr val="0F172A"/>
                          </a:solidFill>
                          <a:latin typeface="Arial" pitchFamily="34" charset="0"/>
                          <a:ea typeface="Arial" pitchFamily="34" charset="-122"/>
                          <a:cs typeface="Arial" pitchFamily="34" charset="-120"/>
                        </a:rPr>
                        <a:t>PostgreSQL 17</a:t>
                      </a:r>
                      <a:endParaRPr lang="en-US" sz="1400" dirty="0">
                        <a:latin typeface="Arial" charset="0"/>
                        <a:ea typeface="Arial" charset="0"/>
                        <a:cs typeface="Arial" charset="0"/>
                      </a:endParaRPr>
                    </a:p>
                    <a:p>
                      <a:pPr indent="0" marL="0">
                        <a:buNone/>
                      </a:pPr>
                      <a:r>
                        <a:rPr lang="en-US" sz="1400" b="1" dirty="0">
                          <a:solidFill>
                            <a:srgbClr val="0F172A"/>
                          </a:solidFill>
                          <a:latin typeface="Arial" pitchFamily="34" charset="0"/>
                          <a:ea typeface="Arial" pitchFamily="34" charset="-122"/>
                          <a:cs typeface="Arial" pitchFamily="34" charset="-120"/>
                        </a:rPr>
                        <a:t>(Cơ sở dữ liệu)</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Lưu trữ nguyên tử hồ sơ, nhật ký sự kiện (event log), kho khóa chống trùng và hàng đợi outbox.</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Nội bộ</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r h="777240">
                <a:tc>
                  <a:txBody>
                    <a:bodyPr/>
                    <a:lstStyle/>
                    <a:p>
                      <a:pPr indent="0" marL="0">
                        <a:buNone/>
                      </a:pPr>
                      <a:r>
                        <a:rPr lang="en-US" sz="1400" b="1" dirty="0">
                          <a:solidFill>
                            <a:srgbClr val="1D4ED8"/>
                          </a:solidFill>
                          <a:latin typeface="Arial" pitchFamily="34" charset="0"/>
                          <a:ea typeface="Arial" pitchFamily="34" charset="-122"/>
                          <a:cs typeface="Arial" pitchFamily="34" charset="-120"/>
                        </a:rPr>
                        <a:t>n8n Community 2.44</a:t>
                      </a:r>
                      <a:endParaRPr lang="en-US" sz="1400" dirty="0">
                        <a:latin typeface="Arial" charset="0"/>
                        <a:ea typeface="Arial" charset="0"/>
                        <a:cs typeface="Arial" charset="0"/>
                      </a:endParaRPr>
                    </a:p>
                    <a:p>
                      <a:pPr indent="0" marL="0">
                        <a:buNone/>
                      </a:pPr>
                      <a:r>
                        <a:rPr lang="en-US" sz="1400" b="1" dirty="0">
                          <a:solidFill>
                            <a:srgbClr val="1D4ED8"/>
                          </a:solidFill>
                          <a:latin typeface="Arial" pitchFamily="34" charset="0"/>
                          <a:ea typeface="Arial" pitchFamily="34" charset="-122"/>
                          <a:cs typeface="Arial" pitchFamily="34" charset="-120"/>
                        </a:rPr>
                        <a:t>(Điều phối tự động)</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Nhận webhook, gọi API đọc hồ sơ, tiền kiểm điều kiện, gọi chuyển trạng thái, gửi SMTP và callback xác nhận.</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E293B"/>
                          </a:solidFill>
                          <a:latin typeface="Arial" pitchFamily="34" charset="0"/>
                          <a:ea typeface="Arial" pitchFamily="34" charset="-122"/>
                          <a:cs typeface="Arial" pitchFamily="34" charset="-120"/>
                        </a:rPr>
                        <a:t>:5678</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rgbClr val="B45309"/>
                          </a:solidFill>
                          <a:latin typeface="Arial" pitchFamily="34" charset="0"/>
                          <a:ea typeface="Arial" pitchFamily="34" charset="-122"/>
                          <a:cs typeface="Arial" pitchFamily="34" charset="-120"/>
                        </a:rPr>
                        <a:t>Mailpit 1.31</a:t>
                      </a:r>
                      <a:endParaRPr lang="en-US" sz="1400" dirty="0">
                        <a:latin typeface="Arial" charset="0"/>
                        <a:ea typeface="Arial" charset="0"/>
                        <a:cs typeface="Arial" charset="0"/>
                      </a:endParaRPr>
                    </a:p>
                    <a:p>
                      <a:pPr indent="0" marL="0">
                        <a:buNone/>
                      </a:pPr>
                      <a:r>
                        <a:rPr lang="en-US" sz="1400" b="1" dirty="0">
                          <a:solidFill>
                            <a:srgbClr val="B45309"/>
                          </a:solidFill>
                          <a:latin typeface="Arial" pitchFamily="34" charset="0"/>
                          <a:ea typeface="Arial" pitchFamily="34" charset="-122"/>
                          <a:cs typeface="Arial" pitchFamily="34" charset="-120"/>
                        </a:rPr>
                        <a:t>(Hộp thư thử nghiệm)</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Bắt toàn bộ email SMTP nội bộ để kiểm chứng bằng chứng gửi thư, tuyệt đối không phát tán ra Internet.</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b="1" dirty="0">
                          <a:solidFill>
                            <a:srgbClr val="1E293B"/>
                          </a:solidFill>
                          <a:latin typeface="Arial" pitchFamily="34" charset="0"/>
                          <a:ea typeface="Arial" pitchFamily="34" charset="-122"/>
                          <a:cs typeface="Arial" pitchFamily="34" charset="-120"/>
                        </a:rPr>
                        <a:t>:8025</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bl>
          </a:graphicData>
        </a:graphic>
      </p:graphicFrame>
      <p:sp>
        <p:nvSpPr>
          <p:cNvPr id="15" name="Shape 11"/>
          <p:cNvSpPr/>
          <p:nvPr/>
        </p:nvSpPr>
        <p:spPr>
          <a:xfrm>
            <a:off x="411480" y="5257800"/>
            <a:ext cx="6720840" cy="1078992"/>
          </a:xfrm>
          <a:prstGeom prst="roundRect">
            <a:avLst>
              <a:gd name="adj" fmla="val 5085"/>
            </a:avLst>
          </a:prstGeom>
          <a:solidFill>
            <a:srgbClr val="F0FDFA"/>
          </a:solidFill>
          <a:ln w="12700">
            <a:solidFill>
              <a:srgbClr val="0F766E"/>
            </a:solidFill>
            <a:prstDash val="solid"/>
          </a:ln>
        </p:spPr>
      </p:sp>
      <p:sp>
        <p:nvSpPr>
          <p:cNvPr id="16" name="Shape 12"/>
          <p:cNvSpPr/>
          <p:nvPr/>
        </p:nvSpPr>
        <p:spPr>
          <a:xfrm>
            <a:off x="411480" y="5257800"/>
            <a:ext cx="6720840" cy="384048"/>
          </a:xfrm>
          <a:prstGeom prst="roundRect">
            <a:avLst>
              <a:gd name="adj" fmla="val 14286"/>
            </a:avLst>
          </a:prstGeom>
          <a:solidFill>
            <a:srgbClr val="0F766E"/>
          </a:solidFill>
          <a:ln w="12700">
            <a:solidFill>
              <a:srgbClr val="0F766E"/>
            </a:solidFill>
            <a:prstDash val="solid"/>
          </a:ln>
        </p:spPr>
      </p:sp>
      <p:sp>
        <p:nvSpPr>
          <p:cNvPr id="17" name="Text 13"/>
          <p:cNvSpPr/>
          <p:nvPr/>
        </p:nvSpPr>
        <p:spPr>
          <a:xfrm>
            <a:off x="539496" y="5257800"/>
            <a:ext cx="646480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Nguyên tắc bảo vệ tính toàn vẹn</a:t>
            </a:r>
            <a:endParaRPr lang="en-US" sz="1500" dirty="0"/>
          </a:p>
        </p:txBody>
      </p:sp>
      <p:sp>
        <p:nvSpPr>
          <p:cNvPr id="18" name="Text 14"/>
          <p:cNvSpPr/>
          <p:nvPr/>
        </p:nvSpPr>
        <p:spPr>
          <a:xfrm>
            <a:off x="539496" y="5696712"/>
            <a:ext cx="6464808" cy="566928"/>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Tách biệt điều phối (n8n) và nguồn chân lý trạng thái (FastAPI + PostgreSQL); từ chối mọi chuyển trạng thái sai thứ tự.</a:t>
            </a:r>
            <a:endParaRPr lang="en-US" sz="1400" dirty="0"/>
          </a:p>
        </p:txBody>
      </p:sp>
      <p:sp>
        <p:nvSpPr>
          <p:cNvPr id="19" name="Shape 15"/>
          <p:cNvSpPr/>
          <p:nvPr/>
        </p:nvSpPr>
        <p:spPr>
          <a:xfrm>
            <a:off x="7315200" y="1536192"/>
            <a:ext cx="4462272" cy="4800600"/>
          </a:xfrm>
          <a:prstGeom prst="roundRect">
            <a:avLst>
              <a:gd name="adj" fmla="val 1230"/>
            </a:avLst>
          </a:prstGeom>
          <a:solidFill>
            <a:srgbClr val="FFFFFF"/>
          </a:solidFill>
          <a:ln w="12700">
            <a:solidFill>
              <a:srgbClr val="CBD5E1"/>
            </a:solidFill>
            <a:prstDash val="solid"/>
          </a:ln>
        </p:spPr>
      </p:sp>
      <p:sp>
        <p:nvSpPr>
          <p:cNvPr id="20" name="Shape 16"/>
          <p:cNvSpPr/>
          <p:nvPr/>
        </p:nvSpPr>
        <p:spPr>
          <a:xfrm>
            <a:off x="7315200" y="1536192"/>
            <a:ext cx="4462272" cy="384048"/>
          </a:xfrm>
          <a:prstGeom prst="roundRect">
            <a:avLst>
              <a:gd name="adj" fmla="val 14286"/>
            </a:avLst>
          </a:prstGeom>
          <a:solidFill>
            <a:srgbClr val="1D4ED8"/>
          </a:solidFill>
          <a:ln w="12700">
            <a:solidFill>
              <a:srgbClr val="1D4ED8"/>
            </a:solidFill>
            <a:prstDash val="solid"/>
          </a:ln>
        </p:spPr>
      </p:sp>
      <p:sp>
        <p:nvSpPr>
          <p:cNvPr id="21" name="Text 17"/>
          <p:cNvSpPr/>
          <p:nvPr/>
        </p:nvSpPr>
        <p:spPr>
          <a:xfrm>
            <a:off x="7443216" y="1536192"/>
            <a:ext cx="4206240"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2. Máy trạng thái hồ sơ (state_machine.py)</a:t>
            </a:r>
            <a:endParaRPr lang="en-US" sz="1500" dirty="0"/>
          </a:p>
        </p:txBody>
      </p:sp>
      <p:sp>
        <p:nvSpPr>
          <p:cNvPr id="22" name="Shape 18"/>
          <p:cNvSpPr/>
          <p:nvPr/>
        </p:nvSpPr>
        <p:spPr>
          <a:xfrm>
            <a:off x="7498080" y="2029968"/>
            <a:ext cx="4096512" cy="713232"/>
          </a:xfrm>
          <a:prstGeom prst="roundRect">
            <a:avLst>
              <a:gd name="adj" fmla="val 6410"/>
            </a:avLst>
          </a:prstGeom>
          <a:solidFill>
            <a:srgbClr val="EFF6FF"/>
          </a:solidFill>
          <a:ln w="15240">
            <a:solidFill>
              <a:srgbClr val="1D4ED8"/>
            </a:solidFill>
            <a:prstDash val="solid"/>
          </a:ln>
        </p:spPr>
      </p:sp>
      <p:sp>
        <p:nvSpPr>
          <p:cNvPr id="23" name="Text 19"/>
          <p:cNvSpPr/>
          <p:nvPr/>
        </p:nvSpPr>
        <p:spPr>
          <a:xfrm>
            <a:off x="7607808" y="2075688"/>
            <a:ext cx="3877056" cy="292608"/>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1. SUBMITTED (SV nộp / gửi lại)</a:t>
            </a:r>
            <a:endParaRPr lang="en-US" sz="1400" dirty="0"/>
          </a:p>
        </p:txBody>
      </p:sp>
      <p:sp>
        <p:nvSpPr>
          <p:cNvPr id="24" name="Text 20"/>
          <p:cNvSpPr/>
          <p:nvPr/>
        </p:nvSpPr>
        <p:spPr>
          <a:xfrm>
            <a:off x="7607808" y="2377440"/>
            <a:ext cx="3877056" cy="310896"/>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Khởi tạo hoặc tăng attempt_no khi nộp bổ sung</a:t>
            </a:r>
            <a:endParaRPr lang="en-US" sz="1400" dirty="0"/>
          </a:p>
        </p:txBody>
      </p:sp>
      <p:sp>
        <p:nvSpPr>
          <p:cNvPr id="25" name="Shape 21"/>
          <p:cNvSpPr/>
          <p:nvPr/>
        </p:nvSpPr>
        <p:spPr>
          <a:xfrm>
            <a:off x="7498080" y="2871216"/>
            <a:ext cx="4096512" cy="713232"/>
          </a:xfrm>
          <a:prstGeom prst="roundRect">
            <a:avLst>
              <a:gd name="adj" fmla="val 6410"/>
            </a:avLst>
          </a:prstGeom>
          <a:solidFill>
            <a:srgbClr val="F0FDFA"/>
          </a:solidFill>
          <a:ln w="15240">
            <a:solidFill>
              <a:srgbClr val="0F766E"/>
            </a:solidFill>
            <a:prstDash val="solid"/>
          </a:ln>
        </p:spPr>
      </p:sp>
      <p:sp>
        <p:nvSpPr>
          <p:cNvPr id="26" name="Text 22"/>
          <p:cNvSpPr/>
          <p:nvPr/>
        </p:nvSpPr>
        <p:spPr>
          <a:xfrm>
            <a:off x="7607808" y="2916936"/>
            <a:ext cx="3877056" cy="292608"/>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2. PRECHECK_OK / NEED_SUPPLEMENT</a:t>
            </a:r>
            <a:endParaRPr lang="en-US" sz="1400" dirty="0"/>
          </a:p>
        </p:txBody>
      </p:sp>
      <p:sp>
        <p:nvSpPr>
          <p:cNvPr id="27" name="Text 23"/>
          <p:cNvSpPr/>
          <p:nvPr/>
        </p:nvSpPr>
        <p:spPr>
          <a:xfrm>
            <a:off x="7607808" y="3218688"/>
            <a:ext cx="3877056" cy="310896"/>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n8n tiền kiểm tự động (thiếu phải kèm lý do)</a:t>
            </a:r>
            <a:endParaRPr lang="en-US" sz="1400" dirty="0"/>
          </a:p>
        </p:txBody>
      </p:sp>
      <p:sp>
        <p:nvSpPr>
          <p:cNvPr id="28" name="Shape 24"/>
          <p:cNvSpPr/>
          <p:nvPr/>
        </p:nvSpPr>
        <p:spPr>
          <a:xfrm>
            <a:off x="7498080" y="3712464"/>
            <a:ext cx="4096512" cy="713232"/>
          </a:xfrm>
          <a:prstGeom prst="roundRect">
            <a:avLst>
              <a:gd name="adj" fmla="val 6410"/>
            </a:avLst>
          </a:prstGeom>
          <a:solidFill>
            <a:srgbClr val="FFFFFF"/>
          </a:solidFill>
          <a:ln w="15240">
            <a:solidFill>
              <a:srgbClr val="0F172A"/>
            </a:solidFill>
            <a:prstDash val="solid"/>
          </a:ln>
        </p:spPr>
      </p:sp>
      <p:sp>
        <p:nvSpPr>
          <p:cNvPr id="29" name="Text 25"/>
          <p:cNvSpPr/>
          <p:nvPr/>
        </p:nvSpPr>
        <p:spPr>
          <a:xfrm>
            <a:off x="7607808" y="3758184"/>
            <a:ext cx="3877056" cy="292608"/>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3. IN_REVIEW (Cán bộ nhận xử lý)</a:t>
            </a:r>
            <a:endParaRPr lang="en-US" sz="1400" dirty="0"/>
          </a:p>
        </p:txBody>
      </p:sp>
      <p:sp>
        <p:nvSpPr>
          <p:cNvPr id="30" name="Text 26"/>
          <p:cNvSpPr/>
          <p:nvPr/>
        </p:nvSpPr>
        <p:spPr>
          <a:xfrm>
            <a:off x="7607808" y="4059936"/>
            <a:ext cx="3877056" cy="310896"/>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Ghi nhận bắt đầu xem xét hồ sơ hợp lệ</a:t>
            </a:r>
            <a:endParaRPr lang="en-US" sz="1400" dirty="0"/>
          </a:p>
        </p:txBody>
      </p:sp>
      <p:sp>
        <p:nvSpPr>
          <p:cNvPr id="31" name="Shape 27"/>
          <p:cNvSpPr/>
          <p:nvPr/>
        </p:nvSpPr>
        <p:spPr>
          <a:xfrm>
            <a:off x="7498080" y="4553712"/>
            <a:ext cx="4096512" cy="713232"/>
          </a:xfrm>
          <a:prstGeom prst="roundRect">
            <a:avLst>
              <a:gd name="adj" fmla="val 6410"/>
            </a:avLst>
          </a:prstGeom>
          <a:solidFill>
            <a:srgbClr val="FEF3C7"/>
          </a:solidFill>
          <a:ln w="15240">
            <a:solidFill>
              <a:srgbClr val="F59E0B"/>
            </a:solidFill>
            <a:prstDash val="solid"/>
          </a:ln>
        </p:spPr>
      </p:sp>
      <p:sp>
        <p:nvSpPr>
          <p:cNvPr id="32" name="Text 28"/>
          <p:cNvSpPr/>
          <p:nvPr/>
        </p:nvSpPr>
        <p:spPr>
          <a:xfrm>
            <a:off x="7607808" y="4599432"/>
            <a:ext cx="3877056" cy="292608"/>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4. APPROVED / REJECTED / SUPPLEMENT</a:t>
            </a:r>
            <a:endParaRPr lang="en-US" sz="1400" dirty="0"/>
          </a:p>
        </p:txBody>
      </p:sp>
      <p:sp>
        <p:nvSpPr>
          <p:cNvPr id="33" name="Text 29"/>
          <p:cNvSpPr/>
          <p:nvPr/>
        </p:nvSpPr>
        <p:spPr>
          <a:xfrm>
            <a:off x="7607808" y="4901184"/>
            <a:ext cx="3877056" cy="310896"/>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Duyệt, từ chối (bắt buộc lý do) hoặc yêu cầu bổ sung</a:t>
            </a:r>
            <a:endParaRPr lang="en-US" sz="1400" dirty="0"/>
          </a:p>
        </p:txBody>
      </p:sp>
      <p:sp>
        <p:nvSpPr>
          <p:cNvPr id="34" name="Shape 30"/>
          <p:cNvSpPr/>
          <p:nvPr/>
        </p:nvSpPr>
        <p:spPr>
          <a:xfrm>
            <a:off x="7498080" y="5394960"/>
            <a:ext cx="4096512" cy="713232"/>
          </a:xfrm>
          <a:prstGeom prst="roundRect">
            <a:avLst>
              <a:gd name="adj" fmla="val 6410"/>
            </a:avLst>
          </a:prstGeom>
          <a:solidFill>
            <a:srgbClr val="DCFCE7"/>
          </a:solidFill>
          <a:ln w="15240">
            <a:solidFill>
              <a:srgbClr val="15803D"/>
            </a:solidFill>
            <a:prstDash val="solid"/>
          </a:ln>
        </p:spPr>
      </p:sp>
      <p:sp>
        <p:nvSpPr>
          <p:cNvPr id="35" name="Text 31"/>
          <p:cNvSpPr/>
          <p:nvPr/>
        </p:nvSpPr>
        <p:spPr>
          <a:xfrm>
            <a:off x="7607808" y="5440680"/>
            <a:ext cx="3877056" cy="292608"/>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5. ISSUED &amp; SYNCED (Đã cấp &amp; Báo SV)</a:t>
            </a:r>
            <a:endParaRPr lang="en-US" sz="1400" dirty="0"/>
          </a:p>
        </p:txBody>
      </p:sp>
      <p:sp>
        <p:nvSpPr>
          <p:cNvPr id="36" name="Text 32"/>
          <p:cNvSpPr/>
          <p:nvPr/>
        </p:nvSpPr>
        <p:spPr>
          <a:xfrm>
            <a:off x="7607808" y="5742432"/>
            <a:ext cx="3877056" cy="310896"/>
          </a:xfrm>
          <a:prstGeom prst="rect">
            <a:avLst/>
          </a:prstGeom>
          <a:noFill/>
          <a:ln/>
        </p:spPr>
        <p:txBody>
          <a:bodyPr wrap="square" lIns="0" tIns="0" rIns="0" bIns="0" rtlCol="0" anchor="ctr"/>
          <a:lstStyle/>
          <a:p>
            <a:pPr indent="0" marL="0">
              <a:buNone/>
            </a:pPr>
            <a:r>
              <a:rPr lang="en-US" sz="1400" dirty="0">
                <a:solidFill>
                  <a:srgbClr val="1E293B"/>
                </a:solidFill>
                <a:latin typeface="Arial" pitchFamily="34" charset="0"/>
                <a:ea typeface="Arial" pitchFamily="34" charset="-122"/>
                <a:cs typeface="Arial" pitchFamily="34" charset="-120"/>
              </a:rPr>
              <a:t>Xác nhận đã cấp → n8n gửi Mailpit → callback SYNCED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sp>
      <p:sp>
        <p:nvSpPr>
          <p:cNvPr id="3" name="Shape 1"/>
          <p:cNvSpPr/>
          <p:nvPr/>
        </p:nvSpPr>
        <p:spPr>
          <a:xfrm>
            <a:off x="411480" y="182880"/>
            <a:ext cx="2468880" cy="310896"/>
          </a:xfrm>
          <a:prstGeom prst="roundRect">
            <a:avLst>
              <a:gd name="adj" fmla="val 14706"/>
            </a:avLst>
          </a:prstGeom>
          <a:solidFill>
            <a:srgbClr val="CCFBF1"/>
          </a:solidFill>
          <a:ln w="6350">
            <a:solidFill>
              <a:srgbClr val="0F766E"/>
            </a:solidFill>
            <a:prstDash val="solid"/>
          </a:ln>
        </p:spPr>
      </p:sp>
      <p:sp>
        <p:nvSpPr>
          <p:cNvPr id="4" name="Text 2"/>
          <p:cNvSpPr/>
          <p:nvPr/>
        </p:nvSpPr>
        <p:spPr>
          <a:xfrm>
            <a:off x="411480" y="182880"/>
            <a:ext cx="2468880" cy="310896"/>
          </a:xfrm>
          <a:prstGeom prst="rect">
            <a:avLst/>
          </a:prstGeom>
          <a:noFill/>
          <a:ln/>
        </p:spPr>
        <p:txBody>
          <a:bodyPr wrap="square" lIns="0" tIns="0" rIns="0" bIns="0" rtlCol="0" anchor="ctr"/>
          <a:lstStyle/>
          <a:p>
            <a:pPr algn="ctr" indent="0" marL="0">
              <a:buNone/>
            </a:pPr>
            <a:r>
              <a:rPr lang="en-US" sz="1400" b="1" dirty="0">
                <a:solidFill>
                  <a:srgbClr val="0F766E"/>
                </a:solidFill>
                <a:latin typeface="Arial" pitchFamily="34" charset="0"/>
                <a:ea typeface="Arial" pitchFamily="34" charset="-122"/>
                <a:cs typeface="Arial" pitchFamily="34" charset="-120"/>
              </a:rPr>
              <a:t>AN TOÀN GIAO DỊCH</a:t>
            </a:r>
            <a:endParaRPr lang="en-US" sz="1400" dirty="0"/>
          </a:p>
        </p:txBody>
      </p:sp>
      <p:sp>
        <p:nvSpPr>
          <p:cNvPr id="5" name="Text 3"/>
          <p:cNvSpPr/>
          <p:nvPr/>
        </p:nvSpPr>
        <p:spPr>
          <a:xfrm>
            <a:off x="411480" y="530352"/>
            <a:ext cx="11338560" cy="420624"/>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Đáp ứng yêu cầu kỹ thuật n8n &amp; Cơ chế an toàn giao dịch</a:t>
            </a:r>
            <a:endParaRPr lang="en-US" sz="2200" dirty="0"/>
          </a:p>
        </p:txBody>
      </p:sp>
      <p:sp>
        <p:nvSpPr>
          <p:cNvPr id="6" name="Shape 4"/>
          <p:cNvSpPr/>
          <p:nvPr/>
        </p:nvSpPr>
        <p:spPr>
          <a:xfrm>
            <a:off x="411480" y="987552"/>
            <a:ext cx="11368735" cy="438912"/>
          </a:xfrm>
          <a:prstGeom prst="roundRect">
            <a:avLst>
              <a:gd name="adj" fmla="val 10417"/>
            </a:avLst>
          </a:prstGeom>
          <a:solidFill>
            <a:srgbClr val="FFFFFF"/>
          </a:solidFill>
          <a:ln w="15240">
            <a:solidFill>
              <a:srgbClr val="0F766E"/>
            </a:solidFill>
            <a:prstDash val="solid"/>
          </a:ln>
        </p:spPr>
      </p:sp>
      <p:sp>
        <p:nvSpPr>
          <p:cNvPr id="7" name="Shape 5"/>
          <p:cNvSpPr/>
          <p:nvPr/>
        </p:nvSpPr>
        <p:spPr>
          <a:xfrm>
            <a:off x="411480" y="987552"/>
            <a:ext cx="109728" cy="438912"/>
          </a:xfrm>
          <a:prstGeom prst="rect">
            <a:avLst/>
          </a:prstGeom>
          <a:solidFill>
            <a:srgbClr val="0F766E"/>
          </a:solidFill>
          <a:ln w="12700">
            <a:solidFill>
              <a:srgbClr val="0F766E"/>
            </a:solidFill>
            <a:prstDash val="solid"/>
          </a:ln>
        </p:spPr>
      </p:sp>
      <p:sp>
        <p:nvSpPr>
          <p:cNvPr id="8" name="Text 6"/>
          <p:cNvSpPr/>
          <p:nvPr/>
        </p:nvSpPr>
        <p:spPr>
          <a:xfrm>
            <a:off x="621792" y="987552"/>
            <a:ext cx="11064240" cy="438912"/>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Thông điệp: Workflow n8n thỏa mãn đầy đủ cấu phần bắt buộc, chống gửi trùng bằng Idempotency-Key và chống báo thành công giả.</a:t>
            </a:r>
            <a:endParaRPr lang="en-US" sz="1400" dirty="0"/>
          </a:p>
        </p:txBody>
      </p:sp>
      <p:sp>
        <p:nvSpPr>
          <p:cNvPr id="9" name="Shape 7"/>
          <p:cNvSpPr/>
          <p:nvPr/>
        </p:nvSpPr>
        <p:spPr>
          <a:xfrm>
            <a:off x="411480" y="6473952"/>
            <a:ext cx="11368735" cy="0"/>
          </a:xfrm>
          <a:prstGeom prst="line">
            <a:avLst/>
          </a:prstGeom>
          <a:noFill/>
          <a:ln w="9525">
            <a:solidFill>
              <a:srgbClr val="CBD5E1"/>
            </a:solidFill>
            <a:prstDash val="solid"/>
          </a:ln>
        </p:spPr>
      </p:sp>
      <p:sp>
        <p:nvSpPr>
          <p:cNvPr id="10" name="Text 8"/>
          <p:cNvSpPr/>
          <p:nvPr/>
        </p:nvSpPr>
        <p:spPr>
          <a:xfrm>
            <a:off x="411480" y="6510528"/>
            <a:ext cx="8686800" cy="274320"/>
          </a:xfrm>
          <a:prstGeom prst="rect">
            <a:avLst/>
          </a:prstGeom>
          <a:noFill/>
          <a:ln/>
        </p:spPr>
        <p:txBody>
          <a:bodyPr wrap="square" lIns="0" tIns="0" rIns="0" bIns="0" rtlCol="0" anchor="ctr"/>
          <a:lstStyle/>
          <a:p>
            <a:pPr indent="0" marL="0">
              <a:buNone/>
            </a:pPr>
            <a:r>
              <a:rPr lang="en-US" sz="1400" dirty="0">
                <a:solidFill>
                  <a:srgbClr val="475569"/>
                </a:solidFill>
                <a:latin typeface="Arial" pitchFamily="34" charset="0"/>
                <a:ea typeface="Arial" pitchFamily="34" charset="-122"/>
                <a:cs typeface="Arial" pitchFamily="34" charset="-120"/>
              </a:rPr>
              <a:t>Cấp giấy xác nhận sinh viên – Trường Cao đẳng Y Dược (Prototype học thuật)</a:t>
            </a:r>
            <a:endParaRPr lang="en-US" sz="1400" dirty="0"/>
          </a:p>
        </p:txBody>
      </p:sp>
      <p:sp>
        <p:nvSpPr>
          <p:cNvPr id="11" name="Text 9"/>
          <p:cNvSpPr/>
          <p:nvPr/>
        </p:nvSpPr>
        <p:spPr>
          <a:xfrm>
            <a:off x="9601200" y="6510528"/>
            <a:ext cx="2179015" cy="274320"/>
          </a:xfrm>
          <a:prstGeom prst="rect">
            <a:avLst/>
          </a:prstGeom>
          <a:noFill/>
          <a:ln/>
        </p:spPr>
        <p:txBody>
          <a:bodyPr wrap="square" lIns="0" tIns="0" rIns="0" bIns="0" rtlCol="0" anchor="ctr"/>
          <a:lstStyle/>
          <a:p>
            <a:pPr algn="r" indent="0" marL="0">
              <a:buNone/>
            </a:pPr>
            <a:r>
              <a:rPr lang="en-US" sz="1400" b="1" dirty="0">
                <a:solidFill>
                  <a:srgbClr val="0F766E"/>
                </a:solidFill>
                <a:latin typeface="Arial" pitchFamily="34" charset="0"/>
                <a:ea typeface="Arial" pitchFamily="34" charset="-122"/>
                <a:cs typeface="Arial" pitchFamily="34" charset="-120"/>
              </a:rPr>
              <a:t>Slide 11/14</a:t>
            </a:r>
            <a:endParaRPr lang="en-US" sz="1400" dirty="0"/>
          </a:p>
        </p:txBody>
      </p:sp>
      <p:sp>
        <p:nvSpPr>
          <p:cNvPr id="13" name="Text 10"/>
          <p:cNvSpPr/>
          <p:nvPr/>
        </p:nvSpPr>
        <p:spPr>
          <a:xfrm>
            <a:off x="411480" y="1536192"/>
            <a:ext cx="6720840" cy="310896"/>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Ánh xạ yêu cầu kỹ thuật tối thiểu sang Workflow n8n</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 y="1883664"/>
          <a:ext cx="6720840" cy="914400"/>
        </p:xfrm>
        <a:graphic>
          <a:graphicData uri="http://schemas.openxmlformats.org/drawingml/2006/table">
            <a:tbl>
              <a:tblPr/>
              <a:tblGrid>
                <a:gridCol w="2240280"/>
                <a:gridCol w="4480560"/>
              </a:tblGrid>
              <a:tr h="384048">
                <a:tc>
                  <a:txBody>
                    <a:bodyPr/>
                    <a:lstStyle/>
                    <a:p>
                      <a:pPr indent="0" marL="0">
                        <a:buNone/>
                      </a:pPr>
                      <a:r>
                        <a:rPr lang="en-US" sz="1400" b="1" dirty="0">
                          <a:solidFill>
                            <a:srgbClr val="FFFFFF"/>
                          </a:solidFill>
                          <a:latin typeface="Arial" pitchFamily="34" charset="0"/>
                          <a:ea typeface="Arial" pitchFamily="34" charset="-122"/>
                          <a:cs typeface="Arial" pitchFamily="34" charset="-120"/>
                        </a:rPr>
                        <a:t>Cấu phần bắt buộc</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Node thực tế trong student-certificate.json</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658368">
                <a:tc>
                  <a:txBody>
                    <a:bodyPr/>
                    <a:lstStyle/>
                    <a:p>
                      <a:pPr indent="0" marL="0">
                        <a:buNone/>
                      </a:pPr>
                      <a:r>
                        <a:rPr lang="en-US" sz="1400" b="1" dirty="0">
                          <a:solidFill>
                            <a:srgbClr val="0F766E"/>
                          </a:solidFill>
                          <a:latin typeface="Arial" pitchFamily="34" charset="0"/>
                          <a:ea typeface="Arial" pitchFamily="34" charset="-122"/>
                          <a:cs typeface="Arial" pitchFamily="34" charset="-120"/>
                        </a:rPr>
                        <a:t>1. Bộ kích hoạt (Trigger)</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Webhook "Nhận yêu cầu từ Web" (POST /webhook/certificate-process)</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rgbClr val="0F766E"/>
                          </a:solidFill>
                          <a:latin typeface="Arial" pitchFamily="34" charset="0"/>
                          <a:ea typeface="Arial" pitchFamily="34" charset="-122"/>
                          <a:cs typeface="Arial" pitchFamily="34" charset="-120"/>
                        </a:rPr>
                        <a:t>2. Nguồn dữ liệu (Data Source)</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HTTP Request "Đọc hồ sơ và nguồn dữ liệu sinh viên" (gọi API đọc PostgreSQL)</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r h="658368">
                <a:tc>
                  <a:txBody>
                    <a:bodyPr/>
                    <a:lstStyle/>
                    <a:p>
                      <a:pPr indent="0" marL="0">
                        <a:buNone/>
                      </a:pPr>
                      <a:r>
                        <a:rPr lang="en-US" sz="1400" b="1" dirty="0">
                          <a:solidFill>
                            <a:srgbClr val="0F766E"/>
                          </a:solidFill>
                          <a:latin typeface="Arial" pitchFamily="34" charset="0"/>
                          <a:ea typeface="Arial" pitchFamily="34" charset="-122"/>
                          <a:cs typeface="Arial" pitchFamily="34" charset="-120"/>
                        </a:rPr>
                        <a:t>3. Điều kiện rẽ nhánh (Condition)</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2 nút IF: "Là yêu cầu tiền kiểm?" &amp; "Đủ điều kiện và đủ thông tin?"</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0F766E"/>
                          </a:solidFill>
                          <a:latin typeface="Arial" pitchFamily="34" charset="0"/>
                          <a:ea typeface="Arial" pitchFamily="34" charset="-122"/>
                          <a:cs typeface="Arial" pitchFamily="34" charset="-120"/>
                        </a:rPr>
                        <a:t>4. Hành động xử lý (≥ 4 Actions)</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4 nút: "Ghi kết quả tiền kiểm đạt", "Ghi yêu cầu bổ sung", "Xác nhận đồng bộ thông báo", "Phản hồi thành công"</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r h="658368">
                <a:tc>
                  <a:txBody>
                    <a:bodyPr/>
                    <a:lstStyle/>
                    <a:p>
                      <a:pPr indent="0" marL="0">
                        <a:buNone/>
                      </a:pPr>
                      <a:r>
                        <a:rPr lang="en-US" sz="1400" b="1" dirty="0">
                          <a:solidFill>
                            <a:srgbClr val="0F766E"/>
                          </a:solidFill>
                          <a:latin typeface="Arial" pitchFamily="34" charset="0"/>
                          <a:ea typeface="Arial" pitchFamily="34" charset="-122"/>
                          <a:cs typeface="Arial" pitchFamily="34" charset="-120"/>
                        </a:rPr>
                        <a:t>5. Thông báo (Notification)</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Arial" pitchFamily="34" charset="0"/>
                          <a:ea typeface="Arial" pitchFamily="34" charset="-122"/>
                          <a:cs typeface="Arial" pitchFamily="34" charset="-120"/>
                        </a:rPr>
                        <a:t>Send Email "Gửi thông báo qua Mailpit" qua giao thức SMTP nội bộ</a:t>
                      </a:r>
                      <a:endParaRPr lang="en-US" sz="1400" dirty="0">
                        <a:latin typeface="Arial" charset="0"/>
                        <a:ea typeface="Arial" charset="0"/>
                        <a:cs typeface="Arial" charset="0"/>
                      </a:endParaRPr>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hape 11"/>
          <p:cNvSpPr/>
          <p:nvPr/>
        </p:nvSpPr>
        <p:spPr>
          <a:xfrm>
            <a:off x="411480" y="5029200"/>
            <a:ext cx="6720840" cy="1298448"/>
          </a:xfrm>
          <a:prstGeom prst="roundRect">
            <a:avLst>
              <a:gd name="adj" fmla="val 4225"/>
            </a:avLst>
          </a:prstGeom>
          <a:solidFill>
            <a:srgbClr val="FEF3C7"/>
          </a:solidFill>
          <a:ln w="12700">
            <a:solidFill>
              <a:srgbClr val="F59E0B"/>
            </a:solidFill>
            <a:prstDash val="solid"/>
          </a:ln>
        </p:spPr>
      </p:sp>
      <p:sp>
        <p:nvSpPr>
          <p:cNvPr id="16" name="Shape 12"/>
          <p:cNvSpPr/>
          <p:nvPr/>
        </p:nvSpPr>
        <p:spPr>
          <a:xfrm>
            <a:off x="411480" y="5029200"/>
            <a:ext cx="6720840" cy="384048"/>
          </a:xfrm>
          <a:prstGeom prst="roundRect">
            <a:avLst>
              <a:gd name="adj" fmla="val 14286"/>
            </a:avLst>
          </a:prstGeom>
          <a:solidFill>
            <a:srgbClr val="B45309"/>
          </a:solidFill>
          <a:ln w="12700">
            <a:solidFill>
              <a:srgbClr val="B45309"/>
            </a:solidFill>
            <a:prstDash val="solid"/>
          </a:ln>
        </p:spPr>
      </p:sp>
      <p:sp>
        <p:nvSpPr>
          <p:cNvPr id="17" name="Text 13"/>
          <p:cNvSpPr/>
          <p:nvPr/>
        </p:nvSpPr>
        <p:spPr>
          <a:xfrm>
            <a:off x="539496" y="5029200"/>
            <a:ext cx="646480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Đối chiếu trung thực: Mô hình BPMN TO-BE vs Prototype thực tế</a:t>
            </a:r>
            <a:endParaRPr lang="en-US" sz="1500" dirty="0"/>
          </a:p>
        </p:txBody>
      </p:sp>
      <p:sp>
        <p:nvSpPr>
          <p:cNvPr id="18" name="Text 14"/>
          <p:cNvSpPr/>
          <p:nvPr/>
        </p:nvSpPr>
        <p:spPr>
          <a:xfrm>
            <a:off x="539496" y="5468112"/>
            <a:ext cx="6464808" cy="786384"/>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Prototype gộp bước tiền kiểm tự động của n8n đứng trước bước cán bộ xem xét; chưa bật timer nhắc hạn (A16) và đóng quá hạn tự động (A13).</a:t>
            </a:r>
            <a:endParaRPr lang="en-US" sz="1400" dirty="0"/>
          </a:p>
        </p:txBody>
      </p:sp>
      <p:sp>
        <p:nvSpPr>
          <p:cNvPr id="19" name="Shape 15"/>
          <p:cNvSpPr/>
          <p:nvPr/>
        </p:nvSpPr>
        <p:spPr>
          <a:xfrm>
            <a:off x="7315200" y="1536192"/>
            <a:ext cx="4462272" cy="2331720"/>
          </a:xfrm>
          <a:prstGeom prst="roundRect">
            <a:avLst>
              <a:gd name="adj" fmla="val 2353"/>
            </a:avLst>
          </a:prstGeom>
          <a:solidFill>
            <a:srgbClr val="FFFFFF"/>
          </a:solidFill>
          <a:ln w="12700">
            <a:solidFill>
              <a:srgbClr val="CBD5E1"/>
            </a:solidFill>
            <a:prstDash val="solid"/>
          </a:ln>
        </p:spPr>
      </p:sp>
      <p:sp>
        <p:nvSpPr>
          <p:cNvPr id="20" name="Shape 16"/>
          <p:cNvSpPr/>
          <p:nvPr/>
        </p:nvSpPr>
        <p:spPr>
          <a:xfrm>
            <a:off x="7315200" y="1536192"/>
            <a:ext cx="4462272" cy="384048"/>
          </a:xfrm>
          <a:prstGeom prst="roundRect">
            <a:avLst>
              <a:gd name="adj" fmla="val 14286"/>
            </a:avLst>
          </a:prstGeom>
          <a:solidFill>
            <a:srgbClr val="0F172A"/>
          </a:solidFill>
          <a:ln w="12700">
            <a:solidFill>
              <a:srgbClr val="0F172A"/>
            </a:solidFill>
            <a:prstDash val="solid"/>
          </a:ln>
        </p:spPr>
      </p:sp>
      <p:sp>
        <p:nvSpPr>
          <p:cNvPr id="21" name="Text 17"/>
          <p:cNvSpPr/>
          <p:nvPr/>
        </p:nvSpPr>
        <p:spPr>
          <a:xfrm>
            <a:off x="7443216" y="1536192"/>
            <a:ext cx="4206240"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Chống gửi trùng (Idempotency-Key)</a:t>
            </a:r>
            <a:endParaRPr lang="en-US" sz="1500" dirty="0"/>
          </a:p>
        </p:txBody>
      </p:sp>
      <p:sp>
        <p:nvSpPr>
          <p:cNvPr id="22" name="Text 18"/>
          <p:cNvSpPr/>
          <p:nvPr/>
        </p:nvSpPr>
        <p:spPr>
          <a:xfrm>
            <a:off x="7443216" y="1975104"/>
            <a:ext cx="4206240" cy="181965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Mỗi yêu cầu tạo hồ sơ hoặc thao tác đều gắn khóa Idempotency-Key.</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Bấm gửi lại nhiều lần hoặc gửi song song cùng khóa không tạo hồ sơ hay sự kiện nhật ký thừa.</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Đã kiểm chứng tự động qua kịch bản replay.</a:t>
            </a:r>
            <a:endParaRPr lang="en-US" sz="1400" dirty="0"/>
          </a:p>
        </p:txBody>
      </p:sp>
      <p:sp>
        <p:nvSpPr>
          <p:cNvPr id="23" name="Shape 19"/>
          <p:cNvSpPr/>
          <p:nvPr/>
        </p:nvSpPr>
        <p:spPr>
          <a:xfrm>
            <a:off x="7315200" y="4005072"/>
            <a:ext cx="4462272" cy="2322576"/>
          </a:xfrm>
          <a:prstGeom prst="roundRect">
            <a:avLst>
              <a:gd name="adj" fmla="val 2362"/>
            </a:avLst>
          </a:prstGeom>
          <a:solidFill>
            <a:srgbClr val="FFFFFF"/>
          </a:solidFill>
          <a:ln w="12700">
            <a:solidFill>
              <a:srgbClr val="CBD5E1"/>
            </a:solidFill>
            <a:prstDash val="solid"/>
          </a:ln>
        </p:spPr>
      </p:sp>
      <p:sp>
        <p:nvSpPr>
          <p:cNvPr id="24" name="Shape 20"/>
          <p:cNvSpPr/>
          <p:nvPr/>
        </p:nvSpPr>
        <p:spPr>
          <a:xfrm>
            <a:off x="7315200" y="4005072"/>
            <a:ext cx="4462272" cy="384048"/>
          </a:xfrm>
          <a:prstGeom prst="roundRect">
            <a:avLst>
              <a:gd name="adj" fmla="val 14286"/>
            </a:avLst>
          </a:prstGeom>
          <a:solidFill>
            <a:srgbClr val="0F766E"/>
          </a:solidFill>
          <a:ln w="12700">
            <a:solidFill>
              <a:srgbClr val="0F766E"/>
            </a:solidFill>
            <a:prstDash val="solid"/>
          </a:ln>
        </p:spPr>
      </p:sp>
      <p:sp>
        <p:nvSpPr>
          <p:cNvPr id="25" name="Text 21"/>
          <p:cNvSpPr/>
          <p:nvPr/>
        </p:nvSpPr>
        <p:spPr>
          <a:xfrm>
            <a:off x="7443216" y="4005072"/>
            <a:ext cx="4206240"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Chống thông báo thành công giả</a:t>
            </a:r>
            <a:endParaRPr lang="en-US" sz="1500" dirty="0"/>
          </a:p>
        </p:txBody>
      </p:sp>
      <p:sp>
        <p:nvSpPr>
          <p:cNvPr id="26" name="Text 22"/>
          <p:cNvSpPr/>
          <p:nvPr/>
        </p:nvSpPr>
        <p:spPr>
          <a:xfrm>
            <a:off x="7443216" y="4443984"/>
            <a:ext cx="4206240" cy="1810512"/>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Khi mới lưu DB, trạng thái tự động hóa chỉ là PENDING.</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Chỉ chuyển sang SYNCED ("Đã thông báo") sau khi n8n gửi xong SMTP Mailpit và gọi callback về App.</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Nếu n8n/SMTP lỗi: giữ PENDING/FAILED, không báo giả.</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sp>
      <p:sp>
        <p:nvSpPr>
          <p:cNvPr id="3" name="Shape 1"/>
          <p:cNvSpPr/>
          <p:nvPr/>
        </p:nvSpPr>
        <p:spPr>
          <a:xfrm>
            <a:off x="411480" y="182880"/>
            <a:ext cx="2468880" cy="310896"/>
          </a:xfrm>
          <a:prstGeom prst="roundRect">
            <a:avLst>
              <a:gd name="adj" fmla="val 14706"/>
            </a:avLst>
          </a:prstGeom>
          <a:solidFill>
            <a:srgbClr val="CCFBF1"/>
          </a:solidFill>
          <a:ln w="6350">
            <a:solidFill>
              <a:srgbClr val="0F766E"/>
            </a:solidFill>
            <a:prstDash val="solid"/>
          </a:ln>
        </p:spPr>
      </p:sp>
      <p:sp>
        <p:nvSpPr>
          <p:cNvPr id="4" name="Text 2"/>
          <p:cNvSpPr/>
          <p:nvPr/>
        </p:nvSpPr>
        <p:spPr>
          <a:xfrm>
            <a:off x="411480" y="182880"/>
            <a:ext cx="2468880" cy="310896"/>
          </a:xfrm>
          <a:prstGeom prst="rect">
            <a:avLst/>
          </a:prstGeom>
          <a:noFill/>
          <a:ln/>
        </p:spPr>
        <p:txBody>
          <a:bodyPr wrap="square" lIns="0" tIns="0" rIns="0" bIns="0" rtlCol="0" anchor="ctr"/>
          <a:lstStyle/>
          <a:p>
            <a:pPr algn="ctr" indent="0" marL="0">
              <a:buNone/>
            </a:pPr>
            <a:r>
              <a:rPr lang="en-US" sz="1400" b="1" dirty="0">
                <a:solidFill>
                  <a:srgbClr val="0F766E"/>
                </a:solidFill>
                <a:latin typeface="Arial" pitchFamily="34" charset="0"/>
                <a:ea typeface="Arial" pitchFamily="34" charset="-122"/>
                <a:cs typeface="Arial" pitchFamily="34" charset="-120"/>
              </a:rPr>
              <a:t>MINH CHỨNG PROTOTYPE</a:t>
            </a:r>
            <a:endParaRPr lang="en-US" sz="1400" dirty="0"/>
          </a:p>
        </p:txBody>
      </p:sp>
      <p:sp>
        <p:nvSpPr>
          <p:cNvPr id="5" name="Text 3"/>
          <p:cNvSpPr/>
          <p:nvPr/>
        </p:nvSpPr>
        <p:spPr>
          <a:xfrm>
            <a:off x="411480" y="530352"/>
            <a:ext cx="11338560" cy="420624"/>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Minh chứng Prototype thực tế &amp; Kịch bản kiểm chứng End-to-End</a:t>
            </a:r>
            <a:endParaRPr lang="en-US" sz="2200" dirty="0"/>
          </a:p>
        </p:txBody>
      </p:sp>
      <p:sp>
        <p:nvSpPr>
          <p:cNvPr id="6" name="Shape 4"/>
          <p:cNvSpPr/>
          <p:nvPr/>
        </p:nvSpPr>
        <p:spPr>
          <a:xfrm>
            <a:off x="411480" y="987552"/>
            <a:ext cx="11368735" cy="438912"/>
          </a:xfrm>
          <a:prstGeom prst="roundRect">
            <a:avLst>
              <a:gd name="adj" fmla="val 10417"/>
            </a:avLst>
          </a:prstGeom>
          <a:solidFill>
            <a:srgbClr val="FFFFFF"/>
          </a:solidFill>
          <a:ln w="15240">
            <a:solidFill>
              <a:srgbClr val="0F766E"/>
            </a:solidFill>
            <a:prstDash val="solid"/>
          </a:ln>
        </p:spPr>
      </p:sp>
      <p:sp>
        <p:nvSpPr>
          <p:cNvPr id="7" name="Shape 5"/>
          <p:cNvSpPr/>
          <p:nvPr/>
        </p:nvSpPr>
        <p:spPr>
          <a:xfrm>
            <a:off x="411480" y="987552"/>
            <a:ext cx="109728" cy="438912"/>
          </a:xfrm>
          <a:prstGeom prst="rect">
            <a:avLst/>
          </a:prstGeom>
          <a:solidFill>
            <a:srgbClr val="0F766E"/>
          </a:solidFill>
          <a:ln w="12700">
            <a:solidFill>
              <a:srgbClr val="0F766E"/>
            </a:solidFill>
            <a:prstDash val="solid"/>
          </a:ln>
        </p:spPr>
      </p:sp>
      <p:sp>
        <p:nvSpPr>
          <p:cNvPr id="8" name="Text 6"/>
          <p:cNvSpPr/>
          <p:nvPr/>
        </p:nvSpPr>
        <p:spPr>
          <a:xfrm>
            <a:off x="621792" y="987552"/>
            <a:ext cx="11064240" cy="438912"/>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Thông điệp: Prototype đã vận hành hoàn chỉnh từ cổng sinh viên, trang xử lý cán bộ đến bằng chứng email trong Mailpit.</a:t>
            </a:r>
            <a:endParaRPr lang="en-US" sz="1400" dirty="0"/>
          </a:p>
        </p:txBody>
      </p:sp>
      <p:sp>
        <p:nvSpPr>
          <p:cNvPr id="9" name="Shape 7"/>
          <p:cNvSpPr/>
          <p:nvPr/>
        </p:nvSpPr>
        <p:spPr>
          <a:xfrm>
            <a:off x="411480" y="6473952"/>
            <a:ext cx="11368735" cy="0"/>
          </a:xfrm>
          <a:prstGeom prst="line">
            <a:avLst/>
          </a:prstGeom>
          <a:noFill/>
          <a:ln w="9525">
            <a:solidFill>
              <a:srgbClr val="CBD5E1"/>
            </a:solidFill>
            <a:prstDash val="solid"/>
          </a:ln>
        </p:spPr>
      </p:sp>
      <p:sp>
        <p:nvSpPr>
          <p:cNvPr id="10" name="Text 8"/>
          <p:cNvSpPr/>
          <p:nvPr/>
        </p:nvSpPr>
        <p:spPr>
          <a:xfrm>
            <a:off x="411480" y="6510528"/>
            <a:ext cx="8686800" cy="274320"/>
          </a:xfrm>
          <a:prstGeom prst="rect">
            <a:avLst/>
          </a:prstGeom>
          <a:noFill/>
          <a:ln/>
        </p:spPr>
        <p:txBody>
          <a:bodyPr wrap="square" lIns="0" tIns="0" rIns="0" bIns="0" rtlCol="0" anchor="ctr"/>
          <a:lstStyle/>
          <a:p>
            <a:pPr indent="0" marL="0">
              <a:buNone/>
            </a:pPr>
            <a:r>
              <a:rPr lang="en-US" sz="1400" dirty="0">
                <a:solidFill>
                  <a:srgbClr val="475569"/>
                </a:solidFill>
                <a:latin typeface="Arial" pitchFamily="34" charset="0"/>
                <a:ea typeface="Arial" pitchFamily="34" charset="-122"/>
                <a:cs typeface="Arial" pitchFamily="34" charset="-120"/>
              </a:rPr>
              <a:t>Cấp giấy xác nhận sinh viên – Trường Cao đẳng Y Dược (Prototype học thuật)</a:t>
            </a:r>
            <a:endParaRPr lang="en-US" sz="1400" dirty="0"/>
          </a:p>
        </p:txBody>
      </p:sp>
      <p:sp>
        <p:nvSpPr>
          <p:cNvPr id="11" name="Text 9"/>
          <p:cNvSpPr/>
          <p:nvPr/>
        </p:nvSpPr>
        <p:spPr>
          <a:xfrm>
            <a:off x="9601200" y="6510528"/>
            <a:ext cx="2179015" cy="274320"/>
          </a:xfrm>
          <a:prstGeom prst="rect">
            <a:avLst/>
          </a:prstGeom>
          <a:noFill/>
          <a:ln/>
        </p:spPr>
        <p:txBody>
          <a:bodyPr wrap="square" lIns="0" tIns="0" rIns="0" bIns="0" rtlCol="0" anchor="ctr"/>
          <a:lstStyle/>
          <a:p>
            <a:pPr algn="r" indent="0" marL="0">
              <a:buNone/>
            </a:pPr>
            <a:r>
              <a:rPr lang="en-US" sz="1400" b="1" dirty="0">
                <a:solidFill>
                  <a:srgbClr val="0F766E"/>
                </a:solidFill>
                <a:latin typeface="Arial" pitchFamily="34" charset="0"/>
                <a:ea typeface="Arial" pitchFamily="34" charset="-122"/>
                <a:cs typeface="Arial" pitchFamily="34" charset="-120"/>
              </a:rPr>
              <a:t>Slide 12/14</a:t>
            </a:r>
            <a:endParaRPr lang="en-US" sz="1400" dirty="0"/>
          </a:p>
        </p:txBody>
      </p:sp>
      <p:sp>
        <p:nvSpPr>
          <p:cNvPr id="13" name="Text 10"/>
          <p:cNvSpPr/>
          <p:nvPr/>
        </p:nvSpPr>
        <p:spPr>
          <a:xfrm>
            <a:off x="411480" y="1508760"/>
            <a:ext cx="3657600" cy="310896"/>
          </a:xfrm>
          <a:prstGeom prst="rect">
            <a:avLst/>
          </a:prstGeom>
          <a:noFill/>
          <a:ln/>
        </p:spPr>
        <p:txBody>
          <a:bodyPr wrap="square" lIns="0" tIns="0" rIns="0" bIns="0" rtlCol="0" anchor="ctr"/>
          <a:lstStyle/>
          <a:p>
            <a:pPr indent="0" marL="0">
              <a:buNone/>
            </a:pPr>
            <a:r>
              <a:rPr lang="en-US" sz="1400" b="1" dirty="0">
                <a:solidFill>
                  <a:srgbClr val="0F766E"/>
                </a:solidFill>
                <a:latin typeface="Arial" pitchFamily="34" charset="0"/>
                <a:ea typeface="Arial" pitchFamily="34" charset="-122"/>
                <a:cs typeface="Arial" pitchFamily="34" charset="-120"/>
              </a:rPr>
              <a:t>1. Cổng dịch vụ Sinh viên (Nộp &amp; Tra cứu)</a:t>
            </a:r>
            <a:endParaRPr lang="en-US" sz="1400" dirty="0"/>
          </a:p>
        </p:txBody>
      </p:sp>
      <p:sp>
        <p:nvSpPr>
          <p:cNvPr id="14" name="Shape 11"/>
          <p:cNvSpPr/>
          <p:nvPr/>
        </p:nvSpPr>
        <p:spPr>
          <a:xfrm>
            <a:off x="411480" y="1847088"/>
            <a:ext cx="3657600" cy="2971800"/>
          </a:xfrm>
          <a:prstGeom prst="roundRect">
            <a:avLst>
              <a:gd name="adj" fmla="val 1846"/>
            </a:avLst>
          </a:prstGeom>
          <a:solidFill>
            <a:srgbClr val="FFFFFF"/>
          </a:solidFill>
          <a:ln w="12700">
            <a:solidFill>
              <a:srgbClr val="CBD5E1"/>
            </a:solidFill>
            <a:prstDash val="solid"/>
          </a:ln>
        </p:spPr>
      </p:sp>
      <p:pic>
        <p:nvPicPr>
          <p:cNvPr id="15" name="Image 0" descr="inputs/images/student_full.png">    </p:cNvPr>
          <p:cNvPicPr>
            <a:picLocks noChangeAspect="1"/>
          </p:cNvPicPr>
          <p:nvPr/>
        </p:nvPicPr>
        <p:blipFill>
          <a:blip r:embed="rId1"/>
          <a:stretch>
            <a:fillRect/>
          </a:stretch>
        </p:blipFill>
        <p:spPr>
          <a:xfrm>
            <a:off x="484632" y="2235708"/>
            <a:ext cx="3511296" cy="2194560"/>
          </a:xfrm>
          <a:prstGeom prst="rect">
            <a:avLst/>
          </a:prstGeom>
        </p:spPr>
      </p:pic>
      <p:sp>
        <p:nvSpPr>
          <p:cNvPr id="16" name="Text 12"/>
          <p:cNvSpPr/>
          <p:nvPr/>
        </p:nvSpPr>
        <p:spPr>
          <a:xfrm>
            <a:off x="4261104" y="1508760"/>
            <a:ext cx="3657600" cy="310896"/>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2. Trang Cán bộ (Trạng thái &amp; Nhật ký)</a:t>
            </a:r>
            <a:endParaRPr lang="en-US" sz="1400" dirty="0"/>
          </a:p>
        </p:txBody>
      </p:sp>
      <p:sp>
        <p:nvSpPr>
          <p:cNvPr id="17" name="Shape 13"/>
          <p:cNvSpPr/>
          <p:nvPr/>
        </p:nvSpPr>
        <p:spPr>
          <a:xfrm>
            <a:off x="4261104" y="1847088"/>
            <a:ext cx="3657600" cy="2971800"/>
          </a:xfrm>
          <a:prstGeom prst="roundRect">
            <a:avLst>
              <a:gd name="adj" fmla="val 1846"/>
            </a:avLst>
          </a:prstGeom>
          <a:solidFill>
            <a:srgbClr val="FFFFFF"/>
          </a:solidFill>
          <a:ln w="12700">
            <a:solidFill>
              <a:srgbClr val="CBD5E1"/>
            </a:solidFill>
            <a:prstDash val="solid"/>
          </a:ln>
        </p:spPr>
      </p:sp>
      <p:pic>
        <p:nvPicPr>
          <p:cNvPr id="18" name="Image 1" descr="inputs/images/staff_detail_top.png">    </p:cNvPr>
          <p:cNvPicPr>
            <a:picLocks noChangeAspect="1"/>
          </p:cNvPicPr>
          <p:nvPr/>
        </p:nvPicPr>
        <p:blipFill>
          <a:blip r:embed="rId2"/>
          <a:stretch>
            <a:fillRect/>
          </a:stretch>
        </p:blipFill>
        <p:spPr>
          <a:xfrm>
            <a:off x="4334256" y="2256946"/>
            <a:ext cx="3511296" cy="2152085"/>
          </a:xfrm>
          <a:prstGeom prst="rect">
            <a:avLst/>
          </a:prstGeom>
        </p:spPr>
      </p:pic>
      <p:sp>
        <p:nvSpPr>
          <p:cNvPr id="19" name="Text 14"/>
          <p:cNvSpPr/>
          <p:nvPr/>
        </p:nvSpPr>
        <p:spPr>
          <a:xfrm>
            <a:off x="8119872" y="1508760"/>
            <a:ext cx="3657600" cy="310896"/>
          </a:xfrm>
          <a:prstGeom prst="rect">
            <a:avLst/>
          </a:prstGeom>
          <a:noFill/>
          <a:ln/>
        </p:spPr>
        <p:txBody>
          <a:bodyPr wrap="square" lIns="0" tIns="0" rIns="0" bIns="0" rtlCol="0" anchor="ctr"/>
          <a:lstStyle/>
          <a:p>
            <a:pPr indent="0" marL="0">
              <a:buNone/>
            </a:pPr>
            <a:r>
              <a:rPr lang="en-US" sz="1400" b="1" dirty="0">
                <a:solidFill>
                  <a:srgbClr val="1D4ED8"/>
                </a:solidFill>
                <a:latin typeface="Arial" pitchFamily="34" charset="0"/>
                <a:ea typeface="Arial" pitchFamily="34" charset="-122"/>
                <a:cs typeface="Arial" pitchFamily="34" charset="-120"/>
              </a:rPr>
              <a:t>3. Bằng chứng thư trong Mailpit (:8025)</a:t>
            </a:r>
            <a:endParaRPr lang="en-US" sz="1400" dirty="0"/>
          </a:p>
        </p:txBody>
      </p:sp>
      <p:sp>
        <p:nvSpPr>
          <p:cNvPr id="20" name="Shape 15"/>
          <p:cNvSpPr/>
          <p:nvPr/>
        </p:nvSpPr>
        <p:spPr>
          <a:xfrm>
            <a:off x="8119872" y="1847088"/>
            <a:ext cx="3657600" cy="2971800"/>
          </a:xfrm>
          <a:prstGeom prst="roundRect">
            <a:avLst>
              <a:gd name="adj" fmla="val 1846"/>
            </a:avLst>
          </a:prstGeom>
          <a:solidFill>
            <a:srgbClr val="FFFFFF"/>
          </a:solidFill>
          <a:ln w="12700">
            <a:solidFill>
              <a:srgbClr val="CBD5E1"/>
            </a:solidFill>
            <a:prstDash val="solid"/>
          </a:ln>
        </p:spPr>
      </p:sp>
      <p:pic>
        <p:nvPicPr>
          <p:cNvPr id="21" name="Image 2" descr="inputs/images/mail_crop.png">    </p:cNvPr>
          <p:cNvPicPr>
            <a:picLocks noChangeAspect="1"/>
          </p:cNvPicPr>
          <p:nvPr/>
        </p:nvPicPr>
        <p:blipFill>
          <a:blip r:embed="rId3"/>
          <a:stretch>
            <a:fillRect/>
          </a:stretch>
        </p:blipFill>
        <p:spPr>
          <a:xfrm>
            <a:off x="8193024" y="2467189"/>
            <a:ext cx="3511296" cy="1731598"/>
          </a:xfrm>
          <a:prstGeom prst="rect">
            <a:avLst/>
          </a:prstGeom>
        </p:spPr>
      </p:pic>
      <p:sp>
        <p:nvSpPr>
          <p:cNvPr id="22" name="Shape 16"/>
          <p:cNvSpPr/>
          <p:nvPr/>
        </p:nvSpPr>
        <p:spPr>
          <a:xfrm>
            <a:off x="411480" y="4937760"/>
            <a:ext cx="11368735" cy="1389888"/>
          </a:xfrm>
          <a:prstGeom prst="roundRect">
            <a:avLst>
              <a:gd name="adj" fmla="val 3947"/>
            </a:avLst>
          </a:prstGeom>
          <a:solidFill>
            <a:srgbClr val="FFFFFF"/>
          </a:solidFill>
          <a:ln w="12700">
            <a:solidFill>
              <a:srgbClr val="CBD5E1"/>
            </a:solidFill>
            <a:prstDash val="solid"/>
          </a:ln>
        </p:spPr>
      </p:sp>
      <p:sp>
        <p:nvSpPr>
          <p:cNvPr id="23" name="Shape 17"/>
          <p:cNvSpPr/>
          <p:nvPr/>
        </p:nvSpPr>
        <p:spPr>
          <a:xfrm>
            <a:off x="411480" y="4937760"/>
            <a:ext cx="11368735" cy="384048"/>
          </a:xfrm>
          <a:prstGeom prst="roundRect">
            <a:avLst>
              <a:gd name="adj" fmla="val 14286"/>
            </a:avLst>
          </a:prstGeom>
          <a:solidFill>
            <a:srgbClr val="0F172A"/>
          </a:solidFill>
          <a:ln w="12700">
            <a:solidFill>
              <a:srgbClr val="0F172A"/>
            </a:solidFill>
            <a:prstDash val="solid"/>
          </a:ln>
        </p:spPr>
      </p:sp>
      <p:sp>
        <p:nvSpPr>
          <p:cNvPr id="24" name="Text 18"/>
          <p:cNvSpPr/>
          <p:nvPr/>
        </p:nvSpPr>
        <p:spPr>
          <a:xfrm>
            <a:off x="539496" y="4937760"/>
            <a:ext cx="11112703"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Các luồng nghiệp vụ đã kiểm chứng thực tế trên Prototype (Smoke E2E &amp; Trình duyệt tự động)</a:t>
            </a:r>
            <a:endParaRPr lang="en-US" sz="1500" dirty="0"/>
          </a:p>
        </p:txBody>
      </p:sp>
      <p:sp>
        <p:nvSpPr>
          <p:cNvPr id="25" name="Text 19"/>
          <p:cNvSpPr/>
          <p:nvPr/>
        </p:nvSpPr>
        <p:spPr>
          <a:xfrm>
            <a:off x="539496" y="5376672"/>
            <a:ext cx="11112703" cy="877824"/>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Luồng chuẩn: SV nộp form → n8n tiền kiểm đạt → Cán bộ nhận xử lý, duyệt, cấp giấy → Mailpit nhận email → trạng thái SYNCED.</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Luồng bổ sung &amp; An toàn: Cán bộ yêu cầu bổ sung (kèm lý do) → SV gửi lại (attempt_no = 2); chặn thao tác sai thứ tự và replay khóa.</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sp>
      <p:sp>
        <p:nvSpPr>
          <p:cNvPr id="3" name="Shape 1"/>
          <p:cNvSpPr/>
          <p:nvPr/>
        </p:nvSpPr>
        <p:spPr>
          <a:xfrm>
            <a:off x="411480" y="182880"/>
            <a:ext cx="2468880" cy="310896"/>
          </a:xfrm>
          <a:prstGeom prst="roundRect">
            <a:avLst>
              <a:gd name="adj" fmla="val 14706"/>
            </a:avLst>
          </a:prstGeom>
          <a:solidFill>
            <a:srgbClr val="CCFBF1"/>
          </a:solidFill>
          <a:ln w="6350">
            <a:solidFill>
              <a:srgbClr val="0F766E"/>
            </a:solidFill>
            <a:prstDash val="solid"/>
          </a:ln>
        </p:spPr>
      </p:sp>
      <p:sp>
        <p:nvSpPr>
          <p:cNvPr id="4" name="Text 2"/>
          <p:cNvSpPr/>
          <p:nvPr/>
        </p:nvSpPr>
        <p:spPr>
          <a:xfrm>
            <a:off x="411480" y="182880"/>
            <a:ext cx="2468880" cy="310896"/>
          </a:xfrm>
          <a:prstGeom prst="rect">
            <a:avLst/>
          </a:prstGeom>
          <a:noFill/>
          <a:ln/>
        </p:spPr>
        <p:txBody>
          <a:bodyPr wrap="square" lIns="0" tIns="0" rIns="0" bIns="0" rtlCol="0" anchor="ctr"/>
          <a:lstStyle/>
          <a:p>
            <a:pPr algn="ctr" indent="0" marL="0">
              <a:buNone/>
            </a:pPr>
            <a:r>
              <a:rPr lang="en-US" sz="1400" b="1" dirty="0">
                <a:solidFill>
                  <a:srgbClr val="0F766E"/>
                </a:solidFill>
                <a:latin typeface="Arial" pitchFamily="34" charset="0"/>
                <a:ea typeface="Arial" pitchFamily="34" charset="-122"/>
                <a:cs typeface="Arial" pitchFamily="34" charset="-120"/>
              </a:rPr>
              <a:t>ĐÁNH GIÁ &amp; KIỂM THỬ</a:t>
            </a:r>
            <a:endParaRPr lang="en-US" sz="1400" dirty="0"/>
          </a:p>
        </p:txBody>
      </p:sp>
      <p:sp>
        <p:nvSpPr>
          <p:cNvPr id="5" name="Shape 3"/>
          <p:cNvSpPr/>
          <p:nvPr/>
        </p:nvSpPr>
        <p:spPr>
          <a:xfrm>
            <a:off x="8579815" y="182880"/>
            <a:ext cx="3200400" cy="347472"/>
          </a:xfrm>
          <a:prstGeom prst="roundRect">
            <a:avLst>
              <a:gd name="adj" fmla="val 15789"/>
            </a:avLst>
          </a:prstGeom>
          <a:solidFill>
            <a:srgbClr val="FEF3C7"/>
          </a:solidFill>
          <a:ln w="19050">
            <a:solidFill>
              <a:srgbClr val="F59E0B"/>
            </a:solidFill>
            <a:prstDash val="solid"/>
          </a:ln>
        </p:spPr>
      </p:sp>
      <p:sp>
        <p:nvSpPr>
          <p:cNvPr id="6" name="Text 4"/>
          <p:cNvSpPr/>
          <p:nvPr/>
        </p:nvSpPr>
        <p:spPr>
          <a:xfrm>
            <a:off x="8579815" y="182880"/>
            <a:ext cx="3200400" cy="347472"/>
          </a:xfrm>
          <a:prstGeom prst="rect">
            <a:avLst/>
          </a:prstGeom>
          <a:noFill/>
          <a:ln/>
        </p:spPr>
        <p:txBody>
          <a:bodyPr wrap="square" lIns="0" tIns="0" rIns="0" bIns="0" rtlCol="0" anchor="ctr"/>
          <a:lstStyle/>
          <a:p>
            <a:pPr algn="ctr" indent="0" marL="0">
              <a:buNone/>
            </a:pPr>
            <a:r>
              <a:rPr lang="en-US" sz="1400" b="1" dirty="0">
                <a:solidFill>
                  <a:srgbClr val="B45309"/>
                </a:solidFill>
                <a:latin typeface="Arial" pitchFamily="34" charset="0"/>
                <a:ea typeface="Arial" pitchFamily="34" charset="-122"/>
                <a:cs typeface="Arial" pitchFamily="34" charset="-120"/>
              </a:rPr>
              <a:t>Dữ liệu mô phỏng – Mục tiêu dự kiến</a:t>
            </a:r>
            <a:endParaRPr lang="en-US" sz="1400" dirty="0"/>
          </a:p>
        </p:txBody>
      </p:sp>
      <p:sp>
        <p:nvSpPr>
          <p:cNvPr id="7" name="Text 5"/>
          <p:cNvSpPr/>
          <p:nvPr/>
        </p:nvSpPr>
        <p:spPr>
          <a:xfrm>
            <a:off x="411480" y="530352"/>
            <a:ext cx="8503920" cy="420624"/>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Đánh giá cải tiến qua 20 Seed &amp; Kết quả kiểm thử hệ thống</a:t>
            </a:r>
            <a:endParaRPr lang="en-US" sz="2200" dirty="0"/>
          </a:p>
        </p:txBody>
      </p:sp>
      <p:sp>
        <p:nvSpPr>
          <p:cNvPr id="8" name="Shape 6"/>
          <p:cNvSpPr/>
          <p:nvPr/>
        </p:nvSpPr>
        <p:spPr>
          <a:xfrm>
            <a:off x="411480" y="987552"/>
            <a:ext cx="11368735" cy="438912"/>
          </a:xfrm>
          <a:prstGeom prst="roundRect">
            <a:avLst>
              <a:gd name="adj" fmla="val 10417"/>
            </a:avLst>
          </a:prstGeom>
          <a:solidFill>
            <a:srgbClr val="FFFFFF"/>
          </a:solidFill>
          <a:ln w="15240">
            <a:solidFill>
              <a:srgbClr val="0F766E"/>
            </a:solidFill>
            <a:prstDash val="solid"/>
          </a:ln>
        </p:spPr>
      </p:sp>
      <p:sp>
        <p:nvSpPr>
          <p:cNvPr id="9" name="Shape 7"/>
          <p:cNvSpPr/>
          <p:nvPr/>
        </p:nvSpPr>
        <p:spPr>
          <a:xfrm>
            <a:off x="411480" y="987552"/>
            <a:ext cx="109728" cy="438912"/>
          </a:xfrm>
          <a:prstGeom prst="rect">
            <a:avLst/>
          </a:prstGeom>
          <a:solidFill>
            <a:srgbClr val="0F766E"/>
          </a:solidFill>
          <a:ln w="12700">
            <a:solidFill>
              <a:srgbClr val="0F766E"/>
            </a:solidFill>
            <a:prstDash val="solid"/>
          </a:ln>
        </p:spPr>
      </p:sp>
      <p:sp>
        <p:nvSpPr>
          <p:cNvPr id="10" name="Text 8"/>
          <p:cNvSpPr/>
          <p:nvPr/>
        </p:nvSpPr>
        <p:spPr>
          <a:xfrm>
            <a:off x="621792" y="987552"/>
            <a:ext cx="11064240" cy="438912"/>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Thông điệp: Đổi lịch ký kết hợp tự động hóa giúp giảm mạnh thời gian chờ trong mô phỏng; phần mềm giảm thao tác và xóa trễ phát hiện quá hạn.</a:t>
            </a:r>
            <a:endParaRPr lang="en-US" sz="1400" dirty="0"/>
          </a:p>
        </p:txBody>
      </p:sp>
      <p:sp>
        <p:nvSpPr>
          <p:cNvPr id="11" name="Shape 9"/>
          <p:cNvSpPr/>
          <p:nvPr/>
        </p:nvSpPr>
        <p:spPr>
          <a:xfrm>
            <a:off x="411480" y="6473952"/>
            <a:ext cx="11368735" cy="0"/>
          </a:xfrm>
          <a:prstGeom prst="line">
            <a:avLst/>
          </a:prstGeom>
          <a:noFill/>
          <a:ln w="9525">
            <a:solidFill>
              <a:srgbClr val="CBD5E1"/>
            </a:solidFill>
            <a:prstDash val="solid"/>
          </a:ln>
        </p:spPr>
      </p:sp>
      <p:sp>
        <p:nvSpPr>
          <p:cNvPr id="12" name="Text 10"/>
          <p:cNvSpPr/>
          <p:nvPr/>
        </p:nvSpPr>
        <p:spPr>
          <a:xfrm>
            <a:off x="411480" y="6510528"/>
            <a:ext cx="8686800" cy="274320"/>
          </a:xfrm>
          <a:prstGeom prst="rect">
            <a:avLst/>
          </a:prstGeom>
          <a:noFill/>
          <a:ln/>
        </p:spPr>
        <p:txBody>
          <a:bodyPr wrap="square" lIns="0" tIns="0" rIns="0" bIns="0" rtlCol="0" anchor="ctr"/>
          <a:lstStyle/>
          <a:p>
            <a:pPr indent="0" marL="0">
              <a:buNone/>
            </a:pPr>
            <a:r>
              <a:rPr lang="en-US" sz="1400" dirty="0">
                <a:solidFill>
                  <a:srgbClr val="475569"/>
                </a:solidFill>
                <a:latin typeface="Arial" pitchFamily="34" charset="0"/>
                <a:ea typeface="Arial" pitchFamily="34" charset="-122"/>
                <a:cs typeface="Arial" pitchFamily="34" charset="-120"/>
              </a:rPr>
              <a:t>Cấp giấy xác nhận sinh viên – Trường Cao đẳng Y Dược (Prototype học thuật)</a:t>
            </a:r>
            <a:endParaRPr lang="en-US" sz="1400" dirty="0"/>
          </a:p>
        </p:txBody>
      </p:sp>
      <p:sp>
        <p:nvSpPr>
          <p:cNvPr id="13" name="Text 11"/>
          <p:cNvSpPr/>
          <p:nvPr/>
        </p:nvSpPr>
        <p:spPr>
          <a:xfrm>
            <a:off x="9601200" y="6510528"/>
            <a:ext cx="2179015" cy="274320"/>
          </a:xfrm>
          <a:prstGeom prst="rect">
            <a:avLst/>
          </a:prstGeom>
          <a:noFill/>
          <a:ln/>
        </p:spPr>
        <p:txBody>
          <a:bodyPr wrap="square" lIns="0" tIns="0" rIns="0" bIns="0" rtlCol="0" anchor="ctr"/>
          <a:lstStyle/>
          <a:p>
            <a:pPr algn="r" indent="0" marL="0">
              <a:buNone/>
            </a:pPr>
            <a:r>
              <a:rPr lang="en-US" sz="1400" b="1" dirty="0">
                <a:solidFill>
                  <a:srgbClr val="0F766E"/>
                </a:solidFill>
                <a:latin typeface="Arial" pitchFamily="34" charset="0"/>
                <a:ea typeface="Arial" pitchFamily="34" charset="-122"/>
                <a:cs typeface="Arial" pitchFamily="34" charset="-120"/>
              </a:rPr>
              <a:t>Slide 13/14</a:t>
            </a:r>
            <a:endParaRPr lang="en-US" sz="1400" dirty="0"/>
          </a:p>
        </p:txBody>
      </p:sp>
      <p:sp>
        <p:nvSpPr>
          <p:cNvPr id="15" name="Text 12"/>
          <p:cNvSpPr/>
          <p:nvPr/>
        </p:nvSpPr>
        <p:spPr>
          <a:xfrm>
            <a:off x="411480" y="1508760"/>
            <a:ext cx="5669280" cy="310896"/>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Biểu đồ KPI qua 20 Seed (Cột = Trung vị, Vạch = Min–Max)</a:t>
            </a:r>
            <a:endParaRPr lang="en-US" sz="1500" dirty="0"/>
          </a:p>
        </p:txBody>
      </p:sp>
      <p:sp>
        <p:nvSpPr>
          <p:cNvPr id="16" name="Shape 13"/>
          <p:cNvSpPr/>
          <p:nvPr/>
        </p:nvSpPr>
        <p:spPr>
          <a:xfrm>
            <a:off x="411480" y="1847088"/>
            <a:ext cx="5669280" cy="2606040"/>
          </a:xfrm>
          <a:prstGeom prst="roundRect">
            <a:avLst>
              <a:gd name="adj" fmla="val 2105"/>
            </a:avLst>
          </a:prstGeom>
          <a:solidFill>
            <a:srgbClr val="FFFFFF"/>
          </a:solidFill>
          <a:ln w="12700">
            <a:solidFill>
              <a:srgbClr val="CBD5E1"/>
            </a:solidFill>
            <a:prstDash val="solid"/>
          </a:ln>
        </p:spPr>
      </p:sp>
      <p:pic>
        <p:nvPicPr>
          <p:cNvPr id="17" name="Image 0" descr="inputs/images/kpi_compare.png">    </p:cNvPr>
          <p:cNvPicPr>
            <a:picLocks noChangeAspect="1"/>
          </p:cNvPicPr>
          <p:nvPr/>
        </p:nvPicPr>
        <p:blipFill>
          <a:blip r:embed="rId1"/>
          <a:stretch>
            <a:fillRect/>
          </a:stretch>
        </p:blipFill>
        <p:spPr>
          <a:xfrm>
            <a:off x="484632" y="2258708"/>
            <a:ext cx="5522976" cy="1782800"/>
          </a:xfrm>
          <a:prstGeom prst="rect">
            <a:avLst/>
          </a:prstGeom>
        </p:spPr>
      </p:pic>
      <p:sp>
        <p:nvSpPr>
          <p:cNvPr id="18" name="Shape 14"/>
          <p:cNvSpPr/>
          <p:nvPr/>
        </p:nvSpPr>
        <p:spPr>
          <a:xfrm>
            <a:off x="411480" y="4572000"/>
            <a:ext cx="5669280" cy="1755648"/>
          </a:xfrm>
          <a:prstGeom prst="roundRect">
            <a:avLst>
              <a:gd name="adj" fmla="val 3125"/>
            </a:avLst>
          </a:prstGeom>
          <a:solidFill>
            <a:srgbClr val="F0FDFA"/>
          </a:solidFill>
          <a:ln w="12700">
            <a:solidFill>
              <a:srgbClr val="0F766E"/>
            </a:solidFill>
            <a:prstDash val="solid"/>
          </a:ln>
        </p:spPr>
      </p:sp>
      <p:sp>
        <p:nvSpPr>
          <p:cNvPr id="19" name="Shape 15"/>
          <p:cNvSpPr/>
          <p:nvPr/>
        </p:nvSpPr>
        <p:spPr>
          <a:xfrm>
            <a:off x="411480" y="4572000"/>
            <a:ext cx="5669280" cy="384048"/>
          </a:xfrm>
          <a:prstGeom prst="roundRect">
            <a:avLst>
              <a:gd name="adj" fmla="val 14286"/>
            </a:avLst>
          </a:prstGeom>
          <a:solidFill>
            <a:srgbClr val="0F766E"/>
          </a:solidFill>
          <a:ln w="12700">
            <a:solidFill>
              <a:srgbClr val="0F766E"/>
            </a:solidFill>
            <a:prstDash val="solid"/>
          </a:ln>
        </p:spPr>
      </p:sp>
      <p:sp>
        <p:nvSpPr>
          <p:cNvPr id="20" name="Text 16"/>
          <p:cNvSpPr/>
          <p:nvPr/>
        </p:nvSpPr>
        <p:spPr>
          <a:xfrm>
            <a:off x="539496" y="4572000"/>
            <a:ext cx="541324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Phát hiện cốt lõi &amp; Kết quả kiểm thử kỹ thuật</a:t>
            </a:r>
            <a:endParaRPr lang="en-US" sz="1500" dirty="0"/>
          </a:p>
        </p:txBody>
      </p:sp>
      <p:sp>
        <p:nvSpPr>
          <p:cNvPr id="21" name="Text 17"/>
          <p:cNvSpPr/>
          <p:nvPr/>
        </p:nvSpPr>
        <p:spPr>
          <a:xfrm>
            <a:off x="539496" y="5010912"/>
            <a:ext cx="5413248" cy="1243584"/>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Chỉ tự động hóa mà vẫn ký theo lô (S0) KHÔNG giảm chờ ký (584' vs 551'). Đổi lịch ký 2 lần/ngày (S1) mới giảm chờ ký còn 121'.</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Phần mềm giúp giảm thao tác cán bộ (43' → 21'/ca) và xóa trễ phát hiện quá hạn (1.239' → 0'). Đạt 12/12 test phân tích &amp; 20/20 test prototype.</a:t>
            </a:r>
            <a:endParaRPr lang="en-US" sz="1400" dirty="0"/>
          </a:p>
        </p:txBody>
      </p:sp>
      <p:sp>
        <p:nvSpPr>
          <p:cNvPr id="22" name="Text 18"/>
          <p:cNvSpPr/>
          <p:nvPr/>
        </p:nvSpPr>
        <p:spPr>
          <a:xfrm>
            <a:off x="6217920" y="1508760"/>
            <a:ext cx="5559552" cy="310896"/>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Bảng đối chiếu KPI trung vị qua 20 Seed (Đơn vị: Phút LV)</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217920" y="1847088"/>
          <a:ext cx="5559552" cy="914400"/>
        </p:xfrm>
        <a:graphic>
          <a:graphicData uri="http://schemas.openxmlformats.org/drawingml/2006/table">
            <a:tbl>
              <a:tblPr/>
              <a:tblGrid>
                <a:gridCol w="1856232"/>
                <a:gridCol w="685800"/>
                <a:gridCol w="713232"/>
                <a:gridCol w="749808"/>
                <a:gridCol w="749808"/>
                <a:gridCol w="804672"/>
              </a:tblGrid>
              <a:tr h="420624">
                <a:tc>
                  <a:txBody>
                    <a:bodyPr/>
                    <a:lstStyle/>
                    <a:p>
                      <a:pPr indent="0" marL="0">
                        <a:buNone/>
                      </a:pPr>
                      <a:r>
                        <a:rPr lang="en-US" sz="1400" b="1" dirty="0">
                          <a:solidFill>
                            <a:srgbClr val="FFFFFF"/>
                          </a:solidFill>
                          <a:latin typeface="Arial" pitchFamily="34" charset="0"/>
                          <a:ea typeface="Arial" pitchFamily="34" charset="-122"/>
                          <a:cs typeface="Arial" pitchFamily="34" charset="-120"/>
                        </a:rPr>
                        <a:t>Chỉ số KPI (20 Seed)</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AS-IS</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S0 (Lô)</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D4ED8"/>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S1 (2 lần)</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S1 (p giữ)</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S1 &gt; AS-IS</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5803D"/>
                    </a:solidFill>
                  </a:tcPr>
                </a:tc>
              </a:tr>
              <a:tr h="594360">
                <a:tc>
                  <a:txBody>
                    <a:bodyPr/>
                    <a:lstStyle/>
                    <a:p>
                      <a:pPr indent="0" marL="0">
                        <a:buNone/>
                      </a:pPr>
                      <a:r>
                        <a:rPr lang="en-US" sz="1400" b="1" dirty="0">
                          <a:solidFill>
                            <a:srgbClr val="1E293B"/>
                          </a:solidFill>
                          <a:latin typeface="Arial" pitchFamily="34" charset="0"/>
                          <a:ea typeface="Arial" pitchFamily="34" charset="-122"/>
                          <a:cs typeface="Arial" pitchFamily="34" charset="-120"/>
                        </a:rPr>
                        <a:t>K1: Trung vị T_trường</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1.363</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944</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766E"/>
                          </a:solidFill>
                          <a:latin typeface="Arial" pitchFamily="34" charset="0"/>
                          <a:ea typeface="Arial" pitchFamily="34" charset="-122"/>
                          <a:cs typeface="Arial" pitchFamily="34" charset="-120"/>
                        </a:rPr>
                        <a:t>788</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792</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5803D"/>
                          </a:solidFill>
                          <a:latin typeface="Arial" pitchFamily="34" charset="0"/>
                          <a:ea typeface="Arial" pitchFamily="34" charset="-122"/>
                          <a:cs typeface="Arial" pitchFamily="34" charset="-120"/>
                        </a:rPr>
                        <a:t>20/20</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400" b="1" dirty="0">
                          <a:solidFill>
                            <a:srgbClr val="1E293B"/>
                          </a:solidFill>
                          <a:latin typeface="Arial" pitchFamily="34" charset="0"/>
                          <a:ea typeface="Arial" pitchFamily="34" charset="-122"/>
                          <a:cs typeface="Arial" pitchFamily="34" charset="-120"/>
                        </a:rPr>
                        <a:t>K2: P90 T_trường_net</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1.780</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1.356</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b="1" dirty="0">
                          <a:solidFill>
                            <a:srgbClr val="0F766E"/>
                          </a:solidFill>
                          <a:latin typeface="Arial" pitchFamily="34" charset="0"/>
                          <a:ea typeface="Arial" pitchFamily="34" charset="-122"/>
                          <a:cs typeface="Arial" pitchFamily="34" charset="-120"/>
                        </a:rPr>
                        <a:t>804</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810</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b="1" dirty="0">
                          <a:solidFill>
                            <a:srgbClr val="15803D"/>
                          </a:solidFill>
                          <a:latin typeface="Arial" pitchFamily="34" charset="0"/>
                          <a:ea typeface="Arial" pitchFamily="34" charset="-122"/>
                          <a:cs typeface="Arial" pitchFamily="34" charset="-120"/>
                        </a:rPr>
                        <a:t>20/20</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r h="621792">
                <a:tc>
                  <a:txBody>
                    <a:bodyPr/>
                    <a:lstStyle/>
                    <a:p>
                      <a:pPr indent="0" marL="0">
                        <a:buNone/>
                      </a:pPr>
                      <a:r>
                        <a:rPr lang="en-US" sz="1400" b="1" dirty="0">
                          <a:solidFill>
                            <a:srgbClr val="1E293B"/>
                          </a:solidFill>
                          <a:latin typeface="Arial" pitchFamily="34" charset="0"/>
                          <a:ea typeface="Arial" pitchFamily="34" charset="-122"/>
                          <a:cs typeface="Arial" pitchFamily="34" charset="-120"/>
                        </a:rPr>
                        <a:t>K3: Chờ trước ký</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551</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91C1C"/>
                          </a:solidFill>
                          <a:latin typeface="Arial" pitchFamily="34" charset="0"/>
                          <a:ea typeface="Arial" pitchFamily="34" charset="-122"/>
                          <a:cs typeface="Arial" pitchFamily="34" charset="-120"/>
                        </a:rPr>
                        <a:t>584</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766E"/>
                          </a:solidFill>
                          <a:latin typeface="Arial" pitchFamily="34" charset="0"/>
                          <a:ea typeface="Arial" pitchFamily="34" charset="-122"/>
                          <a:cs typeface="Arial" pitchFamily="34" charset="-120"/>
                        </a:rPr>
                        <a:t>121</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120</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5803D"/>
                          </a:solidFill>
                          <a:latin typeface="Arial" pitchFamily="34" charset="0"/>
                          <a:ea typeface="Arial" pitchFamily="34" charset="-122"/>
                          <a:cs typeface="Arial" pitchFamily="34" charset="-120"/>
                        </a:rPr>
                        <a:t>20/20 (S0: 0)</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400" b="1" dirty="0">
                          <a:solidFill>
                            <a:srgbClr val="1E293B"/>
                          </a:solidFill>
                          <a:latin typeface="Arial" pitchFamily="34" charset="0"/>
                          <a:ea typeface="Arial" pitchFamily="34" charset="-122"/>
                          <a:cs typeface="Arial" pitchFamily="34" charset="-120"/>
                        </a:rPr>
                        <a:t>K4: Thao tác cán bộ/ca</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43</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b="1" dirty="0">
                          <a:solidFill>
                            <a:srgbClr val="0F766E"/>
                          </a:solidFill>
                          <a:latin typeface="Arial" pitchFamily="34" charset="0"/>
                          <a:ea typeface="Arial" pitchFamily="34" charset="-122"/>
                          <a:cs typeface="Arial" pitchFamily="34" charset="-120"/>
                        </a:rPr>
                        <a:t>21</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b="1" dirty="0">
                          <a:solidFill>
                            <a:srgbClr val="0F766E"/>
                          </a:solidFill>
                          <a:latin typeface="Arial" pitchFamily="34" charset="0"/>
                          <a:ea typeface="Arial" pitchFamily="34" charset="-122"/>
                          <a:cs typeface="Arial" pitchFamily="34" charset="-120"/>
                        </a:rPr>
                        <a:t>21</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23</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b="1" dirty="0">
                          <a:solidFill>
                            <a:srgbClr val="15803D"/>
                          </a:solidFill>
                          <a:latin typeface="Arial" pitchFamily="34" charset="0"/>
                          <a:ea typeface="Arial" pitchFamily="34" charset="-122"/>
                          <a:cs typeface="Arial" pitchFamily="34" charset="-120"/>
                        </a:rPr>
                        <a:t>20/20</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r h="594360">
                <a:tc>
                  <a:txBody>
                    <a:bodyPr/>
                    <a:lstStyle/>
                    <a:p>
                      <a:pPr indent="0" marL="0">
                        <a:buNone/>
                      </a:pPr>
                      <a:r>
                        <a:rPr lang="en-US" sz="1400" b="1" dirty="0">
                          <a:solidFill>
                            <a:srgbClr val="1E293B"/>
                          </a:solidFill>
                          <a:latin typeface="Arial" pitchFamily="34" charset="0"/>
                          <a:ea typeface="Arial" pitchFamily="34" charset="-122"/>
                          <a:cs typeface="Arial" pitchFamily="34" charset="-120"/>
                        </a:rPr>
                        <a:t>Trễ phát hiện quá hạn</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91C1C"/>
                          </a:solidFill>
                          <a:latin typeface="Arial" pitchFamily="34" charset="0"/>
                          <a:ea typeface="Arial" pitchFamily="34" charset="-122"/>
                          <a:cs typeface="Arial" pitchFamily="34" charset="-120"/>
                        </a:rPr>
                        <a:t>1.239</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766E"/>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766E"/>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766E"/>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5803D"/>
                          </a:solidFill>
                          <a:latin typeface="Arial" pitchFamily="34" charset="0"/>
                          <a:ea typeface="Arial" pitchFamily="34" charset="-122"/>
                          <a:cs typeface="Arial" pitchFamily="34" charset="-120"/>
                        </a:rPr>
                        <a:t>Xóa trễ</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400" b="1" dirty="0">
                          <a:solidFill>
                            <a:srgbClr val="1E293B"/>
                          </a:solidFill>
                          <a:latin typeface="Arial" pitchFamily="34" charset="0"/>
                          <a:ea typeface="Arial" pitchFamily="34" charset="-122"/>
                          <a:cs typeface="Arial" pitchFamily="34" charset="-120"/>
                        </a:rPr>
                        <a:t>K9: Tỷ lệ bổ sung (p)</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30,1%</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15,6%</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15,6%</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1E293B"/>
                          </a:solidFill>
                          <a:latin typeface="Arial" pitchFamily="34" charset="0"/>
                          <a:ea typeface="Arial" pitchFamily="34" charset="-122"/>
                          <a:cs typeface="Arial" pitchFamily="34" charset="-120"/>
                        </a:rPr>
                        <a:t>30,1%</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475569"/>
                          </a:solidFill>
                          <a:latin typeface="Arial" pitchFamily="34" charset="0"/>
                          <a:ea typeface="Arial" pitchFamily="34" charset="-122"/>
                          <a:cs typeface="Arial" pitchFamily="34" charset="-120"/>
                        </a:rPr>
                        <a:t>Tham số</a:t>
                      </a:r>
                      <a:endParaRPr lang="en-US" sz="1400" dirty="0">
                        <a:latin typeface="Arial" charset="0"/>
                        <a:ea typeface="Arial" charset="0"/>
                        <a:cs typeface="Arial" charset="0"/>
                      </a:endParaRPr>
                    </a:p>
                  </a:txBody>
                  <a:tcPr marL="50800" marR="50800" marT="38100" marB="381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sp>
      <p:sp>
        <p:nvSpPr>
          <p:cNvPr id="3" name="Shape 1"/>
          <p:cNvSpPr/>
          <p:nvPr/>
        </p:nvSpPr>
        <p:spPr>
          <a:xfrm>
            <a:off x="411480" y="182880"/>
            <a:ext cx="2468880" cy="310896"/>
          </a:xfrm>
          <a:prstGeom prst="roundRect">
            <a:avLst>
              <a:gd name="adj" fmla="val 14706"/>
            </a:avLst>
          </a:prstGeom>
          <a:solidFill>
            <a:srgbClr val="CCFBF1"/>
          </a:solidFill>
          <a:ln w="6350">
            <a:solidFill>
              <a:srgbClr val="0F766E"/>
            </a:solidFill>
            <a:prstDash val="solid"/>
          </a:ln>
        </p:spPr>
      </p:sp>
      <p:sp>
        <p:nvSpPr>
          <p:cNvPr id="4" name="Text 2"/>
          <p:cNvSpPr/>
          <p:nvPr/>
        </p:nvSpPr>
        <p:spPr>
          <a:xfrm>
            <a:off x="411480" y="182880"/>
            <a:ext cx="2468880" cy="310896"/>
          </a:xfrm>
          <a:prstGeom prst="rect">
            <a:avLst/>
          </a:prstGeom>
          <a:noFill/>
          <a:ln/>
        </p:spPr>
        <p:txBody>
          <a:bodyPr wrap="square" lIns="0" tIns="0" rIns="0" bIns="0" rtlCol="0" anchor="ctr"/>
          <a:lstStyle/>
          <a:p>
            <a:pPr algn="ctr" indent="0" marL="0">
              <a:buNone/>
            </a:pPr>
            <a:r>
              <a:rPr lang="en-US" sz="1400" b="1" dirty="0">
                <a:solidFill>
                  <a:srgbClr val="0F766E"/>
                </a:solidFill>
                <a:latin typeface="Arial" pitchFamily="34" charset="0"/>
                <a:ea typeface="Arial" pitchFamily="34" charset="-122"/>
                <a:cs typeface="Arial" pitchFamily="34" charset="-120"/>
              </a:rPr>
              <a:t>GIỚI HẠN &amp; LỘ TRÌNH</a:t>
            </a:r>
            <a:endParaRPr lang="en-US" sz="1400" dirty="0"/>
          </a:p>
        </p:txBody>
      </p:sp>
      <p:sp>
        <p:nvSpPr>
          <p:cNvPr id="5" name="Shape 3"/>
          <p:cNvSpPr/>
          <p:nvPr/>
        </p:nvSpPr>
        <p:spPr>
          <a:xfrm>
            <a:off x="9448495" y="182880"/>
            <a:ext cx="2331720" cy="347472"/>
          </a:xfrm>
          <a:prstGeom prst="roundRect">
            <a:avLst>
              <a:gd name="adj" fmla="val 15789"/>
            </a:avLst>
          </a:prstGeom>
          <a:solidFill>
            <a:srgbClr val="FEF3C7"/>
          </a:solidFill>
          <a:ln w="19050">
            <a:solidFill>
              <a:srgbClr val="F59E0B"/>
            </a:solidFill>
            <a:prstDash val="solid"/>
          </a:ln>
        </p:spPr>
      </p:sp>
      <p:sp>
        <p:nvSpPr>
          <p:cNvPr id="6" name="Text 4"/>
          <p:cNvSpPr/>
          <p:nvPr/>
        </p:nvSpPr>
        <p:spPr>
          <a:xfrm>
            <a:off x="9448495" y="182880"/>
            <a:ext cx="2331720" cy="347472"/>
          </a:xfrm>
          <a:prstGeom prst="rect">
            <a:avLst/>
          </a:prstGeom>
          <a:noFill/>
          <a:ln/>
        </p:spPr>
        <p:txBody>
          <a:bodyPr wrap="square" lIns="0" tIns="0" rIns="0" bIns="0" rtlCol="0" anchor="ctr"/>
          <a:lstStyle/>
          <a:p>
            <a:pPr algn="ctr" indent="0" marL="0">
              <a:buNone/>
            </a:pPr>
            <a:r>
              <a:rPr lang="en-US" sz="1400" b="1" dirty="0">
                <a:solidFill>
                  <a:srgbClr val="B45309"/>
                </a:solidFill>
                <a:latin typeface="Arial" pitchFamily="34" charset="0"/>
                <a:ea typeface="Arial" pitchFamily="34" charset="-122"/>
                <a:cs typeface="Arial" pitchFamily="34" charset="-120"/>
              </a:rPr>
              <a:t>Dữ liệu mô phỏng</a:t>
            </a:r>
            <a:endParaRPr lang="en-US" sz="1400" dirty="0"/>
          </a:p>
        </p:txBody>
      </p:sp>
      <p:sp>
        <p:nvSpPr>
          <p:cNvPr id="7" name="Text 5"/>
          <p:cNvSpPr/>
          <p:nvPr/>
        </p:nvSpPr>
        <p:spPr>
          <a:xfrm>
            <a:off x="411480" y="530352"/>
            <a:ext cx="8503920" cy="420624"/>
          </a:xfrm>
          <a:prstGeom prst="rect">
            <a:avLst/>
          </a:prstGeom>
          <a:noFill/>
          <a:ln/>
        </p:spPr>
        <p:txBody>
          <a:bodyPr wrap="square" lIns="0" tIns="0" rIns="0" bIns="0" rtlCol="0" anchor="ctr"/>
          <a:lstStyle/>
          <a:p>
            <a:pPr indent="0" marL="0">
              <a:buNone/>
            </a:pPr>
            <a:r>
              <a:rPr lang="en-US" sz="2200" b="1" dirty="0">
                <a:solidFill>
                  <a:srgbClr val="0F172A"/>
                </a:solidFill>
                <a:latin typeface="Arial" pitchFamily="34" charset="0"/>
                <a:ea typeface="Arial" pitchFamily="34" charset="-122"/>
                <a:cs typeface="Arial" pitchFamily="34" charset="-120"/>
              </a:rPr>
              <a:t>Giới hạn nghiên cứu &amp; Lộ trình thí điểm thực tế</a:t>
            </a:r>
            <a:endParaRPr lang="en-US" sz="2200" dirty="0"/>
          </a:p>
        </p:txBody>
      </p:sp>
      <p:sp>
        <p:nvSpPr>
          <p:cNvPr id="8" name="Shape 6"/>
          <p:cNvSpPr/>
          <p:nvPr/>
        </p:nvSpPr>
        <p:spPr>
          <a:xfrm>
            <a:off x="411480" y="987552"/>
            <a:ext cx="11368735" cy="438912"/>
          </a:xfrm>
          <a:prstGeom prst="roundRect">
            <a:avLst>
              <a:gd name="adj" fmla="val 10417"/>
            </a:avLst>
          </a:prstGeom>
          <a:solidFill>
            <a:srgbClr val="FFFFFF"/>
          </a:solidFill>
          <a:ln w="15240">
            <a:solidFill>
              <a:srgbClr val="0F766E"/>
            </a:solidFill>
            <a:prstDash val="solid"/>
          </a:ln>
        </p:spPr>
      </p:sp>
      <p:sp>
        <p:nvSpPr>
          <p:cNvPr id="9" name="Shape 7"/>
          <p:cNvSpPr/>
          <p:nvPr/>
        </p:nvSpPr>
        <p:spPr>
          <a:xfrm>
            <a:off x="411480" y="987552"/>
            <a:ext cx="109728" cy="438912"/>
          </a:xfrm>
          <a:prstGeom prst="rect">
            <a:avLst/>
          </a:prstGeom>
          <a:solidFill>
            <a:srgbClr val="0F766E"/>
          </a:solidFill>
          <a:ln w="12700">
            <a:solidFill>
              <a:srgbClr val="0F766E"/>
            </a:solidFill>
            <a:prstDash val="solid"/>
          </a:ln>
        </p:spPr>
      </p:sp>
      <p:sp>
        <p:nvSpPr>
          <p:cNvPr id="10" name="Text 8"/>
          <p:cNvSpPr/>
          <p:nvPr/>
        </p:nvSpPr>
        <p:spPr>
          <a:xfrm>
            <a:off x="621792" y="987552"/>
            <a:ext cx="11064240" cy="438912"/>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Thông điệp: Kết quả mô phỏng chỉ minh họa phương pháp; cần thu thập nhật ký thực tế tại trường để hiệu chỉnh và kiểm định.</a:t>
            </a:r>
            <a:endParaRPr lang="en-US" sz="1400" dirty="0"/>
          </a:p>
        </p:txBody>
      </p:sp>
      <p:sp>
        <p:nvSpPr>
          <p:cNvPr id="11" name="Shape 9"/>
          <p:cNvSpPr/>
          <p:nvPr/>
        </p:nvSpPr>
        <p:spPr>
          <a:xfrm>
            <a:off x="411480" y="6473952"/>
            <a:ext cx="11368735" cy="0"/>
          </a:xfrm>
          <a:prstGeom prst="line">
            <a:avLst/>
          </a:prstGeom>
          <a:noFill/>
          <a:ln w="9525">
            <a:solidFill>
              <a:srgbClr val="CBD5E1"/>
            </a:solidFill>
            <a:prstDash val="solid"/>
          </a:ln>
        </p:spPr>
      </p:sp>
      <p:sp>
        <p:nvSpPr>
          <p:cNvPr id="12" name="Text 10"/>
          <p:cNvSpPr/>
          <p:nvPr/>
        </p:nvSpPr>
        <p:spPr>
          <a:xfrm>
            <a:off x="411480" y="6510528"/>
            <a:ext cx="8686800" cy="274320"/>
          </a:xfrm>
          <a:prstGeom prst="rect">
            <a:avLst/>
          </a:prstGeom>
          <a:noFill/>
          <a:ln/>
        </p:spPr>
        <p:txBody>
          <a:bodyPr wrap="square" lIns="0" tIns="0" rIns="0" bIns="0" rtlCol="0" anchor="ctr"/>
          <a:lstStyle/>
          <a:p>
            <a:pPr indent="0" marL="0">
              <a:buNone/>
            </a:pPr>
            <a:r>
              <a:rPr lang="en-US" sz="1400" dirty="0">
                <a:solidFill>
                  <a:srgbClr val="475569"/>
                </a:solidFill>
                <a:latin typeface="Arial" pitchFamily="34" charset="0"/>
                <a:ea typeface="Arial" pitchFamily="34" charset="-122"/>
                <a:cs typeface="Arial" pitchFamily="34" charset="-120"/>
              </a:rPr>
              <a:t>Cấp giấy xác nhận sinh viên – Trường Cao đẳng Y Dược (Prototype học thuật)</a:t>
            </a:r>
            <a:endParaRPr lang="en-US" sz="1400" dirty="0"/>
          </a:p>
        </p:txBody>
      </p:sp>
      <p:sp>
        <p:nvSpPr>
          <p:cNvPr id="13" name="Text 11"/>
          <p:cNvSpPr/>
          <p:nvPr/>
        </p:nvSpPr>
        <p:spPr>
          <a:xfrm>
            <a:off x="9601200" y="6510528"/>
            <a:ext cx="2179015" cy="274320"/>
          </a:xfrm>
          <a:prstGeom prst="rect">
            <a:avLst/>
          </a:prstGeom>
          <a:noFill/>
          <a:ln/>
        </p:spPr>
        <p:txBody>
          <a:bodyPr wrap="square" lIns="0" tIns="0" rIns="0" bIns="0" rtlCol="0" anchor="ctr"/>
          <a:lstStyle/>
          <a:p>
            <a:pPr algn="r" indent="0" marL="0">
              <a:buNone/>
            </a:pPr>
            <a:r>
              <a:rPr lang="en-US" sz="1400" b="1" dirty="0">
                <a:solidFill>
                  <a:srgbClr val="0F766E"/>
                </a:solidFill>
                <a:latin typeface="Arial" pitchFamily="34" charset="0"/>
                <a:ea typeface="Arial" pitchFamily="34" charset="-122"/>
                <a:cs typeface="Arial" pitchFamily="34" charset="-120"/>
              </a:rPr>
              <a:t>Slide 14/14</a:t>
            </a:r>
            <a:endParaRPr lang="en-US" sz="1400" dirty="0"/>
          </a:p>
        </p:txBody>
      </p:sp>
      <p:sp>
        <p:nvSpPr>
          <p:cNvPr id="15" name="Shape 12"/>
          <p:cNvSpPr/>
          <p:nvPr/>
        </p:nvSpPr>
        <p:spPr>
          <a:xfrm>
            <a:off x="411480" y="1536192"/>
            <a:ext cx="5577840" cy="2834640"/>
          </a:xfrm>
          <a:prstGeom prst="roundRect">
            <a:avLst>
              <a:gd name="adj" fmla="val 1935"/>
            </a:avLst>
          </a:prstGeom>
          <a:solidFill>
            <a:srgbClr val="FEF3C7"/>
          </a:solidFill>
          <a:ln w="12700">
            <a:solidFill>
              <a:srgbClr val="F59E0B"/>
            </a:solidFill>
            <a:prstDash val="solid"/>
          </a:ln>
        </p:spPr>
      </p:sp>
      <p:sp>
        <p:nvSpPr>
          <p:cNvPr id="16" name="Shape 13"/>
          <p:cNvSpPr/>
          <p:nvPr/>
        </p:nvSpPr>
        <p:spPr>
          <a:xfrm>
            <a:off x="411480" y="1536192"/>
            <a:ext cx="5577840" cy="384048"/>
          </a:xfrm>
          <a:prstGeom prst="roundRect">
            <a:avLst>
              <a:gd name="adj" fmla="val 14286"/>
            </a:avLst>
          </a:prstGeom>
          <a:solidFill>
            <a:srgbClr val="B45309"/>
          </a:solidFill>
          <a:ln w="12700">
            <a:solidFill>
              <a:srgbClr val="B45309"/>
            </a:solidFill>
            <a:prstDash val="solid"/>
          </a:ln>
        </p:spPr>
      </p:sp>
      <p:sp>
        <p:nvSpPr>
          <p:cNvPr id="17" name="Text 14"/>
          <p:cNvSpPr/>
          <p:nvPr/>
        </p:nvSpPr>
        <p:spPr>
          <a:xfrm>
            <a:off x="539496" y="1536192"/>
            <a:ext cx="532180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1. Giới hạn của nghiên cứu hiện tại</a:t>
            </a:r>
            <a:endParaRPr lang="en-US" sz="1500" dirty="0"/>
          </a:p>
        </p:txBody>
      </p:sp>
      <p:sp>
        <p:nvSpPr>
          <p:cNvPr id="18" name="Text 15"/>
          <p:cNvSpPr/>
          <p:nvPr/>
        </p:nvSpPr>
        <p:spPr>
          <a:xfrm>
            <a:off x="539496" y="1975104"/>
            <a:ext cx="5321808" cy="232257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Tham số thời gian và tỷ lệ giảm bổ sung (30,1% → 15,6%) là giả định đầu vào, không phải số đo thực tế tại trường.</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Mô hình giả sử cố định 1 cán bộ tiếp nhận, 1 người ký, chưa loại trừ ngày lễ 30/4–1/5 và chưa xét mùa cao điểm.</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Tỷ lệ đóng quá hạn giữ ở mức 12,7–14,2% do mô hình giữ cố định hành vi phản hồi của sinh viên.</a:t>
            </a:r>
            <a:endParaRPr lang="en-US" sz="1400" dirty="0"/>
          </a:p>
        </p:txBody>
      </p:sp>
      <p:sp>
        <p:nvSpPr>
          <p:cNvPr id="19" name="Shape 16"/>
          <p:cNvSpPr/>
          <p:nvPr/>
        </p:nvSpPr>
        <p:spPr>
          <a:xfrm>
            <a:off x="6199632" y="1536192"/>
            <a:ext cx="5577840" cy="2834640"/>
          </a:xfrm>
          <a:prstGeom prst="roundRect">
            <a:avLst>
              <a:gd name="adj" fmla="val 1935"/>
            </a:avLst>
          </a:prstGeom>
          <a:solidFill>
            <a:srgbClr val="FFFFFF"/>
          </a:solidFill>
          <a:ln w="12700">
            <a:solidFill>
              <a:srgbClr val="CBD5E1"/>
            </a:solidFill>
            <a:prstDash val="solid"/>
          </a:ln>
        </p:spPr>
      </p:sp>
      <p:sp>
        <p:nvSpPr>
          <p:cNvPr id="20" name="Shape 17"/>
          <p:cNvSpPr/>
          <p:nvPr/>
        </p:nvSpPr>
        <p:spPr>
          <a:xfrm>
            <a:off x="6199632" y="1536192"/>
            <a:ext cx="5577840" cy="384048"/>
          </a:xfrm>
          <a:prstGeom prst="roundRect">
            <a:avLst>
              <a:gd name="adj" fmla="val 14286"/>
            </a:avLst>
          </a:prstGeom>
          <a:solidFill>
            <a:srgbClr val="0F172A"/>
          </a:solidFill>
          <a:ln w="12700">
            <a:solidFill>
              <a:srgbClr val="0F172A"/>
            </a:solidFill>
            <a:prstDash val="solid"/>
          </a:ln>
        </p:spPr>
      </p:sp>
      <p:sp>
        <p:nvSpPr>
          <p:cNvPr id="21" name="Text 18"/>
          <p:cNvSpPr/>
          <p:nvPr/>
        </p:nvSpPr>
        <p:spPr>
          <a:xfrm>
            <a:off x="6327648" y="1536192"/>
            <a:ext cx="5321808"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2. Kế hoạch thu thập nhật ký thực tế tại trường</a:t>
            </a:r>
            <a:endParaRPr lang="en-US" sz="1500" dirty="0"/>
          </a:p>
        </p:txBody>
      </p:sp>
      <p:sp>
        <p:nvSpPr>
          <p:cNvPr id="22" name="Text 19"/>
          <p:cNvSpPr/>
          <p:nvPr/>
        </p:nvSpPr>
        <p:spPr>
          <a:xfrm>
            <a:off x="6327648" y="1975104"/>
            <a:ext cx="5321808" cy="2322576"/>
          </a:xfrm>
          <a:prstGeom prst="rect">
            <a:avLst/>
          </a:prstGeom>
          <a:noFill/>
          <a:ln/>
        </p:spPr>
        <p:txBody>
          <a:bodyPr wrap="square" lIns="25400" tIns="25400" rIns="25400" bIns="25400" rtlCol="0" anchor="t"/>
          <a:lstStyle/>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Sổ tiếp nhận (A02) &amp; Phiếu trình ký (A06/A07): ghi nhận mốc giờ nhận đơn và giờ trình/ký thực tế thay vì chỉ ghi ngày.</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Sổ văn thư (A08) &amp; Hộp thư/Zalo (A04/A11/A14): đo thời gian chuyển đóng dấu và bằng chứng gửi thông báo.</a:t>
            </a:r>
            <a:endParaRPr lang="en-US" sz="1400" dirty="0"/>
          </a:p>
          <a:p>
            <a:pPr marL="342900" indent="-342900">
              <a:spcAft>
                <a:spcPts val="600"/>
              </a:spcAft>
              <a:buSzPct val="100000"/>
              <a:buChar char="•"/>
            </a:pPr>
            <a:r>
              <a:rPr lang="en-US" sz="1400" dirty="0">
                <a:solidFill>
                  <a:srgbClr val="1E293B"/>
                </a:solidFill>
                <a:latin typeface="Arial" pitchFamily="34" charset="0"/>
                <a:ea typeface="Arial" pitchFamily="34" charset="-122"/>
                <a:cs typeface="Arial" pitchFamily="34" charset="-120"/>
              </a:rPr>
              <a:t>Bật đầy đủ bộ hẹn giờ tự động nhắc hạn (A16) và đóng hồ sơ quá hạn (A13) trên bản prototype trước khi thí điểm.</a:t>
            </a:r>
            <a:endParaRPr lang="en-US" sz="1400" dirty="0"/>
          </a:p>
        </p:txBody>
      </p:sp>
      <p:sp>
        <p:nvSpPr>
          <p:cNvPr id="23" name="Text 20"/>
          <p:cNvSpPr/>
          <p:nvPr/>
        </p:nvSpPr>
        <p:spPr>
          <a:xfrm>
            <a:off x="411480" y="4498848"/>
            <a:ext cx="11368735" cy="329184"/>
          </a:xfrm>
          <a:prstGeom prst="rect">
            <a:avLst/>
          </a:prstGeom>
          <a:noFill/>
          <a:ln/>
        </p:spPr>
        <p:txBody>
          <a:bodyPr wrap="square" lIns="0" tIns="0" rIns="0" bIns="0" rtlCol="0" anchor="ctr"/>
          <a:lstStyle/>
          <a:p>
            <a:pPr indent="0" marL="0">
              <a:buNone/>
            </a:pPr>
            <a:r>
              <a:rPr lang="en-US" sz="1600" b="1" dirty="0">
                <a:solidFill>
                  <a:srgbClr val="0F766E"/>
                </a:solidFill>
                <a:latin typeface="Arial" pitchFamily="34" charset="0"/>
                <a:ea typeface="Arial" pitchFamily="34" charset="-122"/>
                <a:cs typeface="Arial" pitchFamily="34" charset="-120"/>
              </a:rPr>
              <a:t>3. Lộ trình 3 bước từ Prototype học thuật đến Thí điểm thực tế</a:t>
            </a:r>
            <a:endParaRPr lang="en-US" sz="1600" dirty="0"/>
          </a:p>
        </p:txBody>
      </p:sp>
      <p:sp>
        <p:nvSpPr>
          <p:cNvPr id="24" name="Shape 21"/>
          <p:cNvSpPr/>
          <p:nvPr/>
        </p:nvSpPr>
        <p:spPr>
          <a:xfrm>
            <a:off x="411480" y="4882896"/>
            <a:ext cx="3666744" cy="1444752"/>
          </a:xfrm>
          <a:prstGeom prst="roundRect">
            <a:avLst>
              <a:gd name="adj" fmla="val 3797"/>
            </a:avLst>
          </a:prstGeom>
          <a:solidFill>
            <a:srgbClr val="FFFFFF"/>
          </a:solidFill>
          <a:ln w="19050">
            <a:solidFill>
              <a:srgbClr val="0F172A"/>
            </a:solidFill>
            <a:prstDash val="solid"/>
          </a:ln>
        </p:spPr>
      </p:sp>
      <p:sp>
        <p:nvSpPr>
          <p:cNvPr id="25" name="Shape 22"/>
          <p:cNvSpPr/>
          <p:nvPr/>
        </p:nvSpPr>
        <p:spPr>
          <a:xfrm>
            <a:off x="411480" y="4882896"/>
            <a:ext cx="3666744" cy="365760"/>
          </a:xfrm>
          <a:prstGeom prst="roundRect">
            <a:avLst>
              <a:gd name="adj" fmla="val 15000"/>
            </a:avLst>
          </a:prstGeom>
          <a:solidFill>
            <a:srgbClr val="0F172A"/>
          </a:solidFill>
          <a:ln w="12700">
            <a:solidFill>
              <a:srgbClr val="0F172A"/>
            </a:solidFill>
            <a:prstDash val="solid"/>
          </a:ln>
        </p:spPr>
      </p:sp>
      <p:sp>
        <p:nvSpPr>
          <p:cNvPr id="26" name="Text 23"/>
          <p:cNvSpPr/>
          <p:nvPr/>
        </p:nvSpPr>
        <p:spPr>
          <a:xfrm>
            <a:off x="521208" y="4882896"/>
            <a:ext cx="3447288"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Bước 1 · Chuẩn hóa ghi nhận</a:t>
            </a:r>
            <a:endParaRPr lang="en-US" sz="1500" dirty="0"/>
          </a:p>
        </p:txBody>
      </p:sp>
      <p:sp>
        <p:nvSpPr>
          <p:cNvPr id="27" name="Text 24"/>
          <p:cNvSpPr/>
          <p:nvPr/>
        </p:nvSpPr>
        <p:spPr>
          <a:xfrm>
            <a:off x="539496" y="5303520"/>
            <a:ext cx="3410712" cy="960120"/>
          </a:xfrm>
          <a:prstGeom prst="rect">
            <a:avLst/>
          </a:prstGeom>
          <a:noFill/>
          <a:ln/>
        </p:spPr>
        <p:txBody>
          <a:bodyPr wrap="square" lIns="0" tIns="0" rIns="0" bIns="0" rtlCol="0" anchor="t"/>
          <a:lstStyle/>
          <a:p>
            <a:pPr indent="0" marL="0">
              <a:buNone/>
            </a:pPr>
            <a:r>
              <a:rPr lang="en-US" sz="1400" dirty="0">
                <a:solidFill>
                  <a:srgbClr val="1E293B"/>
                </a:solidFill>
                <a:latin typeface="Arial" pitchFamily="34" charset="0"/>
                <a:ea typeface="Arial" pitchFamily="34" charset="-122"/>
                <a:cs typeface="Arial" pitchFamily="34" charset="-120"/>
              </a:rPr>
              <a:t>Thống nhất mã hồ sơ và biểu mẫu ghi mốc giờ tại Phòng CTHSSV trong 4–6 tuần để lấy dữ liệu nền (baseline).</a:t>
            </a:r>
            <a:endParaRPr lang="en-US" sz="1400" dirty="0"/>
          </a:p>
        </p:txBody>
      </p:sp>
      <p:sp>
        <p:nvSpPr>
          <p:cNvPr id="28" name="Shape 25"/>
          <p:cNvSpPr/>
          <p:nvPr/>
        </p:nvSpPr>
        <p:spPr>
          <a:xfrm>
            <a:off x="4261104" y="4882896"/>
            <a:ext cx="3666744" cy="1444752"/>
          </a:xfrm>
          <a:prstGeom prst="roundRect">
            <a:avLst>
              <a:gd name="adj" fmla="val 3797"/>
            </a:avLst>
          </a:prstGeom>
          <a:solidFill>
            <a:srgbClr val="FFFFFF"/>
          </a:solidFill>
          <a:ln w="19050">
            <a:solidFill>
              <a:srgbClr val="0F766E"/>
            </a:solidFill>
            <a:prstDash val="solid"/>
          </a:ln>
        </p:spPr>
      </p:sp>
      <p:sp>
        <p:nvSpPr>
          <p:cNvPr id="29" name="Shape 26"/>
          <p:cNvSpPr/>
          <p:nvPr/>
        </p:nvSpPr>
        <p:spPr>
          <a:xfrm>
            <a:off x="4261104" y="4882896"/>
            <a:ext cx="3666744" cy="365760"/>
          </a:xfrm>
          <a:prstGeom prst="roundRect">
            <a:avLst>
              <a:gd name="adj" fmla="val 15000"/>
            </a:avLst>
          </a:prstGeom>
          <a:solidFill>
            <a:srgbClr val="0F766E"/>
          </a:solidFill>
          <a:ln w="12700">
            <a:solidFill>
              <a:srgbClr val="0F766E"/>
            </a:solidFill>
            <a:prstDash val="solid"/>
          </a:ln>
        </p:spPr>
      </p:sp>
      <p:sp>
        <p:nvSpPr>
          <p:cNvPr id="30" name="Text 27"/>
          <p:cNvSpPr/>
          <p:nvPr/>
        </p:nvSpPr>
        <p:spPr>
          <a:xfrm>
            <a:off x="4370832" y="4882896"/>
            <a:ext cx="3447288"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Bước 2 · Thí điểm &amp; Hiệu chỉnh</a:t>
            </a:r>
            <a:endParaRPr lang="en-US" sz="1500" dirty="0"/>
          </a:p>
        </p:txBody>
      </p:sp>
      <p:sp>
        <p:nvSpPr>
          <p:cNvPr id="31" name="Text 28"/>
          <p:cNvSpPr/>
          <p:nvPr/>
        </p:nvSpPr>
        <p:spPr>
          <a:xfrm>
            <a:off x="4389120" y="5303520"/>
            <a:ext cx="3410712" cy="960120"/>
          </a:xfrm>
          <a:prstGeom prst="rect">
            <a:avLst/>
          </a:prstGeom>
          <a:noFill/>
          <a:ln/>
        </p:spPr>
        <p:txBody>
          <a:bodyPr wrap="square" lIns="0" tIns="0" rIns="0" bIns="0" rtlCol="0" anchor="t"/>
          <a:lstStyle/>
          <a:p>
            <a:pPr indent="0" marL="0">
              <a:buNone/>
            </a:pPr>
            <a:r>
              <a:rPr lang="en-US" sz="1400" dirty="0">
                <a:solidFill>
                  <a:srgbClr val="1E293B"/>
                </a:solidFill>
                <a:latin typeface="Arial" pitchFamily="34" charset="0"/>
                <a:ea typeface="Arial" pitchFamily="34" charset="-122"/>
                <a:cs typeface="Arial" pitchFamily="34" charset="-120"/>
              </a:rPr>
              <a:t>Vận hành thử nghiệm cổng web + n8n song song sổ tay; nạp event log thật vào PM4Py để hiệu chỉnh tham số mô phỏng.</a:t>
            </a:r>
            <a:endParaRPr lang="en-US" sz="1400" dirty="0"/>
          </a:p>
        </p:txBody>
      </p:sp>
      <p:sp>
        <p:nvSpPr>
          <p:cNvPr id="32" name="Shape 29"/>
          <p:cNvSpPr/>
          <p:nvPr/>
        </p:nvSpPr>
        <p:spPr>
          <a:xfrm>
            <a:off x="8110728" y="4882896"/>
            <a:ext cx="3666744" cy="1444752"/>
          </a:xfrm>
          <a:prstGeom prst="roundRect">
            <a:avLst>
              <a:gd name="adj" fmla="val 3797"/>
            </a:avLst>
          </a:prstGeom>
          <a:solidFill>
            <a:srgbClr val="FFFFFF"/>
          </a:solidFill>
          <a:ln w="19050">
            <a:solidFill>
              <a:srgbClr val="1D4ED8"/>
            </a:solidFill>
            <a:prstDash val="solid"/>
          </a:ln>
        </p:spPr>
      </p:sp>
      <p:sp>
        <p:nvSpPr>
          <p:cNvPr id="33" name="Shape 30"/>
          <p:cNvSpPr/>
          <p:nvPr/>
        </p:nvSpPr>
        <p:spPr>
          <a:xfrm>
            <a:off x="8110728" y="4882896"/>
            <a:ext cx="3666744" cy="365760"/>
          </a:xfrm>
          <a:prstGeom prst="roundRect">
            <a:avLst>
              <a:gd name="adj" fmla="val 15000"/>
            </a:avLst>
          </a:prstGeom>
          <a:solidFill>
            <a:srgbClr val="1D4ED8"/>
          </a:solidFill>
          <a:ln w="12700">
            <a:solidFill>
              <a:srgbClr val="1D4ED8"/>
            </a:solidFill>
            <a:prstDash val="solid"/>
          </a:ln>
        </p:spPr>
      </p:sp>
      <p:sp>
        <p:nvSpPr>
          <p:cNvPr id="34" name="Text 31"/>
          <p:cNvSpPr/>
          <p:nvPr/>
        </p:nvSpPr>
        <p:spPr>
          <a:xfrm>
            <a:off x="8220456" y="4882896"/>
            <a:ext cx="3447288"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Bước 3 · Đo kiểm định kỳ</a:t>
            </a:r>
            <a:endParaRPr lang="en-US" sz="1500" dirty="0"/>
          </a:p>
        </p:txBody>
      </p:sp>
      <p:sp>
        <p:nvSpPr>
          <p:cNvPr id="35" name="Text 32"/>
          <p:cNvSpPr/>
          <p:nvPr/>
        </p:nvSpPr>
        <p:spPr>
          <a:xfrm>
            <a:off x="8238744" y="5303520"/>
            <a:ext cx="3410712" cy="960120"/>
          </a:xfrm>
          <a:prstGeom prst="rect">
            <a:avLst/>
          </a:prstGeom>
          <a:noFill/>
          <a:ln/>
        </p:spPr>
        <p:txBody>
          <a:bodyPr wrap="square" lIns="0" tIns="0" rIns="0" bIns="0" rtlCol="0" anchor="t"/>
          <a:lstStyle/>
          <a:p>
            <a:pPr indent="0" marL="0">
              <a:buNone/>
            </a:pPr>
            <a:r>
              <a:rPr lang="en-US" sz="1400" dirty="0">
                <a:solidFill>
                  <a:srgbClr val="1E293B"/>
                </a:solidFill>
                <a:latin typeface="Arial" pitchFamily="34" charset="0"/>
                <a:ea typeface="Arial" pitchFamily="34" charset="-122"/>
                <a:cs typeface="Arial" pitchFamily="34" charset="-120"/>
              </a:rPr>
              <a:t>Đo kiểm KPI hằng tuần (T_trường, chờ trước ký, tỷ lệ bổ sung thực tế) và đề xuất khung giờ ký cố định phù hợp.</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Nhóm Nghiên cứu Học thuật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tích &amp; Tự động hóa Quy trình Cấp Giấy Xác nhận Sinh viên</dc:title>
  <dc:subject>Phân tích và tự động hóa quy trình cấp giấy xác nhận sinh viên tại trường cao đẳng Y Dược</dc:subject>
  <dc:creator>Antigravity</dc:creator>
  <cp:lastModifiedBy>Antigravity</cp:lastModifiedBy>
  <cp:revision>1</cp:revision>
  <dcterms:created xsi:type="dcterms:W3CDTF">2026-10-24T08:36:09Z</dcterms:created>
  <dcterms:modified xsi:type="dcterms:W3CDTF">2026-10-24T08:36:09Z</dcterms:modified>
</cp:coreProperties>
</file>